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78" r:id="rId3"/>
    <p:sldId id="272" r:id="rId4"/>
    <p:sldId id="257" r:id="rId5"/>
    <p:sldId id="258" r:id="rId6"/>
    <p:sldId id="259" r:id="rId7"/>
    <p:sldId id="260" r:id="rId8"/>
    <p:sldId id="261" r:id="rId9"/>
    <p:sldId id="262" r:id="rId10"/>
    <p:sldId id="263" r:id="rId11"/>
    <p:sldId id="264" r:id="rId12"/>
    <p:sldId id="265" r:id="rId13"/>
    <p:sldId id="266" r:id="rId14"/>
    <p:sldId id="268" r:id="rId15"/>
    <p:sldId id="269" r:id="rId16"/>
    <p:sldId id="267" r:id="rId17"/>
    <p:sldId id="275" r:id="rId18"/>
    <p:sldId id="276" r:id="rId19"/>
    <p:sldId id="277" r:id="rId20"/>
    <p:sldId id="270" r:id="rId21"/>
    <p:sldId id="274" r:id="rId22"/>
    <p:sldId id="271"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A8A"/>
    <a:srgbClr val="CB01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925E1B-4E29-F945-A7C7-35B9AAD6C0D8}" v="10" dt="2026-06-10T09:45:08.8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11"/>
    <p:restoredTop sz="94610"/>
  </p:normalViewPr>
  <p:slideViewPr>
    <p:cSldViewPr snapToGrid="0" snapToObjects="1">
      <p:cViewPr>
        <p:scale>
          <a:sx n="158" d="100"/>
          <a:sy n="158" d="100"/>
        </p:scale>
        <p:origin x="168" y="8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8602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Welcome. I'm Marcel Grauwen, creator of UTL-X. In the next ~20 minutes I'll show you one language that transforms XML, JSON, CSV, YAML and OData - and even the schemas behind them - with a live demo of our Theia-based IDE. Think of it as the open alternative to DataWeave.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Show of hands - who has written code to turn an XML order into a JSON payload? Now who's done the reverse? Every integration is the same map-rename-aggregate logic, rewritten because the syntax differs. And it's not just the data - the SCHEMAS need translating too: XSD to JSON Schema, Avro to Protobuf. Most teams solve this with brittle one-off glue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There are great tools, but each owns one slice. XSLT is powerful but XML-only and dated. jq is a joy but JSON-only. DataWeave does everything UTL-X does for data - but it's tied to MuleSoft and it's commercial. Nobody offers an open, format-agnostic option that ALSO handles schema transformation. That's the gap UTL-X fills.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 here it is. UTL-X: one functional, strongly-typed language. The numbers: over 650 standard-library functions, five data formats, seven schema formats, three runtimes. Write once, run on any of them. And it's fully open source under AGPL-3.0 - no vendor lock-in.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trick is a single internal representation - the Universal Data Model. Every parser turns its format into the UDM; every serializer turns the UDM back out. Your transformation works on the UDM, so it never mentions XML or JSON. That's why the SAME script runs against all five formats. Change one line - the input declaration - and you're done.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Here's what it looks like. The header declares input and output formats, then the body describes the OUTPUT shape declaratively - pipelines, map, filter. This turns an XML order into a JSON invoice. The key point is on the right: to run the exact same transformation over JSON input, I change ONE word - xml becomes json. The body is untouched. Functional features you'd expect are all there.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what makes UTL-X different from everything else. It's not just data - it's a second dimension: SCHEMAS. With USDL you transform XSD, JSON Schema, Avro and Protobuf into each other, in any direction. So if your event stream is Avro, your legacy service is XSD, and your new API is Protobuf, you can keep all three contracts in sync from one source. DataWeave only does this partially; XSLT and jq, not at all.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language ships as three products that share one engine. utlx, the command-line tool for quick conversions and CI/CD. utlxd, the IDE - which I'll demo in a moment. And utlxe, the production engine for running transformations at scale. You start in the terminal and grow into production without changing your transformation language.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utlx is the everyday tool. It's a native binary - sub-100-millisecond startup, about 15 megabytes, no JVM. You get jq-style inline expressions, instant piping between formats, and it drops cleanly into CI/CD. Install is one line on Mac, Windows or Linux.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utlxd is where you actually build transformations. It's built on Theia, so it feels like VS Code. The execution mode gives you three live panels - input, script, output - so you see results as you type. Message Contract mode lets you design mappings from schemas with a visual UDM tree. There's a language server AND a built-in MCP server, so AI assistants can drive it - and the Contract Coverage Analysis instantly tells you whether a mapping is even possible and where the gaps are. Let me show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DEMO (~5-6 min). Switch to the recorded utlxd session. Suggested flow: 1) open an XML order in the input panel; 2) write a short transform, show live JSON output; 3) flip input to JSON - output unchanged; 4) open Message Contract mode, load an XSD and a target schema, run Contract Coverage to show a gap, fix it. Keep narration tight - let the live output do the talking. If running long, skip step 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place it. Against DataWeave: we match the format-agnostic, functional, typed experience - but we're open source, we add schema transformation, and there's no MuleSoft contract. Against XSLT and jq: they're open and fast, but single-format. UTL-X is the only one that's open, format-agnostic, native, AND transforms schemas. That's the one-sentence pitch.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Where are we? Version 1.2.2 is out now. The language itself, USDL, the data model, all the data and schema formats, and the CLI are stable and shipping. The IDE and engine are real and usable today. The remaining runtimes - JS, Native, WASM - and the VS Code plugin are actively in development. It's free and open under AGPL-3.0.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When you go to production, utlxe takes over. It's streaming-native - Kafka and Pulsar through a Dapr sidecar - with thread pools, back-pressure, hot reload and KEDA auto-scaling. Full Prometheus metrics and health probes. And because it speaks Protobuf over piped I/O, ANY language integrates - C#, Python, Go, Java, Node. Best of all, it's a one-click offer on the Azure Marketplace: deploy a managed UTL-X engine straight into your own tenant, or just pull the container.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deploy UTLXe from the Azure Marketplace, you don't assemble anything. The engine container, the Dapr sidecar for Service Bus and Event Hub, an optional admin web UI, optional Azure Files persistence, Prometheus metrics, and optional OpenTelemetry tracing are all provisioned for you. Under the hood the Marketplace also creates the Container App Environment, the Container App with the Dapr sidecar, Azure Files, Log Analytics, and a Managed Identity for secretless auth. About five minutes and you have a running engine. Your only job: create your queues, deploy your .utlx rules, and point Dapr at your messaging.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one, before you write any ops tooling, you already have four things. MANAGE: a web UI with a dashboard, upload with validation, schema management, and Dapr sync. OBSERVE: Prometheus metrics plus OpenTelemetry tracing that lands end-to-end in Application Insights with a single env var. SECURE: the data plane and admin API run on separate ports so admin stays inside your VNet, and a Managed Identity means no secrets to manage. SCALE &amp; PAY: it's an Azure Container App, so you pay for CPU and RAM, not per message, scale out horizontally, and scale to zero when idle - no license or per-message fees.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the full story, both books are free PDFs on GitHub - no sign-up. The first, 'One Language, All Formats', is the complete language reference. The second, 'UTLXe on Azure', is the hands-on deploy-and-operate guide for the production engine on Azure Container Apps. Scan either one now, or grab them later from the books folder in the repo.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Three places to remember. utlx.dev for downloads and the product overview. utlx-lang.org is the full language reference - the whole standard library is documented there. And the source lives on GitHub under grauwen/utl-x - open source, AGPL-3.0. Stars and issues very welcome.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Hold slide for Q&amp;A. Pitch line: 'UTL-X is free and open source - the one thing that genuinely helps is a GitHub star. Scan, sign in, tap the star. If you're not logged in on your phone, bookmark it and star me from your laptop later.'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That's UTL-X: one open language for every data format - and their schemas. The alternative to DataWeave, free and open. Try it from utlx.dev, read the book at utlx-lang.org, star it on GitHub.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0017"/>
          </a:solidFill>
          <a:ln w="12700">
            <a:solidFill>
              <a:srgbClr val="CB0017"/>
            </a:solidFill>
            <a:prstDash val="solid"/>
          </a:ln>
        </p:spPr>
        <p:txBody>
          <a:bodyPr/>
          <a:lstStyle/>
          <a:p>
            <a:endParaRPr lang="en-US"/>
          </a:p>
        </p:txBody>
      </p:sp>
      <p:sp>
        <p:nvSpPr>
          <p:cNvPr id="4" name="Text 1"/>
          <p:cNvSpPr/>
          <p:nvPr/>
        </p:nvSpPr>
        <p:spPr>
          <a:xfrm>
            <a:off x="2308860" y="402336"/>
            <a:ext cx="6400800" cy="274320"/>
          </a:xfrm>
          <a:prstGeom prst="rect">
            <a:avLst/>
          </a:prstGeom>
          <a:noFill/>
          <a:ln/>
        </p:spPr>
        <p:txBody>
          <a:bodyPr wrap="square" lIns="0" tIns="0" rIns="0" bIns="0" rtlCol="0" anchor="ctr"/>
          <a:lstStyle/>
          <a:p>
            <a:pPr marL="0" indent="0">
              <a:buNone/>
            </a:pPr>
            <a:r>
              <a:rPr lang="en-US" sz="1250" b="1" kern="0" spc="300" dirty="0">
                <a:solidFill>
                  <a:srgbClr val="CB0017"/>
                </a:solidFill>
                <a:latin typeface="Oswald" pitchFamily="34" charset="0"/>
                <a:ea typeface="Oswald" pitchFamily="34" charset="-122"/>
                <a:cs typeface="Oswald" pitchFamily="34" charset="-120"/>
              </a:rPr>
              <a:t>API DAYS AMSTERDAM · 2026</a:t>
            </a:r>
            <a:endParaRPr lang="en-US" sz="1250" dirty="0"/>
          </a:p>
        </p:txBody>
      </p:sp>
      <p:sp>
        <p:nvSpPr>
          <p:cNvPr id="5" name="Text 2"/>
          <p:cNvSpPr/>
          <p:nvPr/>
        </p:nvSpPr>
        <p:spPr>
          <a:xfrm>
            <a:off x="2308860" y="731520"/>
            <a:ext cx="6400800" cy="274320"/>
          </a:xfrm>
          <a:prstGeom prst="rect">
            <a:avLst/>
          </a:prstGeom>
          <a:noFill/>
          <a:ln/>
        </p:spPr>
        <p:txBody>
          <a:bodyPr wrap="square" lIns="0" tIns="0" rIns="0" bIns="0" rtlCol="0" anchor="ctr"/>
          <a:lstStyle/>
          <a:p>
            <a:pPr marL="0" indent="0">
              <a:buNone/>
            </a:pPr>
            <a:r>
              <a:rPr lang="en-US" sz="1200" i="1" dirty="0">
                <a:solidFill>
                  <a:srgbClr val="4A4A4A"/>
                </a:solidFill>
                <a:latin typeface="Inter Tight" pitchFamily="34" charset="0"/>
                <a:ea typeface="Inter Tight" pitchFamily="34" charset="-122"/>
                <a:cs typeface="Inter Tight" pitchFamily="34" charset="-120"/>
              </a:rPr>
              <a:t>Day 2 · Conference Talk</a:t>
            </a:r>
            <a:endParaRPr lang="en-US" sz="1200" dirty="0"/>
          </a:p>
        </p:txBody>
      </p:sp>
      <p:sp>
        <p:nvSpPr>
          <p:cNvPr id="6" name="Text 3"/>
          <p:cNvSpPr/>
          <p:nvPr/>
        </p:nvSpPr>
        <p:spPr>
          <a:xfrm>
            <a:off x="502920" y="1554480"/>
            <a:ext cx="8229600" cy="1371600"/>
          </a:xfrm>
          <a:prstGeom prst="rect">
            <a:avLst/>
          </a:prstGeom>
          <a:noFill/>
          <a:ln/>
        </p:spPr>
        <p:txBody>
          <a:bodyPr wrap="square" lIns="0" tIns="0" rIns="0" bIns="0" rtlCol="0" anchor="ctr"/>
          <a:lstStyle/>
          <a:p>
            <a:pPr marL="0" indent="0">
              <a:buNone/>
            </a:pPr>
            <a:r>
              <a:rPr lang="en-US" sz="9600" b="1" kern="0" spc="-100" dirty="0">
                <a:solidFill>
                  <a:srgbClr val="111111"/>
                </a:solidFill>
                <a:latin typeface="Oswald" pitchFamily="34" charset="0"/>
                <a:ea typeface="Oswald" pitchFamily="34" charset="-122"/>
                <a:cs typeface="Oswald" pitchFamily="34" charset="-120"/>
              </a:rPr>
              <a:t>UTL</a:t>
            </a:r>
            <a:r>
              <a:rPr lang="en-US" sz="9600" b="1" kern="0" spc="-100" dirty="0">
                <a:solidFill>
                  <a:srgbClr val="CB0017"/>
                </a:solidFill>
                <a:latin typeface="Oswald" pitchFamily="34" charset="0"/>
                <a:ea typeface="Oswald" pitchFamily="34" charset="-122"/>
                <a:cs typeface="Oswald" pitchFamily="34" charset="-120"/>
              </a:rPr>
              <a:t>·X</a:t>
            </a:r>
            <a:endParaRPr lang="en-US" sz="9600" dirty="0"/>
          </a:p>
        </p:txBody>
      </p:sp>
      <p:sp>
        <p:nvSpPr>
          <p:cNvPr id="7" name="Shape 4"/>
          <p:cNvSpPr/>
          <p:nvPr/>
        </p:nvSpPr>
        <p:spPr>
          <a:xfrm>
            <a:off x="548640" y="2907792"/>
            <a:ext cx="3931920" cy="41148"/>
          </a:xfrm>
          <a:prstGeom prst="rect">
            <a:avLst/>
          </a:prstGeom>
          <a:solidFill>
            <a:srgbClr val="CB0017"/>
          </a:solidFill>
          <a:ln w="12700">
            <a:solidFill>
              <a:srgbClr val="CB0017"/>
            </a:solidFill>
            <a:prstDash val="solid"/>
          </a:ln>
        </p:spPr>
        <p:txBody>
          <a:bodyPr/>
          <a:lstStyle/>
          <a:p>
            <a:endParaRPr lang="en-US"/>
          </a:p>
        </p:txBody>
      </p:sp>
      <p:sp>
        <p:nvSpPr>
          <p:cNvPr id="8" name="Text 5"/>
          <p:cNvSpPr/>
          <p:nvPr/>
        </p:nvSpPr>
        <p:spPr>
          <a:xfrm>
            <a:off x="502920" y="3035808"/>
            <a:ext cx="8229600" cy="548640"/>
          </a:xfrm>
          <a:prstGeom prst="rect">
            <a:avLst/>
          </a:prstGeom>
          <a:noFill/>
          <a:ln/>
        </p:spPr>
        <p:txBody>
          <a:bodyPr wrap="square" lIns="0" tIns="0" rIns="0" bIns="0" rtlCol="0" anchor="ctr"/>
          <a:lstStyle/>
          <a:p>
            <a:pPr marL="0" indent="0">
              <a:buNone/>
            </a:pPr>
            <a:r>
              <a:rPr lang="en-US" sz="3000" b="1" dirty="0">
                <a:solidFill>
                  <a:srgbClr val="111111"/>
                </a:solidFill>
                <a:latin typeface="Oswald" pitchFamily="34" charset="0"/>
                <a:ea typeface="Oswald" pitchFamily="34" charset="-122"/>
                <a:cs typeface="Oswald" pitchFamily="34" charset="-120"/>
              </a:rPr>
              <a:t>One language. All formats.</a:t>
            </a:r>
            <a:endParaRPr lang="en-US" sz="3000" dirty="0"/>
          </a:p>
        </p:txBody>
      </p:sp>
      <p:sp>
        <p:nvSpPr>
          <p:cNvPr id="9" name="Text 6"/>
          <p:cNvSpPr/>
          <p:nvPr/>
        </p:nvSpPr>
        <p:spPr>
          <a:xfrm>
            <a:off x="521208" y="3621024"/>
            <a:ext cx="8046720" cy="365760"/>
          </a:xfrm>
          <a:prstGeom prst="rect">
            <a:avLst/>
          </a:prstGeom>
          <a:noFill/>
          <a:ln/>
        </p:spPr>
        <p:txBody>
          <a:bodyPr wrap="square" lIns="0" tIns="0" rIns="0" bIns="0" rtlCol="0" anchor="ctr"/>
          <a:lstStyle/>
          <a:p>
            <a:pPr marL="0" indent="0">
              <a:buNone/>
            </a:pPr>
            <a:r>
              <a:rPr lang="en-US" sz="1450" dirty="0">
                <a:solidFill>
                  <a:srgbClr val="4A4A4A"/>
                </a:solidFill>
                <a:latin typeface="Inter Tight" pitchFamily="34" charset="0"/>
                <a:ea typeface="Inter Tight" pitchFamily="34" charset="-122"/>
                <a:cs typeface="Inter Tight" pitchFamily="34" charset="-120"/>
              </a:rPr>
              <a:t>The open-source, format-agnostic transformation language — and the alternative to DataWeave.</a:t>
            </a:r>
            <a:endParaRPr lang="en-US" sz="1450" dirty="0"/>
          </a:p>
        </p:txBody>
      </p:sp>
      <p:sp>
        <p:nvSpPr>
          <p:cNvPr id="10" name="Shape 7"/>
          <p:cNvSpPr/>
          <p:nvPr/>
        </p:nvSpPr>
        <p:spPr>
          <a:xfrm>
            <a:off x="521208" y="4160520"/>
            <a:ext cx="1056132" cy="384048"/>
          </a:xfrm>
          <a:prstGeom prst="roundRect">
            <a:avLst>
              <a:gd name="adj" fmla="val 19048"/>
            </a:avLst>
          </a:prstGeom>
          <a:solidFill>
            <a:srgbClr val="FAF8F6"/>
          </a:solidFill>
          <a:ln w="12700">
            <a:solidFill>
              <a:srgbClr val="CB0017"/>
            </a:solidFill>
            <a:prstDash val="solid"/>
          </a:ln>
        </p:spPr>
        <p:txBody>
          <a:bodyPr/>
          <a:lstStyle/>
          <a:p>
            <a:endParaRPr lang="en-US"/>
          </a:p>
        </p:txBody>
      </p:sp>
      <p:sp>
        <p:nvSpPr>
          <p:cNvPr id="11" name="Text 8"/>
          <p:cNvSpPr/>
          <p:nvPr/>
        </p:nvSpPr>
        <p:spPr>
          <a:xfrm>
            <a:off x="521208" y="4160520"/>
            <a:ext cx="1056132" cy="384048"/>
          </a:xfrm>
          <a:prstGeom prst="rect">
            <a:avLst/>
          </a:prstGeom>
          <a:noFill/>
          <a:ln/>
        </p:spPr>
        <p:txBody>
          <a:bodyPr wrap="square" lIns="0" tIns="0" rIns="0" bIns="0" rtlCol="0" anchor="ctr"/>
          <a:lstStyle/>
          <a:p>
            <a:pPr marL="0" indent="0" algn="ctr">
              <a:buNone/>
            </a:pPr>
            <a:r>
              <a:rPr lang="en-US" sz="1150" dirty="0">
                <a:solidFill>
                  <a:srgbClr val="111111"/>
                </a:solidFill>
                <a:latin typeface="Consolas" pitchFamily="34" charset="0"/>
                <a:ea typeface="Consolas" pitchFamily="34" charset="-122"/>
                <a:cs typeface="Consolas" pitchFamily="34" charset="-120"/>
              </a:rPr>
              <a:t>XML</a:t>
            </a:r>
            <a:endParaRPr lang="en-US" sz="1150" dirty="0"/>
          </a:p>
        </p:txBody>
      </p:sp>
      <p:sp>
        <p:nvSpPr>
          <p:cNvPr id="12" name="Shape 9"/>
          <p:cNvSpPr/>
          <p:nvPr/>
        </p:nvSpPr>
        <p:spPr>
          <a:xfrm>
            <a:off x="1741932" y="4160520"/>
            <a:ext cx="1133856" cy="384048"/>
          </a:xfrm>
          <a:prstGeom prst="roundRect">
            <a:avLst>
              <a:gd name="adj" fmla="val 19048"/>
            </a:avLst>
          </a:prstGeom>
          <a:solidFill>
            <a:srgbClr val="FAF8F6"/>
          </a:solidFill>
          <a:ln w="12700">
            <a:solidFill>
              <a:srgbClr val="CB0017"/>
            </a:solidFill>
            <a:prstDash val="solid"/>
          </a:ln>
        </p:spPr>
        <p:txBody>
          <a:bodyPr/>
          <a:lstStyle/>
          <a:p>
            <a:endParaRPr lang="en-US"/>
          </a:p>
        </p:txBody>
      </p:sp>
      <p:sp>
        <p:nvSpPr>
          <p:cNvPr id="13" name="Text 10"/>
          <p:cNvSpPr/>
          <p:nvPr/>
        </p:nvSpPr>
        <p:spPr>
          <a:xfrm>
            <a:off x="1741932" y="4160520"/>
            <a:ext cx="1133856" cy="384048"/>
          </a:xfrm>
          <a:prstGeom prst="rect">
            <a:avLst/>
          </a:prstGeom>
          <a:noFill/>
          <a:ln/>
        </p:spPr>
        <p:txBody>
          <a:bodyPr wrap="square" lIns="0" tIns="0" rIns="0" bIns="0" rtlCol="0" anchor="ctr"/>
          <a:lstStyle/>
          <a:p>
            <a:pPr marL="0" indent="0" algn="ctr">
              <a:buNone/>
            </a:pPr>
            <a:r>
              <a:rPr lang="en-US" sz="1150" dirty="0">
                <a:solidFill>
                  <a:srgbClr val="111111"/>
                </a:solidFill>
                <a:latin typeface="Consolas" pitchFamily="34" charset="0"/>
                <a:ea typeface="Consolas" pitchFamily="34" charset="-122"/>
                <a:cs typeface="Consolas" pitchFamily="34" charset="-120"/>
              </a:rPr>
              <a:t>JSON</a:t>
            </a:r>
            <a:endParaRPr lang="en-US" sz="1150" dirty="0"/>
          </a:p>
        </p:txBody>
      </p:sp>
      <p:sp>
        <p:nvSpPr>
          <p:cNvPr id="14" name="Shape 11"/>
          <p:cNvSpPr/>
          <p:nvPr/>
        </p:nvSpPr>
        <p:spPr>
          <a:xfrm>
            <a:off x="3040380" y="4160520"/>
            <a:ext cx="1056132" cy="384048"/>
          </a:xfrm>
          <a:prstGeom prst="roundRect">
            <a:avLst>
              <a:gd name="adj" fmla="val 19048"/>
            </a:avLst>
          </a:prstGeom>
          <a:solidFill>
            <a:srgbClr val="FAF8F6"/>
          </a:solidFill>
          <a:ln w="12700">
            <a:solidFill>
              <a:srgbClr val="CB0017"/>
            </a:solidFill>
            <a:prstDash val="solid"/>
          </a:ln>
        </p:spPr>
        <p:txBody>
          <a:bodyPr/>
          <a:lstStyle/>
          <a:p>
            <a:endParaRPr lang="en-US"/>
          </a:p>
        </p:txBody>
      </p:sp>
      <p:sp>
        <p:nvSpPr>
          <p:cNvPr id="15" name="Text 12"/>
          <p:cNvSpPr/>
          <p:nvPr/>
        </p:nvSpPr>
        <p:spPr>
          <a:xfrm>
            <a:off x="3040380" y="4160520"/>
            <a:ext cx="1056132" cy="384048"/>
          </a:xfrm>
          <a:prstGeom prst="rect">
            <a:avLst/>
          </a:prstGeom>
          <a:noFill/>
          <a:ln/>
        </p:spPr>
        <p:txBody>
          <a:bodyPr wrap="square" lIns="0" tIns="0" rIns="0" bIns="0" rtlCol="0" anchor="ctr"/>
          <a:lstStyle/>
          <a:p>
            <a:pPr marL="0" indent="0" algn="ctr">
              <a:buNone/>
            </a:pPr>
            <a:r>
              <a:rPr lang="en-US" sz="1150" dirty="0">
                <a:solidFill>
                  <a:srgbClr val="111111"/>
                </a:solidFill>
                <a:latin typeface="Consolas" pitchFamily="34" charset="0"/>
                <a:ea typeface="Consolas" pitchFamily="34" charset="-122"/>
                <a:cs typeface="Consolas" pitchFamily="34" charset="-120"/>
              </a:rPr>
              <a:t>CSV</a:t>
            </a:r>
            <a:endParaRPr lang="en-US" sz="1150" dirty="0"/>
          </a:p>
        </p:txBody>
      </p:sp>
      <p:sp>
        <p:nvSpPr>
          <p:cNvPr id="16" name="Shape 13"/>
          <p:cNvSpPr/>
          <p:nvPr/>
        </p:nvSpPr>
        <p:spPr>
          <a:xfrm>
            <a:off x="4261104" y="4160520"/>
            <a:ext cx="1133856" cy="384048"/>
          </a:xfrm>
          <a:prstGeom prst="roundRect">
            <a:avLst>
              <a:gd name="adj" fmla="val 19048"/>
            </a:avLst>
          </a:prstGeom>
          <a:solidFill>
            <a:srgbClr val="FAF8F6"/>
          </a:solidFill>
          <a:ln w="12700">
            <a:solidFill>
              <a:srgbClr val="CB0017"/>
            </a:solidFill>
            <a:prstDash val="solid"/>
          </a:ln>
        </p:spPr>
        <p:txBody>
          <a:bodyPr/>
          <a:lstStyle/>
          <a:p>
            <a:endParaRPr lang="en-US"/>
          </a:p>
        </p:txBody>
      </p:sp>
      <p:sp>
        <p:nvSpPr>
          <p:cNvPr id="17" name="Text 14"/>
          <p:cNvSpPr/>
          <p:nvPr/>
        </p:nvSpPr>
        <p:spPr>
          <a:xfrm>
            <a:off x="4261104" y="4160520"/>
            <a:ext cx="1133856" cy="384048"/>
          </a:xfrm>
          <a:prstGeom prst="rect">
            <a:avLst/>
          </a:prstGeom>
          <a:noFill/>
          <a:ln/>
        </p:spPr>
        <p:txBody>
          <a:bodyPr wrap="square" lIns="0" tIns="0" rIns="0" bIns="0" rtlCol="0" anchor="ctr"/>
          <a:lstStyle/>
          <a:p>
            <a:pPr marL="0" indent="0" algn="ctr">
              <a:buNone/>
            </a:pPr>
            <a:r>
              <a:rPr lang="en-US" sz="1150" dirty="0">
                <a:solidFill>
                  <a:srgbClr val="111111"/>
                </a:solidFill>
                <a:latin typeface="Consolas" pitchFamily="34" charset="0"/>
                <a:ea typeface="Consolas" pitchFamily="34" charset="-122"/>
                <a:cs typeface="Consolas" pitchFamily="34" charset="-120"/>
              </a:rPr>
              <a:t>YAML</a:t>
            </a:r>
            <a:endParaRPr lang="en-US" sz="1150" dirty="0"/>
          </a:p>
        </p:txBody>
      </p:sp>
      <p:sp>
        <p:nvSpPr>
          <p:cNvPr id="18" name="Shape 15"/>
          <p:cNvSpPr/>
          <p:nvPr/>
        </p:nvSpPr>
        <p:spPr>
          <a:xfrm>
            <a:off x="5559552" y="4160520"/>
            <a:ext cx="1211580" cy="384048"/>
          </a:xfrm>
          <a:prstGeom prst="roundRect">
            <a:avLst>
              <a:gd name="adj" fmla="val 19048"/>
            </a:avLst>
          </a:prstGeom>
          <a:solidFill>
            <a:srgbClr val="FAF8F6"/>
          </a:solidFill>
          <a:ln w="12700">
            <a:solidFill>
              <a:srgbClr val="CB0017"/>
            </a:solidFill>
            <a:prstDash val="solid"/>
          </a:ln>
        </p:spPr>
        <p:txBody>
          <a:bodyPr/>
          <a:lstStyle/>
          <a:p>
            <a:endParaRPr lang="en-US"/>
          </a:p>
        </p:txBody>
      </p:sp>
      <p:sp>
        <p:nvSpPr>
          <p:cNvPr id="19" name="Text 16"/>
          <p:cNvSpPr/>
          <p:nvPr/>
        </p:nvSpPr>
        <p:spPr>
          <a:xfrm>
            <a:off x="5559552" y="4160520"/>
            <a:ext cx="1211580" cy="384048"/>
          </a:xfrm>
          <a:prstGeom prst="rect">
            <a:avLst/>
          </a:prstGeom>
          <a:noFill/>
          <a:ln/>
        </p:spPr>
        <p:txBody>
          <a:bodyPr wrap="square" lIns="0" tIns="0" rIns="0" bIns="0" rtlCol="0" anchor="ctr"/>
          <a:lstStyle/>
          <a:p>
            <a:pPr marL="0" indent="0" algn="ctr">
              <a:buNone/>
            </a:pPr>
            <a:r>
              <a:rPr lang="en-US" sz="1150" dirty="0">
                <a:solidFill>
                  <a:srgbClr val="111111"/>
                </a:solidFill>
                <a:latin typeface="Consolas" pitchFamily="34" charset="0"/>
                <a:ea typeface="Consolas" pitchFamily="34" charset="-122"/>
                <a:cs typeface="Consolas" pitchFamily="34" charset="-120"/>
              </a:rPr>
              <a:t>OData</a:t>
            </a:r>
            <a:endParaRPr lang="en-US" sz="1150" dirty="0"/>
          </a:p>
        </p:txBody>
      </p:sp>
      <p:sp>
        <p:nvSpPr>
          <p:cNvPr id="20" name="Text 17"/>
          <p:cNvSpPr/>
          <p:nvPr/>
        </p:nvSpPr>
        <p:spPr>
          <a:xfrm>
            <a:off x="521208" y="4736592"/>
            <a:ext cx="8229600" cy="274320"/>
          </a:xfrm>
          <a:prstGeom prst="rect">
            <a:avLst/>
          </a:prstGeom>
          <a:noFill/>
          <a:ln/>
        </p:spPr>
        <p:txBody>
          <a:bodyPr wrap="square" lIns="0" tIns="0" rIns="0" bIns="0" rtlCol="0" anchor="ctr"/>
          <a:lstStyle/>
          <a:p>
            <a:pPr marL="0" indent="0">
              <a:buNone/>
            </a:pPr>
            <a:r>
              <a:rPr lang="en-US" sz="1100" dirty="0" err="1">
                <a:solidFill>
                  <a:srgbClr val="9AA0A6"/>
                </a:solidFill>
                <a:latin typeface="Inter Tight" pitchFamily="34" charset="0"/>
                <a:ea typeface="Inter Tight" pitchFamily="34" charset="-122"/>
                <a:cs typeface="Inter Tight" pitchFamily="34" charset="-120"/>
              </a:rPr>
              <a:t>Ir</a:t>
            </a:r>
            <a:r>
              <a:rPr lang="en-US" sz="1100" dirty="0">
                <a:solidFill>
                  <a:srgbClr val="9AA0A6"/>
                </a:solidFill>
                <a:latin typeface="Inter Tight" pitchFamily="34" charset="0"/>
                <a:ea typeface="Inter Tight" pitchFamily="34" charset="-122"/>
                <a:cs typeface="Inter Tight" pitchFamily="34" charset="-120"/>
              </a:rPr>
              <a:t> Marcel Grauwen  github.com/grauwen/utl-x</a:t>
            </a:r>
            <a:endParaRPr lang="en-US" sz="1100" dirty="0"/>
          </a:p>
        </p:txBody>
      </p:sp>
      <p:pic>
        <p:nvPicPr>
          <p:cNvPr id="21" name="Picture 20" descr="A black background with red text&#10;&#10;AI-generated content may be incorrect.">
            <a:extLst>
              <a:ext uri="{FF2B5EF4-FFF2-40B4-BE49-F238E27FC236}">
                <a16:creationId xmlns:a16="http://schemas.microsoft.com/office/drawing/2014/main" id="{9C449B69-F9BA-6FF6-F27C-90EDF5D6D493}"/>
              </a:ext>
            </a:extLst>
          </p:cNvPr>
          <p:cNvPicPr>
            <a:picLocks noChangeAspect="1"/>
          </p:cNvPicPr>
          <p:nvPr/>
        </p:nvPicPr>
        <p:blipFill>
          <a:blip r:embed="rId3"/>
          <a:stretch>
            <a:fillRect/>
          </a:stretch>
        </p:blipFill>
        <p:spPr>
          <a:xfrm>
            <a:off x="502920" y="121138"/>
            <a:ext cx="1574473" cy="1229907"/>
          </a:xfrm>
          <a:prstGeom prst="rect">
            <a:avLst/>
          </a:prstGeom>
        </p:spPr>
      </p:pic>
      <p:sp>
        <p:nvSpPr>
          <p:cNvPr id="23" name="Title 1">
            <a:extLst>
              <a:ext uri="{FF2B5EF4-FFF2-40B4-BE49-F238E27FC236}">
                <a16:creationId xmlns:a16="http://schemas.microsoft.com/office/drawing/2014/main" id="{0CC1D0D9-9EA8-E796-7CEE-0CA41E5BD026}"/>
              </a:ext>
            </a:extLst>
          </p:cNvPr>
          <p:cNvSpPr txBox="1">
            <a:spLocks/>
          </p:cNvSpPr>
          <p:nvPr/>
        </p:nvSpPr>
        <p:spPr>
          <a:xfrm>
            <a:off x="3388944" y="1450455"/>
            <a:ext cx="5720260" cy="12187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spcAft>
                <a:spcPts val="600"/>
              </a:spcAft>
            </a:pPr>
            <a:r>
              <a:rPr lang="en-US" sz="1600" dirty="0">
                <a:latin typeface="+mn-lt"/>
                <a:ea typeface="+mn-ea"/>
                <a:cs typeface="+mn-cs"/>
              </a:rPr>
              <a:t>https://www.linkedin.com/in/marcelgrauwen/</a:t>
            </a:r>
          </a:p>
        </p:txBody>
      </p:sp>
      <p:pic>
        <p:nvPicPr>
          <p:cNvPr id="25" name="Picture 24" descr="A qr code with a white background&#10;&#10;AI-generated content may be incorrect.">
            <a:extLst>
              <a:ext uri="{FF2B5EF4-FFF2-40B4-BE49-F238E27FC236}">
                <a16:creationId xmlns:a16="http://schemas.microsoft.com/office/drawing/2014/main" id="{17D70F5E-B5B8-A943-DC77-D6A28325A1A6}"/>
              </a:ext>
            </a:extLst>
          </p:cNvPr>
          <p:cNvPicPr>
            <a:picLocks noChangeAspect="1"/>
          </p:cNvPicPr>
          <p:nvPr/>
        </p:nvPicPr>
        <p:blipFill>
          <a:blip r:embed="rId4"/>
          <a:stretch>
            <a:fillRect/>
          </a:stretch>
        </p:blipFill>
        <p:spPr>
          <a:xfrm>
            <a:off x="6966828" y="276319"/>
            <a:ext cx="1674252" cy="1674252"/>
          </a:xfrm>
          <a:prstGeom prst="rect">
            <a:avLst/>
          </a:prstGeom>
        </p:spPr>
      </p:pic>
      <p:pic>
        <p:nvPicPr>
          <p:cNvPr id="2050" name="Picture 2">
            <a:extLst>
              <a:ext uri="{FF2B5EF4-FFF2-40B4-BE49-F238E27FC236}">
                <a16:creationId xmlns:a16="http://schemas.microsoft.com/office/drawing/2014/main" id="{7DBF4F04-8459-3606-E867-55D01ECDD9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4960" y="413643"/>
            <a:ext cx="1340401" cy="13404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056CCC-1D1A-8EA3-4694-2D4B7623FB30}"/>
              </a:ext>
            </a:extLst>
          </p:cNvPr>
          <p:cNvPicPr>
            <a:picLocks noChangeAspect="1"/>
          </p:cNvPicPr>
          <p:nvPr/>
        </p:nvPicPr>
        <p:blipFill>
          <a:blip r:embed="rId2"/>
          <a:stretch>
            <a:fillRect/>
          </a:stretch>
        </p:blipFill>
        <p:spPr>
          <a:xfrm>
            <a:off x="2292259" y="4692"/>
            <a:ext cx="6851742" cy="5138807"/>
          </a:xfrm>
          <a:prstGeom prst="rect">
            <a:avLst/>
          </a:prstGeom>
        </p:spPr>
      </p:pic>
      <p:sp>
        <p:nvSpPr>
          <p:cNvPr id="3" name="Shape 0">
            <a:extLst>
              <a:ext uri="{FF2B5EF4-FFF2-40B4-BE49-F238E27FC236}">
                <a16:creationId xmlns:a16="http://schemas.microsoft.com/office/drawing/2014/main" id="{6F9187BF-5E45-1EB4-1327-68F17D0B4FE6}"/>
              </a:ext>
            </a:extLst>
          </p:cNvPr>
          <p:cNvSpPr/>
          <p:nvPr/>
        </p:nvSpPr>
        <p:spPr>
          <a:xfrm>
            <a:off x="0" y="0"/>
            <a:ext cx="201168" cy="5143500"/>
          </a:xfrm>
          <a:prstGeom prst="rect">
            <a:avLst/>
          </a:prstGeom>
          <a:solidFill>
            <a:srgbClr val="CB0017"/>
          </a:solidFill>
          <a:ln w="12700">
            <a:solidFill>
              <a:srgbClr val="CB0017"/>
            </a:solidFill>
            <a:prstDash val="solid"/>
          </a:ln>
        </p:spPr>
        <p:txBody>
          <a:bodyPr/>
          <a:lstStyle/>
          <a:p>
            <a:endParaRPr lang="en-US"/>
          </a:p>
        </p:txBody>
      </p:sp>
      <p:sp>
        <p:nvSpPr>
          <p:cNvPr id="4" name="Text 4">
            <a:extLst>
              <a:ext uri="{FF2B5EF4-FFF2-40B4-BE49-F238E27FC236}">
                <a16:creationId xmlns:a16="http://schemas.microsoft.com/office/drawing/2014/main" id="{10BACDE4-8053-3871-484B-AD1D10AC4FB2}"/>
              </a:ext>
            </a:extLst>
          </p:cNvPr>
          <p:cNvSpPr/>
          <p:nvPr/>
        </p:nvSpPr>
        <p:spPr>
          <a:xfrm>
            <a:off x="457200" y="329184"/>
            <a:ext cx="263876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Setting the scene</a:t>
            </a:r>
            <a:endParaRPr lang="en-US" sz="1200" dirty="0"/>
          </a:p>
        </p:txBody>
      </p:sp>
      <p:sp>
        <p:nvSpPr>
          <p:cNvPr id="5" name="Text 6">
            <a:extLst>
              <a:ext uri="{FF2B5EF4-FFF2-40B4-BE49-F238E27FC236}">
                <a16:creationId xmlns:a16="http://schemas.microsoft.com/office/drawing/2014/main" id="{F5E363E5-D684-A6C8-9DAD-E371AC0AFF17}"/>
              </a:ext>
            </a:extLst>
          </p:cNvPr>
          <p:cNvSpPr/>
          <p:nvPr/>
        </p:nvSpPr>
        <p:spPr>
          <a:xfrm>
            <a:off x="201168" y="749160"/>
            <a:ext cx="2215005" cy="1136930"/>
          </a:xfrm>
          <a:prstGeom prst="rect">
            <a:avLst/>
          </a:prstGeom>
          <a:noFill/>
          <a:ln/>
        </p:spPr>
        <p:txBody>
          <a:bodyPr wrap="square" lIns="0" tIns="0" rIns="0" bIns="0" rtlCol="0" anchor="ctr"/>
          <a:lstStyle/>
          <a:p>
            <a:pPr marL="0" indent="0" algn="ctr">
              <a:buNone/>
            </a:pPr>
            <a:r>
              <a:rPr lang="en-US" sz="1400" dirty="0">
                <a:solidFill>
                  <a:srgbClr val="4A4A4A"/>
                </a:solidFill>
                <a:latin typeface="Inter Tight" pitchFamily="34" charset="0"/>
                <a:ea typeface="Inter Tight" pitchFamily="34" charset="-122"/>
                <a:cs typeface="Inter Tight" pitchFamily="34" charset="-120"/>
              </a:rPr>
              <a:t>One photo from this morning’s very interesting Gartner session by</a:t>
            </a:r>
          </a:p>
          <a:p>
            <a:pPr marL="0" indent="0">
              <a:buNone/>
            </a:pPr>
            <a:endParaRPr lang="en-US" sz="1400" dirty="0">
              <a:solidFill>
                <a:srgbClr val="4A4A4A"/>
              </a:solidFill>
              <a:latin typeface="Inter Tight" pitchFamily="34" charset="0"/>
              <a:ea typeface="Inter Tight" pitchFamily="34" charset="-122"/>
            </a:endParaRPr>
          </a:p>
          <a:p>
            <a:pPr marL="0" indent="0" algn="ctr">
              <a:buNone/>
            </a:pPr>
            <a:r>
              <a:rPr lang="en-US" sz="1400" dirty="0">
                <a:solidFill>
                  <a:srgbClr val="4A4A4A"/>
                </a:solidFill>
                <a:latin typeface="Inter Tight" pitchFamily="34" charset="0"/>
                <a:ea typeface="Inter Tight" pitchFamily="34" charset="-122"/>
              </a:rPr>
              <a:t>K</a:t>
            </a:r>
            <a:r>
              <a:rPr lang="en-US" sz="1400" b="1" dirty="0">
                <a:solidFill>
                  <a:srgbClr val="4A4A4A"/>
                </a:solidFill>
                <a:latin typeface="Inter Tight" pitchFamily="34" charset="0"/>
                <a:ea typeface="Inter Tight" pitchFamily="34" charset="-122"/>
              </a:rPr>
              <a:t>eith Guttridge</a:t>
            </a:r>
            <a:endParaRPr lang="en-US" sz="1400" b="1" dirty="0"/>
          </a:p>
        </p:txBody>
      </p:sp>
      <p:sp>
        <p:nvSpPr>
          <p:cNvPr id="7" name="Rectangle 6">
            <a:extLst>
              <a:ext uri="{FF2B5EF4-FFF2-40B4-BE49-F238E27FC236}">
                <a16:creationId xmlns:a16="http://schemas.microsoft.com/office/drawing/2014/main" id="{71EFDE90-F1C7-D0D6-B599-B452D588DDD7}"/>
              </a:ext>
            </a:extLst>
          </p:cNvPr>
          <p:cNvSpPr/>
          <p:nvPr/>
        </p:nvSpPr>
        <p:spPr>
          <a:xfrm>
            <a:off x="5745346" y="3471482"/>
            <a:ext cx="542166" cy="12947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3">
            <a:extLst>
              <a:ext uri="{FF2B5EF4-FFF2-40B4-BE49-F238E27FC236}">
                <a16:creationId xmlns:a16="http://schemas.microsoft.com/office/drawing/2014/main" id="{FB297653-2A81-61F8-B8C7-DD709E742A07}"/>
              </a:ext>
            </a:extLst>
          </p:cNvPr>
          <p:cNvSpPr/>
          <p:nvPr/>
        </p:nvSpPr>
        <p:spPr>
          <a:xfrm>
            <a:off x="707744" y="2571611"/>
            <a:ext cx="1333972" cy="1371600"/>
          </a:xfrm>
          <a:prstGeom prst="rect">
            <a:avLst/>
          </a:prstGeom>
          <a:noFill/>
          <a:ln/>
        </p:spPr>
        <p:txBody>
          <a:bodyPr wrap="square" lIns="0" tIns="0" rIns="0" bIns="0" rtlCol="0" anchor="ctr"/>
          <a:lstStyle/>
          <a:p>
            <a:pPr marL="0" indent="0">
              <a:buNone/>
            </a:pPr>
            <a:r>
              <a:rPr lang="en-US" sz="4000" b="1" kern="0" spc="-100" dirty="0">
                <a:solidFill>
                  <a:srgbClr val="111111"/>
                </a:solidFill>
                <a:latin typeface="Oswald" pitchFamily="34" charset="0"/>
                <a:ea typeface="Oswald" pitchFamily="34" charset="-122"/>
                <a:cs typeface="Oswald" pitchFamily="34" charset="-120"/>
              </a:rPr>
              <a:t>UTL</a:t>
            </a:r>
            <a:r>
              <a:rPr lang="en-US" sz="4000" b="1" kern="0" spc="-100" dirty="0">
                <a:solidFill>
                  <a:srgbClr val="CB0017"/>
                </a:solidFill>
                <a:latin typeface="Oswald" pitchFamily="34" charset="0"/>
                <a:ea typeface="Oswald" pitchFamily="34" charset="-122"/>
                <a:cs typeface="Oswald" pitchFamily="34" charset="-120"/>
              </a:rPr>
              <a:t>·X</a:t>
            </a:r>
            <a:endParaRPr lang="en-US" sz="4000" dirty="0"/>
          </a:p>
        </p:txBody>
      </p:sp>
      <p:sp>
        <p:nvSpPr>
          <p:cNvPr id="9" name="Text 6">
            <a:extLst>
              <a:ext uri="{FF2B5EF4-FFF2-40B4-BE49-F238E27FC236}">
                <a16:creationId xmlns:a16="http://schemas.microsoft.com/office/drawing/2014/main" id="{62F09147-CA90-D5E9-D8B2-B17BAF3BFF22}"/>
              </a:ext>
            </a:extLst>
          </p:cNvPr>
          <p:cNvSpPr/>
          <p:nvPr/>
        </p:nvSpPr>
        <p:spPr>
          <a:xfrm>
            <a:off x="139211" y="3401999"/>
            <a:ext cx="2215005" cy="1136930"/>
          </a:xfrm>
          <a:prstGeom prst="rect">
            <a:avLst/>
          </a:prstGeom>
          <a:noFill/>
          <a:ln/>
        </p:spPr>
        <p:txBody>
          <a:bodyPr wrap="square" lIns="0" tIns="0" rIns="0" bIns="0" rtlCol="0" anchor="ctr"/>
          <a:lstStyle/>
          <a:p>
            <a:pPr marL="0" indent="0" algn="ctr">
              <a:buNone/>
            </a:pPr>
            <a:r>
              <a:rPr lang="en-US" sz="1400" dirty="0">
                <a:solidFill>
                  <a:srgbClr val="4A4A4A"/>
                </a:solidFill>
                <a:latin typeface="Inter Tight" pitchFamily="34" charset="0"/>
                <a:ea typeface="Inter Tight" pitchFamily="34" charset="-122"/>
                <a:cs typeface="Inter Tight" pitchFamily="34" charset="-120"/>
              </a:rPr>
              <a:t>…. </a:t>
            </a:r>
            <a:r>
              <a:rPr lang="en-US" sz="1400" dirty="0">
                <a:solidFill>
                  <a:srgbClr val="4A4A4A"/>
                </a:solidFill>
                <a:highlight>
                  <a:srgbClr val="FFFF00"/>
                </a:highlight>
                <a:latin typeface="Inter Tight" pitchFamily="34" charset="0"/>
                <a:ea typeface="Inter Tight" pitchFamily="34" charset="-122"/>
                <a:cs typeface="Inter Tight" pitchFamily="34" charset="-120"/>
              </a:rPr>
              <a:t>transform</a:t>
            </a:r>
            <a:r>
              <a:rPr lang="en-US" sz="1400" dirty="0">
                <a:solidFill>
                  <a:srgbClr val="4A4A4A"/>
                </a:solidFill>
                <a:latin typeface="Inter Tight" pitchFamily="34" charset="0"/>
                <a:ea typeface="Inter Tight" pitchFamily="34" charset="-122"/>
                <a:cs typeface="Inter Tight" pitchFamily="34" charset="-120"/>
              </a:rPr>
              <a:t>, ….</a:t>
            </a:r>
          </a:p>
          <a:p>
            <a:pPr marL="0" indent="0">
              <a:buNone/>
            </a:pPr>
            <a:endParaRPr lang="en-US" sz="1400" dirty="0">
              <a:solidFill>
                <a:srgbClr val="4A4A4A"/>
              </a:solidFill>
              <a:latin typeface="Inter Tight" pitchFamily="34" charset="0"/>
              <a:ea typeface="Inter Tight" pitchFamily="34" charset="-122"/>
            </a:endParaRPr>
          </a:p>
        </p:txBody>
      </p:sp>
    </p:spTree>
    <p:extLst>
      <p:ext uri="{BB962C8B-B14F-4D97-AF65-F5344CB8AC3E}">
        <p14:creationId xmlns:p14="http://schemas.microsoft.com/office/powerpoint/2010/main" val="2047616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D4665FC-9B8F-5BF2-680B-1E46F4B151EC}"/>
              </a:ext>
            </a:extLst>
          </p:cNvPr>
          <p:cNvSpPr/>
          <p:nvPr/>
        </p:nvSpPr>
        <p:spPr>
          <a:xfrm>
            <a:off x="0" y="0"/>
            <a:ext cx="201168" cy="5143500"/>
          </a:xfrm>
          <a:prstGeom prst="rect">
            <a:avLst/>
          </a:prstGeom>
          <a:solidFill>
            <a:srgbClr val="CB0017"/>
          </a:solidFill>
          <a:ln w="12700">
            <a:solidFill>
              <a:srgbClr val="CB0017"/>
            </a:solidFill>
            <a:prstDash val="solid"/>
          </a:ln>
        </p:spPr>
        <p:txBody>
          <a:bodyPr/>
          <a:lstStyle/>
          <a:p>
            <a:endParaRPr lang="en-US"/>
          </a:p>
        </p:txBody>
      </p:sp>
      <p:pic>
        <p:nvPicPr>
          <p:cNvPr id="6" name="Picture 5">
            <a:extLst>
              <a:ext uri="{FF2B5EF4-FFF2-40B4-BE49-F238E27FC236}">
                <a16:creationId xmlns:a16="http://schemas.microsoft.com/office/drawing/2014/main" id="{6AED7043-32FE-6662-91B0-EE4C6F4FA98D}"/>
              </a:ext>
            </a:extLst>
          </p:cNvPr>
          <p:cNvPicPr>
            <a:picLocks noChangeAspect="1"/>
          </p:cNvPicPr>
          <p:nvPr/>
        </p:nvPicPr>
        <p:blipFill>
          <a:blip r:embed="rId2"/>
          <a:stretch>
            <a:fillRect/>
          </a:stretch>
        </p:blipFill>
        <p:spPr>
          <a:xfrm>
            <a:off x="685800" y="385762"/>
            <a:ext cx="7772400" cy="4371975"/>
          </a:xfrm>
          <a:prstGeom prst="rect">
            <a:avLst/>
          </a:prstGeom>
        </p:spPr>
      </p:pic>
      <p:pic>
        <p:nvPicPr>
          <p:cNvPr id="7" name="Picture 2">
            <a:extLst>
              <a:ext uri="{FF2B5EF4-FFF2-40B4-BE49-F238E27FC236}">
                <a16:creationId xmlns:a16="http://schemas.microsoft.com/office/drawing/2014/main" id="{C26347FC-3D75-101F-418D-C57AA6EAC0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0110" y="498040"/>
            <a:ext cx="1665828" cy="559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6073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2</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THE PROBLEM</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Every system speaks a different dialect</a:t>
            </a:r>
            <a:endParaRPr lang="en-US" sz="3100" dirty="0"/>
          </a:p>
        </p:txBody>
      </p:sp>
      <p:pic>
        <p:nvPicPr>
          <p:cNvPr id="8" name="Image 0" descr="preencoded.png"/>
          <p:cNvPicPr>
            <a:picLocks noChangeAspect="1"/>
          </p:cNvPicPr>
          <p:nvPr/>
        </p:nvPicPr>
        <p:blipFill>
          <a:blip r:embed="rId3"/>
          <a:stretch>
            <a:fillRect/>
          </a:stretch>
        </p:blipFill>
        <p:spPr>
          <a:xfrm>
            <a:off x="7955280" y="457200"/>
            <a:ext cx="640080" cy="640080"/>
          </a:xfrm>
          <a:prstGeom prst="rect">
            <a:avLst/>
          </a:prstGeom>
        </p:spPr>
      </p:pic>
      <p:sp>
        <p:nvSpPr>
          <p:cNvPr id="9" name="Text 6"/>
          <p:cNvSpPr/>
          <p:nvPr/>
        </p:nvSpPr>
        <p:spPr>
          <a:xfrm>
            <a:off x="457200" y="1169300"/>
            <a:ext cx="8138160" cy="640080"/>
          </a:xfrm>
          <a:prstGeom prst="rect">
            <a:avLst/>
          </a:prstGeom>
          <a:noFill/>
          <a:ln/>
        </p:spPr>
        <p:txBody>
          <a:bodyPr wrap="square" lIns="0" tIns="0" rIns="0" bIns="0" rtlCol="0" anchor="ctr"/>
          <a:lstStyle/>
          <a:p>
            <a:pPr marL="0" indent="0">
              <a:buNone/>
            </a:pPr>
            <a:r>
              <a:rPr lang="en-US" sz="1400" dirty="0">
                <a:solidFill>
                  <a:srgbClr val="4A4A4A"/>
                </a:solidFill>
                <a:latin typeface="Inter Tight" pitchFamily="34" charset="0"/>
                <a:ea typeface="Inter Tight" pitchFamily="34" charset="-122"/>
                <a:cs typeface="Inter Tight" pitchFamily="34" charset="-120"/>
              </a:rPr>
              <a:t>Integration teams spend their lives translating — between data formats, and between the schemas that describe them. The logic is the same every time; only the syntax changes.</a:t>
            </a:r>
            <a:endParaRPr lang="en-US" sz="1400" dirty="0"/>
          </a:p>
        </p:txBody>
      </p:sp>
      <p:sp>
        <p:nvSpPr>
          <p:cNvPr id="10" name="Shape 7"/>
          <p:cNvSpPr/>
          <p:nvPr/>
        </p:nvSpPr>
        <p:spPr>
          <a:xfrm>
            <a:off x="457200" y="1841344"/>
            <a:ext cx="3931920" cy="233172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dirty="0"/>
          </a:p>
        </p:txBody>
      </p:sp>
      <p:sp>
        <p:nvSpPr>
          <p:cNvPr id="11" name="Shape 8"/>
          <p:cNvSpPr/>
          <p:nvPr/>
        </p:nvSpPr>
        <p:spPr>
          <a:xfrm>
            <a:off x="457200" y="1841344"/>
            <a:ext cx="3931920" cy="64008"/>
          </a:xfrm>
          <a:prstGeom prst="rect">
            <a:avLst/>
          </a:prstGeom>
          <a:solidFill>
            <a:srgbClr val="CB0017"/>
          </a:solidFill>
          <a:ln w="12700">
            <a:solidFill>
              <a:srgbClr val="CB0017"/>
            </a:solidFill>
            <a:prstDash val="solid"/>
          </a:ln>
        </p:spPr>
        <p:txBody>
          <a:bodyPr/>
          <a:lstStyle/>
          <a:p>
            <a:endParaRPr lang="en-US"/>
          </a:p>
        </p:txBody>
      </p:sp>
      <p:sp>
        <p:nvSpPr>
          <p:cNvPr id="12" name="Text 9"/>
          <p:cNvSpPr/>
          <p:nvPr/>
        </p:nvSpPr>
        <p:spPr>
          <a:xfrm>
            <a:off x="685800" y="2024224"/>
            <a:ext cx="3474720" cy="274320"/>
          </a:xfrm>
          <a:prstGeom prst="rect">
            <a:avLst/>
          </a:prstGeom>
          <a:noFill/>
          <a:ln/>
        </p:spPr>
        <p:txBody>
          <a:bodyPr wrap="square" lIns="0" tIns="0" rIns="0" bIns="0" rtlCol="0" anchor="ctr"/>
          <a:lstStyle/>
          <a:p>
            <a:pPr marL="0" indent="0">
              <a:buNone/>
            </a:pPr>
            <a:r>
              <a:rPr lang="en-US" sz="1150" b="1" kern="0" spc="200" dirty="0">
                <a:solidFill>
                  <a:srgbClr val="CB0017"/>
                </a:solidFill>
                <a:latin typeface="Oswald" pitchFamily="34" charset="0"/>
                <a:ea typeface="Oswald" pitchFamily="34" charset="-122"/>
                <a:cs typeface="Oswald" pitchFamily="34" charset="-120"/>
              </a:rPr>
              <a:t>DATA FORMATS (T1)</a:t>
            </a:r>
            <a:endParaRPr lang="en-US" sz="1150" dirty="0"/>
          </a:p>
        </p:txBody>
      </p:sp>
      <p:sp>
        <p:nvSpPr>
          <p:cNvPr id="13" name="Text 10"/>
          <p:cNvSpPr/>
          <p:nvPr/>
        </p:nvSpPr>
        <p:spPr>
          <a:xfrm>
            <a:off x="685800" y="2302741"/>
            <a:ext cx="1463040"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XML</a:t>
            </a:r>
            <a:endParaRPr lang="en-US" sz="1250" dirty="0"/>
          </a:p>
        </p:txBody>
      </p:sp>
      <p:sp>
        <p:nvSpPr>
          <p:cNvPr id="14" name="Text 11"/>
          <p:cNvSpPr/>
          <p:nvPr/>
        </p:nvSpPr>
        <p:spPr>
          <a:xfrm>
            <a:off x="2011680" y="2298544"/>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verbose, namespaced</a:t>
            </a:r>
            <a:endParaRPr lang="en-US" sz="1100" dirty="0"/>
          </a:p>
        </p:txBody>
      </p:sp>
      <p:sp>
        <p:nvSpPr>
          <p:cNvPr id="15" name="Text 12"/>
          <p:cNvSpPr/>
          <p:nvPr/>
        </p:nvSpPr>
        <p:spPr>
          <a:xfrm>
            <a:off x="675607" y="2666853"/>
            <a:ext cx="1463040"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JSON</a:t>
            </a:r>
            <a:endParaRPr lang="en-US" sz="1250" dirty="0"/>
          </a:p>
        </p:txBody>
      </p:sp>
      <p:sp>
        <p:nvSpPr>
          <p:cNvPr id="16" name="Text 13"/>
          <p:cNvSpPr/>
          <p:nvPr/>
        </p:nvSpPr>
        <p:spPr>
          <a:xfrm>
            <a:off x="2006433" y="2673448"/>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everywhere, untyped</a:t>
            </a:r>
            <a:endParaRPr lang="en-US" sz="1100" dirty="0"/>
          </a:p>
        </p:txBody>
      </p:sp>
      <p:sp>
        <p:nvSpPr>
          <p:cNvPr id="17" name="Text 14"/>
          <p:cNvSpPr/>
          <p:nvPr/>
        </p:nvSpPr>
        <p:spPr>
          <a:xfrm>
            <a:off x="685800" y="3018371"/>
            <a:ext cx="1463040"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CSV</a:t>
            </a:r>
            <a:endParaRPr lang="en-US" sz="1250" dirty="0"/>
          </a:p>
        </p:txBody>
      </p:sp>
      <p:sp>
        <p:nvSpPr>
          <p:cNvPr id="18" name="Text 15"/>
          <p:cNvSpPr/>
          <p:nvPr/>
        </p:nvSpPr>
        <p:spPr>
          <a:xfrm>
            <a:off x="2006433" y="3047753"/>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flat, ambiguous</a:t>
            </a:r>
            <a:endParaRPr lang="en-US" sz="1100" dirty="0"/>
          </a:p>
        </p:txBody>
      </p:sp>
      <p:sp>
        <p:nvSpPr>
          <p:cNvPr id="19" name="Text 16"/>
          <p:cNvSpPr/>
          <p:nvPr/>
        </p:nvSpPr>
        <p:spPr>
          <a:xfrm>
            <a:off x="685800" y="3357074"/>
            <a:ext cx="1463040"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YAML</a:t>
            </a:r>
            <a:endParaRPr lang="en-US" sz="1250" dirty="0"/>
          </a:p>
        </p:txBody>
      </p:sp>
      <p:sp>
        <p:nvSpPr>
          <p:cNvPr id="20" name="Text 17"/>
          <p:cNvSpPr/>
          <p:nvPr/>
        </p:nvSpPr>
        <p:spPr>
          <a:xfrm>
            <a:off x="2006433" y="3370042"/>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config-friendly</a:t>
            </a:r>
            <a:endParaRPr lang="en-US" sz="1100" dirty="0"/>
          </a:p>
        </p:txBody>
      </p:sp>
      <p:sp>
        <p:nvSpPr>
          <p:cNvPr id="21" name="Shape 18"/>
          <p:cNvSpPr/>
          <p:nvPr/>
        </p:nvSpPr>
        <p:spPr>
          <a:xfrm>
            <a:off x="4754880" y="1795624"/>
            <a:ext cx="3931920" cy="237744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22" name="Shape 19"/>
          <p:cNvSpPr/>
          <p:nvPr/>
        </p:nvSpPr>
        <p:spPr>
          <a:xfrm>
            <a:off x="4754880" y="1841344"/>
            <a:ext cx="3931920" cy="64008"/>
          </a:xfrm>
          <a:prstGeom prst="rect">
            <a:avLst/>
          </a:prstGeom>
          <a:solidFill>
            <a:srgbClr val="CB0017"/>
          </a:solidFill>
          <a:ln w="12700">
            <a:solidFill>
              <a:srgbClr val="CB0017"/>
            </a:solidFill>
            <a:prstDash val="solid"/>
          </a:ln>
        </p:spPr>
        <p:txBody>
          <a:bodyPr/>
          <a:lstStyle/>
          <a:p>
            <a:endParaRPr lang="en-US"/>
          </a:p>
        </p:txBody>
      </p:sp>
      <p:sp>
        <p:nvSpPr>
          <p:cNvPr id="23" name="Text 20"/>
          <p:cNvSpPr/>
          <p:nvPr/>
        </p:nvSpPr>
        <p:spPr>
          <a:xfrm>
            <a:off x="4943089" y="2028721"/>
            <a:ext cx="3474720" cy="274320"/>
          </a:xfrm>
          <a:prstGeom prst="rect">
            <a:avLst/>
          </a:prstGeom>
          <a:noFill/>
          <a:ln/>
        </p:spPr>
        <p:txBody>
          <a:bodyPr wrap="square" lIns="0" tIns="0" rIns="0" bIns="0" rtlCol="0" anchor="ctr"/>
          <a:lstStyle/>
          <a:p>
            <a:pPr marL="0" indent="0">
              <a:buNone/>
            </a:pPr>
            <a:r>
              <a:rPr lang="en-US" sz="1150" b="1" kern="0" spc="200" dirty="0">
                <a:solidFill>
                  <a:srgbClr val="CB0017"/>
                </a:solidFill>
                <a:latin typeface="Oswald" pitchFamily="34" charset="0"/>
                <a:ea typeface="Oswald" pitchFamily="34" charset="-122"/>
                <a:cs typeface="Oswald" pitchFamily="34" charset="-120"/>
              </a:rPr>
              <a:t>SCHEMA FORMATS (T2)</a:t>
            </a:r>
            <a:endParaRPr lang="en-US" sz="1150" dirty="0"/>
          </a:p>
        </p:txBody>
      </p:sp>
      <p:sp>
        <p:nvSpPr>
          <p:cNvPr id="24" name="Text 21"/>
          <p:cNvSpPr/>
          <p:nvPr/>
        </p:nvSpPr>
        <p:spPr>
          <a:xfrm>
            <a:off x="4951111" y="2298544"/>
            <a:ext cx="1600199"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XSD  </a:t>
            </a:r>
            <a:r>
              <a:rPr lang="en-US" sz="1250" dirty="0">
                <a:solidFill>
                  <a:srgbClr val="111111"/>
                </a:solidFill>
                <a:latin typeface="Consolas" pitchFamily="34" charset="0"/>
                <a:ea typeface="Consolas" pitchFamily="34" charset="-122"/>
                <a:cs typeface="Consolas" pitchFamily="34" charset="-120"/>
              </a:rPr>
              <a:t>(XML Schema)</a:t>
            </a:r>
            <a:endParaRPr lang="en-US" sz="1250" dirty="0"/>
          </a:p>
        </p:txBody>
      </p:sp>
      <p:sp>
        <p:nvSpPr>
          <p:cNvPr id="25" name="Text 22"/>
          <p:cNvSpPr/>
          <p:nvPr/>
        </p:nvSpPr>
        <p:spPr>
          <a:xfrm>
            <a:off x="6715968" y="2289400"/>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contracts for XML</a:t>
            </a:r>
            <a:endParaRPr lang="en-US" sz="1100" dirty="0"/>
          </a:p>
        </p:txBody>
      </p:sp>
      <p:sp>
        <p:nvSpPr>
          <p:cNvPr id="26" name="Text 23"/>
          <p:cNvSpPr/>
          <p:nvPr/>
        </p:nvSpPr>
        <p:spPr>
          <a:xfrm>
            <a:off x="4943089" y="2614837"/>
            <a:ext cx="1600200"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JSCH </a:t>
            </a:r>
            <a:r>
              <a:rPr lang="en-US" sz="1250" dirty="0">
                <a:solidFill>
                  <a:srgbClr val="111111"/>
                </a:solidFill>
                <a:latin typeface="Consolas" pitchFamily="34" charset="0"/>
                <a:ea typeface="Consolas" pitchFamily="34" charset="-122"/>
                <a:cs typeface="Consolas" pitchFamily="34" charset="-120"/>
              </a:rPr>
              <a:t>(JSON Schema)</a:t>
            </a:r>
            <a:endParaRPr lang="en-US" sz="1250" dirty="0"/>
          </a:p>
        </p:txBody>
      </p:sp>
      <p:sp>
        <p:nvSpPr>
          <p:cNvPr id="27" name="Text 24"/>
          <p:cNvSpPr/>
          <p:nvPr/>
        </p:nvSpPr>
        <p:spPr>
          <a:xfrm>
            <a:off x="6715968" y="2598200"/>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contracts for JSON &amp; YAML</a:t>
            </a:r>
            <a:endParaRPr lang="en-US" sz="1100" dirty="0"/>
          </a:p>
        </p:txBody>
      </p:sp>
      <p:sp>
        <p:nvSpPr>
          <p:cNvPr id="28" name="Text 25"/>
          <p:cNvSpPr/>
          <p:nvPr/>
        </p:nvSpPr>
        <p:spPr>
          <a:xfrm>
            <a:off x="4964451" y="3482617"/>
            <a:ext cx="1463040"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Avro</a:t>
            </a:r>
            <a:endParaRPr lang="en-US" sz="1250" dirty="0"/>
          </a:p>
        </p:txBody>
      </p:sp>
      <p:sp>
        <p:nvSpPr>
          <p:cNvPr id="29" name="Text 26"/>
          <p:cNvSpPr/>
          <p:nvPr/>
        </p:nvSpPr>
        <p:spPr>
          <a:xfrm>
            <a:off x="6699853" y="3462679"/>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streaming records</a:t>
            </a:r>
            <a:endParaRPr lang="en-US" sz="1100" dirty="0"/>
          </a:p>
        </p:txBody>
      </p:sp>
      <p:sp>
        <p:nvSpPr>
          <p:cNvPr id="30" name="Text 27"/>
          <p:cNvSpPr/>
          <p:nvPr/>
        </p:nvSpPr>
        <p:spPr>
          <a:xfrm>
            <a:off x="4962049" y="3756412"/>
            <a:ext cx="1463040"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Proto buf</a:t>
            </a:r>
            <a:endParaRPr lang="en-US" sz="1250" dirty="0"/>
          </a:p>
        </p:txBody>
      </p:sp>
      <p:sp>
        <p:nvSpPr>
          <p:cNvPr id="31" name="Text 28"/>
          <p:cNvSpPr/>
          <p:nvPr/>
        </p:nvSpPr>
        <p:spPr>
          <a:xfrm>
            <a:off x="6694162" y="3764787"/>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wire-level RPC</a:t>
            </a:r>
            <a:endParaRPr lang="en-US" sz="1100" dirty="0"/>
          </a:p>
        </p:txBody>
      </p:sp>
      <p:sp>
        <p:nvSpPr>
          <p:cNvPr id="33" name="Text 16">
            <a:extLst>
              <a:ext uri="{FF2B5EF4-FFF2-40B4-BE49-F238E27FC236}">
                <a16:creationId xmlns:a16="http://schemas.microsoft.com/office/drawing/2014/main" id="{E33AD880-AB89-71DA-17B5-2DC4466C7E25}"/>
              </a:ext>
            </a:extLst>
          </p:cNvPr>
          <p:cNvSpPr/>
          <p:nvPr/>
        </p:nvSpPr>
        <p:spPr>
          <a:xfrm>
            <a:off x="685800" y="3720962"/>
            <a:ext cx="1463040"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oData</a:t>
            </a:r>
            <a:endParaRPr lang="en-US" sz="1250" dirty="0"/>
          </a:p>
        </p:txBody>
      </p:sp>
      <p:sp>
        <p:nvSpPr>
          <p:cNvPr id="34" name="Text 17">
            <a:extLst>
              <a:ext uri="{FF2B5EF4-FFF2-40B4-BE49-F238E27FC236}">
                <a16:creationId xmlns:a16="http://schemas.microsoft.com/office/drawing/2014/main" id="{0C69E1ED-421F-7DF1-DDB4-FB49C1D891BD}"/>
              </a:ext>
            </a:extLst>
          </p:cNvPr>
          <p:cNvSpPr/>
          <p:nvPr/>
        </p:nvSpPr>
        <p:spPr>
          <a:xfrm>
            <a:off x="2006433" y="3746897"/>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open, fixed datamodel </a:t>
            </a:r>
            <a:endParaRPr lang="en-US" sz="1100" dirty="0"/>
          </a:p>
        </p:txBody>
      </p:sp>
      <p:sp>
        <p:nvSpPr>
          <p:cNvPr id="35" name="Text 23">
            <a:extLst>
              <a:ext uri="{FF2B5EF4-FFF2-40B4-BE49-F238E27FC236}">
                <a16:creationId xmlns:a16="http://schemas.microsoft.com/office/drawing/2014/main" id="{8A8E519F-3D73-E990-3F79-76F0530E42D1}"/>
              </a:ext>
            </a:extLst>
          </p:cNvPr>
          <p:cNvSpPr/>
          <p:nvPr/>
        </p:nvSpPr>
        <p:spPr>
          <a:xfrm>
            <a:off x="4951112" y="2932177"/>
            <a:ext cx="1732488"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TSCH </a:t>
            </a:r>
            <a:r>
              <a:rPr lang="en-US" sz="1250" dirty="0">
                <a:solidFill>
                  <a:srgbClr val="111111"/>
                </a:solidFill>
                <a:latin typeface="Consolas" pitchFamily="34" charset="0"/>
                <a:ea typeface="Consolas" pitchFamily="34" charset="-122"/>
                <a:cs typeface="Consolas" pitchFamily="34" charset="-120"/>
              </a:rPr>
              <a:t>(Table Schema)</a:t>
            </a:r>
            <a:endParaRPr lang="en-US" sz="1250" dirty="0"/>
          </a:p>
        </p:txBody>
      </p:sp>
      <p:sp>
        <p:nvSpPr>
          <p:cNvPr id="36" name="Text 24">
            <a:extLst>
              <a:ext uri="{FF2B5EF4-FFF2-40B4-BE49-F238E27FC236}">
                <a16:creationId xmlns:a16="http://schemas.microsoft.com/office/drawing/2014/main" id="{14F57DC1-EA76-9CAC-D7F6-C39FB2EDAD07}"/>
              </a:ext>
            </a:extLst>
          </p:cNvPr>
          <p:cNvSpPr/>
          <p:nvPr/>
        </p:nvSpPr>
        <p:spPr>
          <a:xfrm>
            <a:off x="6699853" y="2923033"/>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contracts for CSV</a:t>
            </a:r>
            <a:endParaRPr lang="en-US" sz="1100" dirty="0"/>
          </a:p>
        </p:txBody>
      </p:sp>
      <p:sp>
        <p:nvSpPr>
          <p:cNvPr id="37" name="Text 23">
            <a:extLst>
              <a:ext uri="{FF2B5EF4-FFF2-40B4-BE49-F238E27FC236}">
                <a16:creationId xmlns:a16="http://schemas.microsoft.com/office/drawing/2014/main" id="{1F3BC811-37B1-8B2C-CE4F-5CC15C5854D0}"/>
              </a:ext>
            </a:extLst>
          </p:cNvPr>
          <p:cNvSpPr/>
          <p:nvPr/>
        </p:nvSpPr>
        <p:spPr>
          <a:xfrm>
            <a:off x="4967365" y="3223738"/>
            <a:ext cx="1732488" cy="292608"/>
          </a:xfrm>
          <a:prstGeom prst="rect">
            <a:avLst/>
          </a:prstGeom>
          <a:noFill/>
          <a:ln/>
        </p:spPr>
        <p:txBody>
          <a:bodyPr wrap="square" lIns="0" tIns="0" rIns="0" bIns="0" rtlCol="0" anchor="ctr"/>
          <a:lstStyle/>
          <a:p>
            <a:pPr marL="0" indent="0">
              <a:buNone/>
            </a:pPr>
            <a:r>
              <a:rPr lang="en-US" sz="1250" b="1" dirty="0">
                <a:solidFill>
                  <a:srgbClr val="111111"/>
                </a:solidFill>
                <a:latin typeface="Consolas" pitchFamily="34" charset="0"/>
                <a:ea typeface="Consolas" pitchFamily="34" charset="-122"/>
                <a:cs typeface="Consolas" pitchFamily="34" charset="-120"/>
              </a:rPr>
              <a:t>OSCH </a:t>
            </a:r>
            <a:r>
              <a:rPr lang="en-US" sz="1250" dirty="0">
                <a:solidFill>
                  <a:srgbClr val="111111"/>
                </a:solidFill>
                <a:latin typeface="Consolas" pitchFamily="34" charset="0"/>
                <a:ea typeface="Consolas" pitchFamily="34" charset="-122"/>
                <a:cs typeface="Consolas" pitchFamily="34" charset="-120"/>
              </a:rPr>
              <a:t>(EDMX)</a:t>
            </a:r>
            <a:endParaRPr lang="en-US" sz="1250" dirty="0"/>
          </a:p>
        </p:txBody>
      </p:sp>
      <p:sp>
        <p:nvSpPr>
          <p:cNvPr id="38" name="Text 24">
            <a:extLst>
              <a:ext uri="{FF2B5EF4-FFF2-40B4-BE49-F238E27FC236}">
                <a16:creationId xmlns:a16="http://schemas.microsoft.com/office/drawing/2014/main" id="{C0BF70B3-3B4E-F378-BB3E-4175C8338003}"/>
              </a:ext>
            </a:extLst>
          </p:cNvPr>
          <p:cNvSpPr/>
          <p:nvPr/>
        </p:nvSpPr>
        <p:spPr>
          <a:xfrm>
            <a:off x="6706824" y="3192706"/>
            <a:ext cx="2194560" cy="292608"/>
          </a:xfrm>
          <a:prstGeom prst="rect">
            <a:avLst/>
          </a:prstGeom>
          <a:noFill/>
          <a:ln/>
        </p:spPr>
        <p:txBody>
          <a:bodyPr wrap="square" lIns="0" tIns="0" rIns="0" bIns="0" rtlCol="0" anchor="ctr"/>
          <a:lstStyle/>
          <a:p>
            <a:pPr marL="0" indent="0">
              <a:buNone/>
            </a:pPr>
            <a:r>
              <a:rPr lang="en-US" sz="1100" dirty="0">
                <a:solidFill>
                  <a:srgbClr val="4A4A4A"/>
                </a:solidFill>
                <a:latin typeface="Inter Tight" pitchFamily="34" charset="0"/>
                <a:ea typeface="Inter Tight" pitchFamily="34" charset="-122"/>
                <a:cs typeface="Inter Tight" pitchFamily="34" charset="-120"/>
              </a:rPr>
              <a:t>contracts for oData</a:t>
            </a:r>
            <a:endParaRPr lang="en-US" sz="1100" dirty="0"/>
          </a:p>
        </p:txBody>
      </p:sp>
      <p:sp>
        <p:nvSpPr>
          <p:cNvPr id="41" name="Shape 18">
            <a:extLst>
              <a:ext uri="{FF2B5EF4-FFF2-40B4-BE49-F238E27FC236}">
                <a16:creationId xmlns:a16="http://schemas.microsoft.com/office/drawing/2014/main" id="{05E37E86-1DC4-B19C-8060-B24F1C6C2AE8}"/>
              </a:ext>
            </a:extLst>
          </p:cNvPr>
          <p:cNvSpPr/>
          <p:nvPr/>
        </p:nvSpPr>
        <p:spPr>
          <a:xfrm>
            <a:off x="457200" y="4285136"/>
            <a:ext cx="8229600" cy="494458"/>
          </a:xfrm>
          <a:prstGeom prst="rect">
            <a:avLst/>
          </a:prstGeom>
          <a:solidFill>
            <a:srgbClr val="151515"/>
          </a:solidFill>
          <a:ln w="12700">
            <a:solidFill>
              <a:srgbClr val="151515"/>
            </a:solidFill>
            <a:prstDash val="solid"/>
          </a:ln>
        </p:spPr>
        <p:txBody>
          <a:bodyPr/>
          <a:lstStyle/>
          <a:p>
            <a:endParaRPr lang="en-US"/>
          </a:p>
        </p:txBody>
      </p:sp>
      <p:sp>
        <p:nvSpPr>
          <p:cNvPr id="32" name="Text 29"/>
          <p:cNvSpPr/>
          <p:nvPr/>
        </p:nvSpPr>
        <p:spPr>
          <a:xfrm>
            <a:off x="594360" y="4368385"/>
            <a:ext cx="8138160" cy="274320"/>
          </a:xfrm>
          <a:prstGeom prst="rect">
            <a:avLst/>
          </a:prstGeom>
          <a:noFill/>
          <a:ln/>
        </p:spPr>
        <p:txBody>
          <a:bodyPr wrap="square" lIns="0" tIns="0" rIns="0" bIns="0" rtlCol="0" anchor="ctr"/>
          <a:lstStyle/>
          <a:p>
            <a:pPr marL="0" indent="0">
              <a:buNone/>
            </a:pPr>
            <a:r>
              <a:rPr lang="en-US" sz="1250" b="1" i="1" dirty="0">
                <a:solidFill>
                  <a:schemeClr val="bg1"/>
                </a:solidFill>
                <a:latin typeface="Inter Tight" pitchFamily="34" charset="0"/>
                <a:ea typeface="Inter Tight" pitchFamily="34" charset="-122"/>
                <a:cs typeface="Inter Tight" pitchFamily="34" charset="-120"/>
              </a:rPr>
              <a:t>And the usual answer? Brittle glue code, per-pair. It doesn't scale.</a:t>
            </a:r>
            <a:endParaRPr lang="en-US" sz="125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3</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THE GAP</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Today's tools each cover one slice</a:t>
            </a:r>
            <a:endParaRPr lang="en-US" sz="3100" dirty="0"/>
          </a:p>
        </p:txBody>
      </p:sp>
      <p:sp>
        <p:nvSpPr>
          <p:cNvPr id="8" name="Shape 6"/>
          <p:cNvSpPr/>
          <p:nvPr/>
        </p:nvSpPr>
        <p:spPr>
          <a:xfrm>
            <a:off x="457200" y="1554480"/>
            <a:ext cx="2743200" cy="237744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9" name="Shape 7"/>
          <p:cNvSpPr/>
          <p:nvPr/>
        </p:nvSpPr>
        <p:spPr>
          <a:xfrm>
            <a:off x="457200" y="1554480"/>
            <a:ext cx="2743200" cy="64008"/>
          </a:xfrm>
          <a:prstGeom prst="rect">
            <a:avLst/>
          </a:prstGeom>
          <a:solidFill>
            <a:srgbClr val="CB0017"/>
          </a:solidFill>
          <a:ln w="12700">
            <a:solidFill>
              <a:srgbClr val="CB0017"/>
            </a:solidFill>
            <a:prstDash val="solid"/>
          </a:ln>
        </p:spPr>
        <p:txBody>
          <a:bodyPr/>
          <a:lstStyle/>
          <a:p>
            <a:endParaRPr lang="en-US"/>
          </a:p>
        </p:txBody>
      </p:sp>
      <p:sp>
        <p:nvSpPr>
          <p:cNvPr id="10" name="Text 8"/>
          <p:cNvSpPr/>
          <p:nvPr/>
        </p:nvSpPr>
        <p:spPr>
          <a:xfrm>
            <a:off x="685800" y="1874520"/>
            <a:ext cx="2286000" cy="640080"/>
          </a:xfrm>
          <a:prstGeom prst="rect">
            <a:avLst/>
          </a:prstGeom>
          <a:noFill/>
          <a:ln/>
        </p:spPr>
        <p:txBody>
          <a:bodyPr wrap="square" lIns="0" tIns="0" rIns="0" bIns="0" rtlCol="0" anchor="ctr"/>
          <a:lstStyle/>
          <a:p>
            <a:pPr marL="0" indent="0">
              <a:buNone/>
            </a:pPr>
            <a:r>
              <a:rPr lang="en-US" sz="2600" b="1" dirty="0">
                <a:solidFill>
                  <a:srgbClr val="111111"/>
                </a:solidFill>
                <a:latin typeface="Oswald" pitchFamily="34" charset="0"/>
                <a:ea typeface="Oswald" pitchFamily="34" charset="-122"/>
                <a:cs typeface="Oswald" pitchFamily="34" charset="-120"/>
              </a:rPr>
              <a:t>XSLT</a:t>
            </a:r>
            <a:endParaRPr lang="en-US" sz="2600" dirty="0"/>
          </a:p>
        </p:txBody>
      </p:sp>
      <p:sp>
        <p:nvSpPr>
          <p:cNvPr id="11" name="Text 9"/>
          <p:cNvSpPr/>
          <p:nvPr/>
        </p:nvSpPr>
        <p:spPr>
          <a:xfrm>
            <a:off x="685800" y="2697480"/>
            <a:ext cx="2286000" cy="1005840"/>
          </a:xfrm>
          <a:prstGeom prst="rect">
            <a:avLst/>
          </a:prstGeom>
          <a:noFill/>
          <a:ln/>
        </p:spPr>
        <p:txBody>
          <a:bodyPr wrap="square" lIns="0" tIns="0" rIns="0" bIns="0" rtlCol="0" anchor="ctr"/>
          <a:lstStyle/>
          <a:p>
            <a:pPr marL="0" indent="0">
              <a:buNone/>
            </a:pPr>
            <a:r>
              <a:rPr lang="en-US" sz="1300" dirty="0">
                <a:solidFill>
                  <a:srgbClr val="4A4A4A"/>
                </a:solidFill>
                <a:latin typeface="Inter Tight" pitchFamily="34" charset="0"/>
                <a:ea typeface="Inter Tight" pitchFamily="34" charset="-122"/>
                <a:cs typeface="Inter Tight" pitchFamily="34" charset="-120"/>
              </a:rPr>
              <a:t>Powerful templates — but XML only, and 1999-era syntax.</a:t>
            </a:r>
            <a:endParaRPr lang="en-US" sz="1300" dirty="0"/>
          </a:p>
        </p:txBody>
      </p:sp>
      <p:sp>
        <p:nvSpPr>
          <p:cNvPr id="12" name="Shape 10"/>
          <p:cNvSpPr/>
          <p:nvPr/>
        </p:nvSpPr>
        <p:spPr>
          <a:xfrm>
            <a:off x="3200400" y="1554480"/>
            <a:ext cx="2743200" cy="237744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3" name="Shape 11"/>
          <p:cNvSpPr/>
          <p:nvPr/>
        </p:nvSpPr>
        <p:spPr>
          <a:xfrm>
            <a:off x="3200400" y="1554480"/>
            <a:ext cx="2743200" cy="64008"/>
          </a:xfrm>
          <a:prstGeom prst="rect">
            <a:avLst/>
          </a:prstGeom>
          <a:solidFill>
            <a:srgbClr val="CB0017"/>
          </a:solidFill>
          <a:ln w="12700">
            <a:solidFill>
              <a:srgbClr val="CB0017"/>
            </a:solidFill>
            <a:prstDash val="solid"/>
          </a:ln>
        </p:spPr>
        <p:txBody>
          <a:bodyPr/>
          <a:lstStyle/>
          <a:p>
            <a:endParaRPr lang="en-US"/>
          </a:p>
        </p:txBody>
      </p:sp>
      <p:sp>
        <p:nvSpPr>
          <p:cNvPr id="14" name="Text 12"/>
          <p:cNvSpPr/>
          <p:nvPr/>
        </p:nvSpPr>
        <p:spPr>
          <a:xfrm>
            <a:off x="3429000" y="1874520"/>
            <a:ext cx="2286000" cy="640080"/>
          </a:xfrm>
          <a:prstGeom prst="rect">
            <a:avLst/>
          </a:prstGeom>
          <a:noFill/>
          <a:ln/>
        </p:spPr>
        <p:txBody>
          <a:bodyPr wrap="square" lIns="0" tIns="0" rIns="0" bIns="0" rtlCol="0" anchor="ctr"/>
          <a:lstStyle/>
          <a:p>
            <a:pPr marL="0" indent="0">
              <a:buNone/>
            </a:pPr>
            <a:r>
              <a:rPr lang="en-US" sz="2600" b="1" dirty="0">
                <a:solidFill>
                  <a:srgbClr val="111111"/>
                </a:solidFill>
                <a:latin typeface="Oswald" pitchFamily="34" charset="0"/>
                <a:ea typeface="Oswald" pitchFamily="34" charset="-122"/>
                <a:cs typeface="Oswald" pitchFamily="34" charset="-120"/>
              </a:rPr>
              <a:t>jq</a:t>
            </a:r>
            <a:endParaRPr lang="en-US" sz="2600" dirty="0"/>
          </a:p>
        </p:txBody>
      </p:sp>
      <p:sp>
        <p:nvSpPr>
          <p:cNvPr id="15" name="Text 13"/>
          <p:cNvSpPr/>
          <p:nvPr/>
        </p:nvSpPr>
        <p:spPr>
          <a:xfrm>
            <a:off x="3429000" y="2697480"/>
            <a:ext cx="2286000" cy="1005840"/>
          </a:xfrm>
          <a:prstGeom prst="rect">
            <a:avLst/>
          </a:prstGeom>
          <a:noFill/>
          <a:ln/>
        </p:spPr>
        <p:txBody>
          <a:bodyPr wrap="square" lIns="0" tIns="0" rIns="0" bIns="0" rtlCol="0" anchor="ctr"/>
          <a:lstStyle/>
          <a:p>
            <a:pPr marL="0" indent="0">
              <a:buNone/>
            </a:pPr>
            <a:r>
              <a:rPr lang="en-US" sz="1300" dirty="0">
                <a:solidFill>
                  <a:srgbClr val="4A4A4A"/>
                </a:solidFill>
                <a:latin typeface="Inter Tight" pitchFamily="34" charset="0"/>
                <a:ea typeface="Inter Tight" pitchFamily="34" charset="-122"/>
                <a:cs typeface="Inter Tight" pitchFamily="34" charset="-120"/>
              </a:rPr>
              <a:t>Loved on the command line — but JSON only.</a:t>
            </a:r>
            <a:endParaRPr lang="en-US" sz="1300" dirty="0"/>
          </a:p>
        </p:txBody>
      </p:sp>
      <p:sp>
        <p:nvSpPr>
          <p:cNvPr id="16" name="Shape 14"/>
          <p:cNvSpPr/>
          <p:nvPr/>
        </p:nvSpPr>
        <p:spPr>
          <a:xfrm>
            <a:off x="5943600" y="1554480"/>
            <a:ext cx="2743200" cy="237744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7" name="Shape 15"/>
          <p:cNvSpPr/>
          <p:nvPr/>
        </p:nvSpPr>
        <p:spPr>
          <a:xfrm>
            <a:off x="5943600" y="1554480"/>
            <a:ext cx="2743200" cy="64008"/>
          </a:xfrm>
          <a:prstGeom prst="rect">
            <a:avLst/>
          </a:prstGeom>
          <a:solidFill>
            <a:srgbClr val="CB0017"/>
          </a:solidFill>
          <a:ln w="12700">
            <a:solidFill>
              <a:srgbClr val="CB0017"/>
            </a:solidFill>
            <a:prstDash val="solid"/>
          </a:ln>
        </p:spPr>
        <p:txBody>
          <a:bodyPr/>
          <a:lstStyle/>
          <a:p>
            <a:endParaRPr lang="en-US"/>
          </a:p>
        </p:txBody>
      </p:sp>
      <p:sp>
        <p:nvSpPr>
          <p:cNvPr id="18" name="Text 16"/>
          <p:cNvSpPr/>
          <p:nvPr/>
        </p:nvSpPr>
        <p:spPr>
          <a:xfrm>
            <a:off x="6172200" y="1874520"/>
            <a:ext cx="2286000" cy="640080"/>
          </a:xfrm>
          <a:prstGeom prst="rect">
            <a:avLst/>
          </a:prstGeom>
          <a:noFill/>
          <a:ln/>
        </p:spPr>
        <p:txBody>
          <a:bodyPr wrap="square" lIns="0" tIns="0" rIns="0" bIns="0" rtlCol="0" anchor="ctr"/>
          <a:lstStyle/>
          <a:p>
            <a:pPr marL="0" indent="0">
              <a:buNone/>
            </a:pPr>
            <a:r>
              <a:rPr lang="en-US" sz="2600" b="1" dirty="0">
                <a:solidFill>
                  <a:srgbClr val="111111"/>
                </a:solidFill>
                <a:latin typeface="Oswald" pitchFamily="34" charset="0"/>
                <a:ea typeface="Oswald" pitchFamily="34" charset="-122"/>
                <a:cs typeface="Oswald" pitchFamily="34" charset="-120"/>
              </a:rPr>
              <a:t>DataWeave</a:t>
            </a:r>
            <a:endParaRPr lang="en-US" sz="2600" dirty="0"/>
          </a:p>
        </p:txBody>
      </p:sp>
      <p:sp>
        <p:nvSpPr>
          <p:cNvPr id="19" name="Text 17"/>
          <p:cNvSpPr/>
          <p:nvPr/>
        </p:nvSpPr>
        <p:spPr>
          <a:xfrm>
            <a:off x="6172200" y="2697480"/>
            <a:ext cx="2286000" cy="1005840"/>
          </a:xfrm>
          <a:prstGeom prst="rect">
            <a:avLst/>
          </a:prstGeom>
          <a:noFill/>
          <a:ln/>
        </p:spPr>
        <p:txBody>
          <a:bodyPr wrap="square" lIns="0" tIns="0" rIns="0" bIns="0" rtlCol="0" anchor="ctr"/>
          <a:lstStyle/>
          <a:p>
            <a:pPr marL="0" indent="0">
              <a:buNone/>
            </a:pPr>
            <a:r>
              <a:rPr lang="en-US" sz="1300" dirty="0">
                <a:solidFill>
                  <a:srgbClr val="4A4A4A"/>
                </a:solidFill>
                <a:latin typeface="Inter Tight" pitchFamily="34" charset="0"/>
                <a:ea typeface="Inter Tight" pitchFamily="34" charset="-122"/>
                <a:cs typeface="Inter Tight" pitchFamily="34" charset="-120"/>
              </a:rPr>
              <a:t>All formats, great DX — but locked to MuleSoft and paid.</a:t>
            </a:r>
            <a:endParaRPr lang="en-US" sz="1300" dirty="0"/>
          </a:p>
        </p:txBody>
      </p:sp>
      <p:sp>
        <p:nvSpPr>
          <p:cNvPr id="20" name="Shape 18"/>
          <p:cNvSpPr/>
          <p:nvPr/>
        </p:nvSpPr>
        <p:spPr>
          <a:xfrm>
            <a:off x="457200" y="4160520"/>
            <a:ext cx="8229600" cy="566928"/>
          </a:xfrm>
          <a:prstGeom prst="rect">
            <a:avLst/>
          </a:prstGeom>
          <a:solidFill>
            <a:srgbClr val="151515"/>
          </a:solidFill>
          <a:ln w="12700">
            <a:solidFill>
              <a:srgbClr val="151515"/>
            </a:solidFill>
            <a:prstDash val="solid"/>
          </a:ln>
        </p:spPr>
        <p:txBody>
          <a:bodyPr/>
          <a:lstStyle/>
          <a:p>
            <a:endParaRPr lang="en-US"/>
          </a:p>
        </p:txBody>
      </p:sp>
      <p:sp>
        <p:nvSpPr>
          <p:cNvPr id="21" name="Text 19"/>
          <p:cNvSpPr/>
          <p:nvPr/>
        </p:nvSpPr>
        <p:spPr>
          <a:xfrm>
            <a:off x="685800" y="4160520"/>
            <a:ext cx="7772400" cy="566928"/>
          </a:xfrm>
          <a:prstGeom prst="rect">
            <a:avLst/>
          </a:prstGeom>
          <a:noFill/>
          <a:ln/>
        </p:spPr>
        <p:txBody>
          <a:bodyPr wrap="square" lIns="0" tIns="0" rIns="0" bIns="0" rtlCol="0" anchor="ctr"/>
          <a:lstStyle/>
          <a:p>
            <a:pPr marL="0" indent="0">
              <a:buNone/>
            </a:pPr>
            <a:r>
              <a:rPr lang="en-US" sz="1350" b="1" dirty="0">
                <a:solidFill>
                  <a:srgbClr val="FF8A8A"/>
                </a:solidFill>
                <a:latin typeface="Inter Tight" pitchFamily="34" charset="0"/>
                <a:ea typeface="Inter Tight" pitchFamily="34" charset="-122"/>
                <a:cs typeface="Inter Tight" pitchFamily="34" charset="-120"/>
              </a:rPr>
              <a:t>The gap:  </a:t>
            </a:r>
            <a:r>
              <a:rPr lang="en-US" sz="1350" dirty="0">
                <a:solidFill>
                  <a:srgbClr val="FFFFFF"/>
                </a:solidFill>
                <a:latin typeface="Inter Tight" pitchFamily="34" charset="0"/>
                <a:ea typeface="Inter Tight" pitchFamily="34" charset="-122"/>
                <a:cs typeface="Inter Tight" pitchFamily="34" charset="-120"/>
              </a:rPr>
              <a:t>no open, format-agnostic option that also transforms schemas — until now.</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4</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THE ANSWER</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Meet UTL-X</a:t>
            </a:r>
            <a:endParaRPr lang="en-US" sz="3100" dirty="0"/>
          </a:p>
        </p:txBody>
      </p:sp>
      <p:sp>
        <p:nvSpPr>
          <p:cNvPr id="8" name="Text 6"/>
          <p:cNvSpPr/>
          <p:nvPr/>
        </p:nvSpPr>
        <p:spPr>
          <a:xfrm>
            <a:off x="457200" y="1298448"/>
            <a:ext cx="8229600" cy="365760"/>
          </a:xfrm>
          <a:prstGeom prst="rect">
            <a:avLst/>
          </a:prstGeom>
          <a:noFill/>
          <a:ln/>
        </p:spPr>
        <p:txBody>
          <a:bodyPr wrap="square" lIns="0" tIns="0" rIns="0" bIns="0" rtlCol="0" anchor="ctr"/>
          <a:lstStyle/>
          <a:p>
            <a:pPr marL="0" indent="0">
              <a:buNone/>
            </a:pPr>
            <a:r>
              <a:rPr lang="en-US" sz="1500" dirty="0">
                <a:solidFill>
                  <a:srgbClr val="4A4A4A"/>
                </a:solidFill>
                <a:latin typeface="Inter Tight" pitchFamily="34" charset="0"/>
                <a:ea typeface="Inter Tight" pitchFamily="34" charset="-122"/>
                <a:cs typeface="Inter Tight" pitchFamily="34" charset="-120"/>
              </a:rPr>
              <a:t>Write your transformation once. Run it on any format. Open source, AGPL-3.0.</a:t>
            </a:r>
            <a:endParaRPr lang="en-US" sz="1500" dirty="0"/>
          </a:p>
        </p:txBody>
      </p:sp>
      <p:sp>
        <p:nvSpPr>
          <p:cNvPr id="9" name="Shape 7"/>
          <p:cNvSpPr/>
          <p:nvPr/>
        </p:nvSpPr>
        <p:spPr>
          <a:xfrm>
            <a:off x="457200" y="1903652"/>
            <a:ext cx="1828800" cy="210312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0" name="Shape 8"/>
          <p:cNvSpPr/>
          <p:nvPr/>
        </p:nvSpPr>
        <p:spPr>
          <a:xfrm>
            <a:off x="457200" y="1903652"/>
            <a:ext cx="1828800" cy="64008"/>
          </a:xfrm>
          <a:prstGeom prst="rect">
            <a:avLst/>
          </a:prstGeom>
          <a:solidFill>
            <a:srgbClr val="CB0017"/>
          </a:solidFill>
          <a:ln w="12700">
            <a:solidFill>
              <a:srgbClr val="CB0017"/>
            </a:solidFill>
            <a:prstDash val="solid"/>
          </a:ln>
        </p:spPr>
        <p:txBody>
          <a:bodyPr/>
          <a:lstStyle/>
          <a:p>
            <a:endParaRPr lang="en-US"/>
          </a:p>
        </p:txBody>
      </p:sp>
      <p:sp>
        <p:nvSpPr>
          <p:cNvPr id="11" name="Text 9"/>
          <p:cNvSpPr/>
          <p:nvPr/>
        </p:nvSpPr>
        <p:spPr>
          <a:xfrm>
            <a:off x="457200" y="2333420"/>
            <a:ext cx="1828800" cy="868680"/>
          </a:xfrm>
          <a:prstGeom prst="rect">
            <a:avLst/>
          </a:prstGeom>
          <a:noFill/>
          <a:ln/>
        </p:spPr>
        <p:txBody>
          <a:bodyPr wrap="square" lIns="0" tIns="0" rIns="0" bIns="0" rtlCol="0" anchor="ctr"/>
          <a:lstStyle/>
          <a:p>
            <a:pPr marL="0" indent="0" algn="ctr">
              <a:buNone/>
            </a:pPr>
            <a:r>
              <a:rPr lang="en-US" sz="4400" b="1" dirty="0">
                <a:solidFill>
                  <a:srgbClr val="CB0017"/>
                </a:solidFill>
                <a:latin typeface="Oswald" pitchFamily="34" charset="0"/>
                <a:ea typeface="Oswald" pitchFamily="34" charset="-122"/>
                <a:cs typeface="Oswald" pitchFamily="34" charset="-120"/>
              </a:rPr>
              <a:t>650+</a:t>
            </a:r>
            <a:endParaRPr lang="en-US" sz="4400" dirty="0"/>
          </a:p>
        </p:txBody>
      </p:sp>
      <p:sp>
        <p:nvSpPr>
          <p:cNvPr id="12" name="Text 10"/>
          <p:cNvSpPr/>
          <p:nvPr/>
        </p:nvSpPr>
        <p:spPr>
          <a:xfrm>
            <a:off x="457200" y="3266108"/>
            <a:ext cx="1828800" cy="457200"/>
          </a:xfrm>
          <a:prstGeom prst="rect">
            <a:avLst/>
          </a:prstGeom>
          <a:noFill/>
          <a:ln/>
        </p:spPr>
        <p:txBody>
          <a:bodyPr wrap="square" lIns="0" tIns="0" rIns="0" bIns="0" rtlCol="0" anchor="ctr"/>
          <a:lstStyle/>
          <a:p>
            <a:pPr marL="0" indent="0" algn="ctr">
              <a:buNone/>
            </a:pPr>
            <a:r>
              <a:rPr lang="en-US" sz="1250" dirty="0">
                <a:solidFill>
                  <a:srgbClr val="111111"/>
                </a:solidFill>
                <a:latin typeface="Inter Tight" pitchFamily="34" charset="0"/>
                <a:ea typeface="Inter Tight" pitchFamily="34" charset="-122"/>
                <a:cs typeface="Inter Tight" pitchFamily="34" charset="-120"/>
              </a:rPr>
              <a:t>stdlib functions</a:t>
            </a:r>
            <a:endParaRPr lang="en-US" sz="1250" dirty="0"/>
          </a:p>
        </p:txBody>
      </p:sp>
      <p:sp>
        <p:nvSpPr>
          <p:cNvPr id="13" name="Shape 11"/>
          <p:cNvSpPr/>
          <p:nvPr/>
        </p:nvSpPr>
        <p:spPr>
          <a:xfrm>
            <a:off x="2587752" y="1903652"/>
            <a:ext cx="1828800" cy="210312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4" name="Shape 12"/>
          <p:cNvSpPr/>
          <p:nvPr/>
        </p:nvSpPr>
        <p:spPr>
          <a:xfrm>
            <a:off x="2587752" y="1903652"/>
            <a:ext cx="1828800" cy="64008"/>
          </a:xfrm>
          <a:prstGeom prst="rect">
            <a:avLst/>
          </a:prstGeom>
          <a:solidFill>
            <a:srgbClr val="CB0017"/>
          </a:solidFill>
          <a:ln w="12700">
            <a:solidFill>
              <a:srgbClr val="CB0017"/>
            </a:solidFill>
            <a:prstDash val="solid"/>
          </a:ln>
        </p:spPr>
        <p:txBody>
          <a:bodyPr/>
          <a:lstStyle/>
          <a:p>
            <a:endParaRPr lang="en-US"/>
          </a:p>
        </p:txBody>
      </p:sp>
      <p:sp>
        <p:nvSpPr>
          <p:cNvPr id="15" name="Text 13"/>
          <p:cNvSpPr/>
          <p:nvPr/>
        </p:nvSpPr>
        <p:spPr>
          <a:xfrm>
            <a:off x="2587752" y="2333420"/>
            <a:ext cx="1828800" cy="868680"/>
          </a:xfrm>
          <a:prstGeom prst="rect">
            <a:avLst/>
          </a:prstGeom>
          <a:noFill/>
          <a:ln/>
        </p:spPr>
        <p:txBody>
          <a:bodyPr wrap="square" lIns="0" tIns="0" rIns="0" bIns="0" rtlCol="0" anchor="ctr"/>
          <a:lstStyle/>
          <a:p>
            <a:pPr marL="0" indent="0" algn="ctr">
              <a:buNone/>
            </a:pPr>
            <a:r>
              <a:rPr lang="en-US" sz="4400" b="1" dirty="0">
                <a:solidFill>
                  <a:srgbClr val="CB0017"/>
                </a:solidFill>
                <a:latin typeface="Oswald" pitchFamily="34" charset="0"/>
                <a:ea typeface="Oswald" pitchFamily="34" charset="-122"/>
                <a:cs typeface="Oswald" pitchFamily="34" charset="-120"/>
              </a:rPr>
              <a:t>5</a:t>
            </a:r>
            <a:endParaRPr lang="en-US" sz="4400" dirty="0"/>
          </a:p>
        </p:txBody>
      </p:sp>
      <p:sp>
        <p:nvSpPr>
          <p:cNvPr id="16" name="Text 14"/>
          <p:cNvSpPr/>
          <p:nvPr/>
        </p:nvSpPr>
        <p:spPr>
          <a:xfrm>
            <a:off x="2587752" y="3266108"/>
            <a:ext cx="1828800" cy="457200"/>
          </a:xfrm>
          <a:prstGeom prst="rect">
            <a:avLst/>
          </a:prstGeom>
          <a:noFill/>
          <a:ln/>
        </p:spPr>
        <p:txBody>
          <a:bodyPr wrap="square" lIns="0" tIns="0" rIns="0" bIns="0" rtlCol="0" anchor="ctr"/>
          <a:lstStyle/>
          <a:p>
            <a:pPr marL="0" indent="0" algn="ctr">
              <a:buNone/>
            </a:pPr>
            <a:r>
              <a:rPr lang="en-US" sz="1250" dirty="0">
                <a:solidFill>
                  <a:srgbClr val="111111"/>
                </a:solidFill>
                <a:latin typeface="Inter Tight" pitchFamily="34" charset="0"/>
                <a:ea typeface="Inter Tight" pitchFamily="34" charset="-122"/>
                <a:cs typeface="Inter Tight" pitchFamily="34" charset="-120"/>
              </a:rPr>
              <a:t>data formats (T1)</a:t>
            </a:r>
            <a:endParaRPr lang="en-US" sz="1250" dirty="0"/>
          </a:p>
        </p:txBody>
      </p:sp>
      <p:sp>
        <p:nvSpPr>
          <p:cNvPr id="17" name="Shape 15"/>
          <p:cNvSpPr/>
          <p:nvPr/>
        </p:nvSpPr>
        <p:spPr>
          <a:xfrm>
            <a:off x="4718304" y="1903652"/>
            <a:ext cx="1828800" cy="210312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8" name="Shape 16"/>
          <p:cNvSpPr/>
          <p:nvPr/>
        </p:nvSpPr>
        <p:spPr>
          <a:xfrm>
            <a:off x="4718304" y="1903652"/>
            <a:ext cx="1828800" cy="64008"/>
          </a:xfrm>
          <a:prstGeom prst="rect">
            <a:avLst/>
          </a:prstGeom>
          <a:solidFill>
            <a:srgbClr val="CB0017"/>
          </a:solidFill>
          <a:ln w="12700">
            <a:solidFill>
              <a:srgbClr val="CB0017"/>
            </a:solidFill>
            <a:prstDash val="solid"/>
          </a:ln>
        </p:spPr>
        <p:txBody>
          <a:bodyPr/>
          <a:lstStyle/>
          <a:p>
            <a:endParaRPr lang="en-US"/>
          </a:p>
        </p:txBody>
      </p:sp>
      <p:sp>
        <p:nvSpPr>
          <p:cNvPr id="19" name="Text 17"/>
          <p:cNvSpPr/>
          <p:nvPr/>
        </p:nvSpPr>
        <p:spPr>
          <a:xfrm>
            <a:off x="4718304" y="2333420"/>
            <a:ext cx="1828800" cy="868680"/>
          </a:xfrm>
          <a:prstGeom prst="rect">
            <a:avLst/>
          </a:prstGeom>
          <a:noFill/>
          <a:ln/>
        </p:spPr>
        <p:txBody>
          <a:bodyPr wrap="square" lIns="0" tIns="0" rIns="0" bIns="0" rtlCol="0" anchor="ctr"/>
          <a:lstStyle/>
          <a:p>
            <a:pPr marL="0" indent="0" algn="ctr">
              <a:buNone/>
            </a:pPr>
            <a:r>
              <a:rPr lang="en-US" sz="4400" b="1" dirty="0">
                <a:solidFill>
                  <a:srgbClr val="CB0017"/>
                </a:solidFill>
                <a:latin typeface="Oswald" pitchFamily="34" charset="0"/>
                <a:ea typeface="Oswald" pitchFamily="34" charset="-122"/>
                <a:cs typeface="Oswald" pitchFamily="34" charset="-120"/>
              </a:rPr>
              <a:t>7</a:t>
            </a:r>
            <a:endParaRPr lang="en-US" sz="4400" dirty="0"/>
          </a:p>
        </p:txBody>
      </p:sp>
      <p:sp>
        <p:nvSpPr>
          <p:cNvPr id="20" name="Text 18"/>
          <p:cNvSpPr/>
          <p:nvPr/>
        </p:nvSpPr>
        <p:spPr>
          <a:xfrm>
            <a:off x="4718304" y="3266108"/>
            <a:ext cx="1828800" cy="457200"/>
          </a:xfrm>
          <a:prstGeom prst="rect">
            <a:avLst/>
          </a:prstGeom>
          <a:noFill/>
          <a:ln/>
        </p:spPr>
        <p:txBody>
          <a:bodyPr wrap="square" lIns="0" tIns="0" rIns="0" bIns="0" rtlCol="0" anchor="ctr"/>
          <a:lstStyle/>
          <a:p>
            <a:pPr marL="0" indent="0" algn="ctr">
              <a:buNone/>
            </a:pPr>
            <a:r>
              <a:rPr lang="en-US" sz="1250" dirty="0">
                <a:solidFill>
                  <a:srgbClr val="111111"/>
                </a:solidFill>
                <a:latin typeface="Inter Tight" pitchFamily="34" charset="0"/>
                <a:ea typeface="Inter Tight" pitchFamily="34" charset="-122"/>
                <a:cs typeface="Inter Tight" pitchFamily="34" charset="-120"/>
              </a:rPr>
              <a:t>schema formats (T2)</a:t>
            </a:r>
            <a:endParaRPr lang="en-US" sz="1250" dirty="0"/>
          </a:p>
        </p:txBody>
      </p:sp>
      <p:sp>
        <p:nvSpPr>
          <p:cNvPr id="21" name="Shape 19"/>
          <p:cNvSpPr/>
          <p:nvPr/>
        </p:nvSpPr>
        <p:spPr>
          <a:xfrm>
            <a:off x="6848856" y="1903652"/>
            <a:ext cx="1828800" cy="210312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22" name="Shape 20"/>
          <p:cNvSpPr/>
          <p:nvPr/>
        </p:nvSpPr>
        <p:spPr>
          <a:xfrm>
            <a:off x="6848856" y="1903652"/>
            <a:ext cx="1828800" cy="64008"/>
          </a:xfrm>
          <a:prstGeom prst="rect">
            <a:avLst/>
          </a:prstGeom>
          <a:solidFill>
            <a:srgbClr val="CB0017"/>
          </a:solidFill>
          <a:ln w="12700">
            <a:solidFill>
              <a:srgbClr val="CB0017"/>
            </a:solidFill>
            <a:prstDash val="solid"/>
          </a:ln>
        </p:spPr>
        <p:txBody>
          <a:bodyPr/>
          <a:lstStyle/>
          <a:p>
            <a:endParaRPr lang="en-US"/>
          </a:p>
        </p:txBody>
      </p:sp>
      <p:sp>
        <p:nvSpPr>
          <p:cNvPr id="23" name="Text 21"/>
          <p:cNvSpPr/>
          <p:nvPr/>
        </p:nvSpPr>
        <p:spPr>
          <a:xfrm>
            <a:off x="6848856" y="2333420"/>
            <a:ext cx="1828800" cy="868680"/>
          </a:xfrm>
          <a:prstGeom prst="rect">
            <a:avLst/>
          </a:prstGeom>
          <a:noFill/>
          <a:ln/>
        </p:spPr>
        <p:txBody>
          <a:bodyPr wrap="square" lIns="0" tIns="0" rIns="0" bIns="0" rtlCol="0" anchor="ctr"/>
          <a:lstStyle/>
          <a:p>
            <a:pPr marL="0" indent="0" algn="ctr">
              <a:buNone/>
            </a:pPr>
            <a:r>
              <a:rPr lang="en-US" sz="4400" b="1" dirty="0">
                <a:solidFill>
                  <a:srgbClr val="CB0017"/>
                </a:solidFill>
                <a:latin typeface="Oswald" pitchFamily="34" charset="0"/>
                <a:ea typeface="Oswald" pitchFamily="34" charset="-122"/>
                <a:cs typeface="Oswald" pitchFamily="34" charset="-120"/>
              </a:rPr>
              <a:t>3</a:t>
            </a:r>
            <a:endParaRPr lang="en-US" sz="4400" dirty="0"/>
          </a:p>
        </p:txBody>
      </p:sp>
      <p:sp>
        <p:nvSpPr>
          <p:cNvPr id="24" name="Text 22"/>
          <p:cNvSpPr/>
          <p:nvPr/>
        </p:nvSpPr>
        <p:spPr>
          <a:xfrm>
            <a:off x="6848856" y="3266108"/>
            <a:ext cx="1828800" cy="457200"/>
          </a:xfrm>
          <a:prstGeom prst="rect">
            <a:avLst/>
          </a:prstGeom>
          <a:noFill/>
          <a:ln/>
        </p:spPr>
        <p:txBody>
          <a:bodyPr wrap="square" lIns="0" tIns="0" rIns="0" bIns="0" rtlCol="0" anchor="ctr"/>
          <a:lstStyle/>
          <a:p>
            <a:pPr marL="0" indent="0" algn="ctr">
              <a:buNone/>
            </a:pPr>
            <a:r>
              <a:rPr lang="en-US" sz="1250" dirty="0">
                <a:solidFill>
                  <a:srgbClr val="111111"/>
                </a:solidFill>
                <a:latin typeface="Inter Tight" pitchFamily="34" charset="0"/>
                <a:ea typeface="Inter Tight" pitchFamily="34" charset="-122"/>
                <a:cs typeface="Inter Tight" pitchFamily="34" charset="-120"/>
              </a:rPr>
              <a:t>runtimes</a:t>
            </a:r>
            <a:endParaRPr lang="en-US" sz="1250" dirty="0"/>
          </a:p>
        </p:txBody>
      </p:sp>
      <p:sp>
        <p:nvSpPr>
          <p:cNvPr id="26" name="Shape 18">
            <a:extLst>
              <a:ext uri="{FF2B5EF4-FFF2-40B4-BE49-F238E27FC236}">
                <a16:creationId xmlns:a16="http://schemas.microsoft.com/office/drawing/2014/main" id="{66775264-2313-957B-B8A2-D9C1E70CF6B0}"/>
              </a:ext>
            </a:extLst>
          </p:cNvPr>
          <p:cNvSpPr/>
          <p:nvPr/>
        </p:nvSpPr>
        <p:spPr>
          <a:xfrm>
            <a:off x="448056" y="4153662"/>
            <a:ext cx="8229600" cy="596646"/>
          </a:xfrm>
          <a:prstGeom prst="rect">
            <a:avLst/>
          </a:prstGeom>
          <a:solidFill>
            <a:srgbClr val="151515"/>
          </a:solidFill>
          <a:ln w="12700">
            <a:solidFill>
              <a:srgbClr val="151515"/>
            </a:solidFill>
            <a:prstDash val="solid"/>
          </a:ln>
        </p:spPr>
        <p:txBody>
          <a:bodyPr/>
          <a:lstStyle/>
          <a:p>
            <a:endParaRPr lang="en-US"/>
          </a:p>
        </p:txBody>
      </p:sp>
      <p:sp>
        <p:nvSpPr>
          <p:cNvPr id="25" name="Text 23"/>
          <p:cNvSpPr/>
          <p:nvPr/>
        </p:nvSpPr>
        <p:spPr>
          <a:xfrm>
            <a:off x="712098" y="4222828"/>
            <a:ext cx="7974701" cy="527480"/>
          </a:xfrm>
          <a:prstGeom prst="rect">
            <a:avLst/>
          </a:prstGeom>
          <a:noFill/>
          <a:ln/>
        </p:spPr>
        <p:txBody>
          <a:bodyPr wrap="square" lIns="0" tIns="0" rIns="0" bIns="0" rtlCol="0" anchor="ctr"/>
          <a:lstStyle/>
          <a:p>
            <a:pPr marL="0" indent="0">
              <a:buNone/>
            </a:pPr>
            <a:r>
              <a:rPr lang="en-US" sz="1250" i="1" dirty="0">
                <a:solidFill>
                  <a:srgbClr val="FF8A8A"/>
                </a:solidFill>
                <a:latin typeface="Inter Tight" pitchFamily="34" charset="0"/>
                <a:ea typeface="Inter Tight" pitchFamily="34" charset="-122"/>
                <a:cs typeface="Inter Tight" pitchFamily="34" charset="-120"/>
              </a:rPr>
              <a:t>Format-agnostic</a:t>
            </a:r>
            <a:r>
              <a:rPr lang="en-US" sz="1250" i="1" dirty="0">
                <a:solidFill>
                  <a:schemeClr val="bg1"/>
                </a:solidFill>
                <a:latin typeface="Inter Tight" pitchFamily="34" charset="0"/>
                <a:ea typeface="Inter Tight" pitchFamily="34" charset="-122"/>
                <a:cs typeface="Inter Tight" pitchFamily="34" charset="-120"/>
              </a:rPr>
              <a:t> · functional · strongly typed · JVM,  Binary compiled CLI, UTLX engine  SDKs (C#, python, Kotlin, Java, GO)</a:t>
            </a:r>
            <a:endParaRPr lang="en-US" sz="125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5</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HOW IT WORKS</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One model in the middle: the UDM</a:t>
            </a:r>
            <a:endParaRPr lang="en-US" sz="3100" dirty="0"/>
          </a:p>
        </p:txBody>
      </p:sp>
      <p:pic>
        <p:nvPicPr>
          <p:cNvPr id="8" name="Image 0" descr="preencoded.png"/>
          <p:cNvPicPr>
            <a:picLocks noChangeAspect="1"/>
          </p:cNvPicPr>
          <p:nvPr/>
        </p:nvPicPr>
        <p:blipFill>
          <a:blip r:embed="rId3"/>
          <a:stretch>
            <a:fillRect/>
          </a:stretch>
        </p:blipFill>
        <p:spPr>
          <a:xfrm>
            <a:off x="7955280" y="457200"/>
            <a:ext cx="640080" cy="640080"/>
          </a:xfrm>
          <a:prstGeom prst="rect">
            <a:avLst/>
          </a:prstGeom>
        </p:spPr>
      </p:pic>
      <p:sp>
        <p:nvSpPr>
          <p:cNvPr id="9" name="Shape 6"/>
          <p:cNvSpPr/>
          <p:nvPr/>
        </p:nvSpPr>
        <p:spPr>
          <a:xfrm>
            <a:off x="803740" y="1737360"/>
            <a:ext cx="1394540" cy="246888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0" name="Text 7"/>
          <p:cNvSpPr/>
          <p:nvPr/>
        </p:nvSpPr>
        <p:spPr>
          <a:xfrm>
            <a:off x="497660" y="1874520"/>
            <a:ext cx="2011680" cy="274320"/>
          </a:xfrm>
          <a:prstGeom prst="rect">
            <a:avLst/>
          </a:prstGeom>
          <a:noFill/>
          <a:ln/>
        </p:spPr>
        <p:txBody>
          <a:bodyPr wrap="square" lIns="0" tIns="0" rIns="0" bIns="0" rtlCol="0" anchor="ctr"/>
          <a:lstStyle/>
          <a:p>
            <a:pPr marL="0" indent="0" algn="ctr">
              <a:buNone/>
            </a:pPr>
            <a:r>
              <a:rPr lang="en-US" sz="1050" b="1" kern="0" spc="200" dirty="0">
                <a:solidFill>
                  <a:srgbClr val="CB0017"/>
                </a:solidFill>
                <a:latin typeface="Oswald" pitchFamily="34" charset="0"/>
                <a:ea typeface="Oswald" pitchFamily="34" charset="-122"/>
                <a:cs typeface="Oswald" pitchFamily="34" charset="-120"/>
              </a:rPr>
              <a:t>ANY INPUT</a:t>
            </a:r>
            <a:endParaRPr lang="en-US" sz="1050" dirty="0"/>
          </a:p>
        </p:txBody>
      </p:sp>
      <p:sp>
        <p:nvSpPr>
          <p:cNvPr id="11" name="Text 8"/>
          <p:cNvSpPr/>
          <p:nvPr/>
        </p:nvSpPr>
        <p:spPr>
          <a:xfrm>
            <a:off x="497660" y="2240280"/>
            <a:ext cx="2011680" cy="301752"/>
          </a:xfrm>
          <a:prstGeom prst="rect">
            <a:avLst/>
          </a:prstGeom>
          <a:noFill/>
          <a:ln/>
        </p:spPr>
        <p:txBody>
          <a:bodyPr wrap="square" lIns="0" tIns="0" rIns="0" bIns="0" rtlCol="0" anchor="ctr"/>
          <a:lstStyle/>
          <a:p>
            <a:pPr marL="0" indent="0" algn="ctr">
              <a:buNone/>
            </a:pPr>
            <a:r>
              <a:rPr lang="en-US" sz="1200" dirty="0">
                <a:solidFill>
                  <a:srgbClr val="111111"/>
                </a:solidFill>
                <a:latin typeface="Consolas" pitchFamily="34" charset="0"/>
                <a:ea typeface="Consolas" pitchFamily="34" charset="-122"/>
                <a:cs typeface="Consolas" pitchFamily="34" charset="-120"/>
              </a:rPr>
              <a:t>XML</a:t>
            </a:r>
            <a:endParaRPr lang="en-US" sz="1200" dirty="0"/>
          </a:p>
        </p:txBody>
      </p:sp>
      <p:sp>
        <p:nvSpPr>
          <p:cNvPr id="12" name="Text 9"/>
          <p:cNvSpPr/>
          <p:nvPr/>
        </p:nvSpPr>
        <p:spPr>
          <a:xfrm>
            <a:off x="497660" y="2606040"/>
            <a:ext cx="2011680" cy="301752"/>
          </a:xfrm>
          <a:prstGeom prst="rect">
            <a:avLst/>
          </a:prstGeom>
          <a:noFill/>
          <a:ln/>
        </p:spPr>
        <p:txBody>
          <a:bodyPr wrap="square" lIns="0" tIns="0" rIns="0" bIns="0" rtlCol="0" anchor="ctr"/>
          <a:lstStyle/>
          <a:p>
            <a:pPr marL="0" indent="0" algn="ctr">
              <a:buNone/>
            </a:pPr>
            <a:r>
              <a:rPr lang="en-US" sz="1200" dirty="0">
                <a:solidFill>
                  <a:srgbClr val="111111"/>
                </a:solidFill>
                <a:latin typeface="Consolas" pitchFamily="34" charset="0"/>
                <a:ea typeface="Consolas" pitchFamily="34" charset="-122"/>
                <a:cs typeface="Consolas" pitchFamily="34" charset="-120"/>
              </a:rPr>
              <a:t>JSON</a:t>
            </a:r>
            <a:endParaRPr lang="en-US" sz="1200" dirty="0"/>
          </a:p>
        </p:txBody>
      </p:sp>
      <p:sp>
        <p:nvSpPr>
          <p:cNvPr id="13" name="Text 10"/>
          <p:cNvSpPr/>
          <p:nvPr/>
        </p:nvSpPr>
        <p:spPr>
          <a:xfrm>
            <a:off x="497660" y="2971800"/>
            <a:ext cx="2011680" cy="301752"/>
          </a:xfrm>
          <a:prstGeom prst="rect">
            <a:avLst/>
          </a:prstGeom>
          <a:noFill/>
          <a:ln/>
        </p:spPr>
        <p:txBody>
          <a:bodyPr wrap="square" lIns="0" tIns="0" rIns="0" bIns="0" rtlCol="0" anchor="ctr"/>
          <a:lstStyle/>
          <a:p>
            <a:pPr marL="0" indent="0" algn="ctr">
              <a:buNone/>
            </a:pPr>
            <a:r>
              <a:rPr lang="en-US" sz="1200" dirty="0">
                <a:solidFill>
                  <a:srgbClr val="111111"/>
                </a:solidFill>
                <a:latin typeface="Consolas" pitchFamily="34" charset="0"/>
                <a:ea typeface="Consolas" pitchFamily="34" charset="-122"/>
                <a:cs typeface="Consolas" pitchFamily="34" charset="-120"/>
              </a:rPr>
              <a:t>CSV</a:t>
            </a:r>
            <a:endParaRPr lang="en-US" sz="1200" dirty="0"/>
          </a:p>
        </p:txBody>
      </p:sp>
      <p:sp>
        <p:nvSpPr>
          <p:cNvPr id="14" name="Text 11"/>
          <p:cNvSpPr/>
          <p:nvPr/>
        </p:nvSpPr>
        <p:spPr>
          <a:xfrm>
            <a:off x="497660" y="3337560"/>
            <a:ext cx="2011680" cy="301752"/>
          </a:xfrm>
          <a:prstGeom prst="rect">
            <a:avLst/>
          </a:prstGeom>
          <a:noFill/>
          <a:ln/>
        </p:spPr>
        <p:txBody>
          <a:bodyPr wrap="square" lIns="0" tIns="0" rIns="0" bIns="0" rtlCol="0" anchor="ctr"/>
          <a:lstStyle/>
          <a:p>
            <a:pPr marL="0" indent="0" algn="ctr">
              <a:buNone/>
            </a:pPr>
            <a:r>
              <a:rPr lang="en-US" sz="1200" dirty="0">
                <a:solidFill>
                  <a:srgbClr val="111111"/>
                </a:solidFill>
                <a:latin typeface="Consolas" pitchFamily="34" charset="0"/>
                <a:ea typeface="Consolas" pitchFamily="34" charset="-122"/>
                <a:cs typeface="Consolas" pitchFamily="34" charset="-120"/>
              </a:rPr>
              <a:t>YAML</a:t>
            </a:r>
            <a:endParaRPr lang="en-US" sz="1200" dirty="0"/>
          </a:p>
        </p:txBody>
      </p:sp>
      <p:sp>
        <p:nvSpPr>
          <p:cNvPr id="15" name="Text 12"/>
          <p:cNvSpPr/>
          <p:nvPr/>
        </p:nvSpPr>
        <p:spPr>
          <a:xfrm>
            <a:off x="497660" y="3703320"/>
            <a:ext cx="2011680" cy="301752"/>
          </a:xfrm>
          <a:prstGeom prst="rect">
            <a:avLst/>
          </a:prstGeom>
          <a:noFill/>
          <a:ln/>
        </p:spPr>
        <p:txBody>
          <a:bodyPr wrap="square" lIns="0" tIns="0" rIns="0" bIns="0" rtlCol="0" anchor="ctr"/>
          <a:lstStyle/>
          <a:p>
            <a:pPr marL="0" indent="0" algn="ctr">
              <a:buNone/>
            </a:pPr>
            <a:r>
              <a:rPr lang="en-US" sz="1200" dirty="0">
                <a:solidFill>
                  <a:srgbClr val="111111"/>
                </a:solidFill>
                <a:latin typeface="Consolas" pitchFamily="34" charset="0"/>
                <a:ea typeface="Consolas" pitchFamily="34" charset="-122"/>
                <a:cs typeface="Consolas" pitchFamily="34" charset="-120"/>
              </a:rPr>
              <a:t>OData</a:t>
            </a:r>
            <a:endParaRPr lang="en-US" sz="1200" dirty="0"/>
          </a:p>
        </p:txBody>
      </p:sp>
      <p:sp>
        <p:nvSpPr>
          <p:cNvPr id="16" name="Shape 13"/>
          <p:cNvSpPr/>
          <p:nvPr/>
        </p:nvSpPr>
        <p:spPr>
          <a:xfrm>
            <a:off x="7405908" y="1737360"/>
            <a:ext cx="1394540" cy="246888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7" name="Text 14"/>
          <p:cNvSpPr/>
          <p:nvPr/>
        </p:nvSpPr>
        <p:spPr>
          <a:xfrm>
            <a:off x="7031168" y="1874520"/>
            <a:ext cx="2011680" cy="274320"/>
          </a:xfrm>
          <a:prstGeom prst="rect">
            <a:avLst/>
          </a:prstGeom>
          <a:noFill/>
          <a:ln/>
        </p:spPr>
        <p:txBody>
          <a:bodyPr wrap="square" lIns="0" tIns="0" rIns="0" bIns="0" rtlCol="0" anchor="ctr"/>
          <a:lstStyle/>
          <a:p>
            <a:pPr marL="0" indent="0" algn="ctr">
              <a:buNone/>
            </a:pPr>
            <a:r>
              <a:rPr lang="en-US" sz="1050" b="1" kern="0" spc="200" dirty="0">
                <a:solidFill>
                  <a:srgbClr val="CB0017"/>
                </a:solidFill>
                <a:latin typeface="Oswald" pitchFamily="34" charset="0"/>
                <a:ea typeface="Oswald" pitchFamily="34" charset="-122"/>
                <a:cs typeface="Oswald" pitchFamily="34" charset="-120"/>
              </a:rPr>
              <a:t>ANY OUTPUT</a:t>
            </a:r>
            <a:endParaRPr lang="en-US" sz="1050" dirty="0"/>
          </a:p>
        </p:txBody>
      </p:sp>
      <p:sp>
        <p:nvSpPr>
          <p:cNvPr id="18" name="Text 15"/>
          <p:cNvSpPr/>
          <p:nvPr/>
        </p:nvSpPr>
        <p:spPr>
          <a:xfrm>
            <a:off x="7031168" y="2240280"/>
            <a:ext cx="2011680" cy="301752"/>
          </a:xfrm>
          <a:prstGeom prst="rect">
            <a:avLst/>
          </a:prstGeom>
          <a:noFill/>
          <a:ln/>
        </p:spPr>
        <p:txBody>
          <a:bodyPr wrap="square" lIns="0" tIns="0" rIns="0" bIns="0" rtlCol="0" anchor="ctr"/>
          <a:lstStyle/>
          <a:p>
            <a:pPr marL="0" indent="0" algn="ctr">
              <a:buNone/>
            </a:pPr>
            <a:r>
              <a:rPr lang="en-US" sz="1200" dirty="0">
                <a:solidFill>
                  <a:srgbClr val="111111"/>
                </a:solidFill>
                <a:latin typeface="Consolas" pitchFamily="34" charset="0"/>
                <a:ea typeface="Consolas" pitchFamily="34" charset="-122"/>
                <a:cs typeface="Consolas" pitchFamily="34" charset="-120"/>
              </a:rPr>
              <a:t>XML</a:t>
            </a:r>
            <a:endParaRPr lang="en-US" sz="1200" dirty="0"/>
          </a:p>
        </p:txBody>
      </p:sp>
      <p:sp>
        <p:nvSpPr>
          <p:cNvPr id="19" name="Text 16"/>
          <p:cNvSpPr/>
          <p:nvPr/>
        </p:nvSpPr>
        <p:spPr>
          <a:xfrm>
            <a:off x="7031168" y="2606040"/>
            <a:ext cx="2011680" cy="301752"/>
          </a:xfrm>
          <a:prstGeom prst="rect">
            <a:avLst/>
          </a:prstGeom>
          <a:noFill/>
          <a:ln/>
        </p:spPr>
        <p:txBody>
          <a:bodyPr wrap="square" lIns="0" tIns="0" rIns="0" bIns="0" rtlCol="0" anchor="ctr"/>
          <a:lstStyle/>
          <a:p>
            <a:pPr marL="0" indent="0" algn="ctr">
              <a:buNone/>
            </a:pPr>
            <a:r>
              <a:rPr lang="en-US" sz="1200" dirty="0">
                <a:solidFill>
                  <a:srgbClr val="111111"/>
                </a:solidFill>
                <a:latin typeface="Consolas" pitchFamily="34" charset="0"/>
                <a:ea typeface="Consolas" pitchFamily="34" charset="-122"/>
                <a:cs typeface="Consolas" pitchFamily="34" charset="-120"/>
              </a:rPr>
              <a:t>JSON</a:t>
            </a:r>
            <a:endParaRPr lang="en-US" sz="1200" dirty="0"/>
          </a:p>
        </p:txBody>
      </p:sp>
      <p:sp>
        <p:nvSpPr>
          <p:cNvPr id="20" name="Text 17"/>
          <p:cNvSpPr/>
          <p:nvPr/>
        </p:nvSpPr>
        <p:spPr>
          <a:xfrm>
            <a:off x="7031168" y="2971800"/>
            <a:ext cx="2011680" cy="301752"/>
          </a:xfrm>
          <a:prstGeom prst="rect">
            <a:avLst/>
          </a:prstGeom>
          <a:noFill/>
          <a:ln/>
        </p:spPr>
        <p:txBody>
          <a:bodyPr wrap="square" lIns="0" tIns="0" rIns="0" bIns="0" rtlCol="0" anchor="ctr"/>
          <a:lstStyle/>
          <a:p>
            <a:pPr marL="0" indent="0" algn="ctr">
              <a:buNone/>
            </a:pPr>
            <a:r>
              <a:rPr lang="en-US" sz="1200" dirty="0">
                <a:solidFill>
                  <a:srgbClr val="111111"/>
                </a:solidFill>
                <a:latin typeface="Consolas" pitchFamily="34" charset="0"/>
                <a:ea typeface="Consolas" pitchFamily="34" charset="-122"/>
                <a:cs typeface="Consolas" pitchFamily="34" charset="-120"/>
              </a:rPr>
              <a:t>CSV</a:t>
            </a:r>
            <a:endParaRPr lang="en-US" sz="1200" dirty="0"/>
          </a:p>
        </p:txBody>
      </p:sp>
      <p:sp>
        <p:nvSpPr>
          <p:cNvPr id="21" name="Text 18"/>
          <p:cNvSpPr/>
          <p:nvPr/>
        </p:nvSpPr>
        <p:spPr>
          <a:xfrm>
            <a:off x="7031168" y="3337560"/>
            <a:ext cx="2011680" cy="301752"/>
          </a:xfrm>
          <a:prstGeom prst="rect">
            <a:avLst/>
          </a:prstGeom>
          <a:noFill/>
          <a:ln/>
        </p:spPr>
        <p:txBody>
          <a:bodyPr wrap="square" lIns="0" tIns="0" rIns="0" bIns="0" rtlCol="0" anchor="ctr"/>
          <a:lstStyle/>
          <a:p>
            <a:pPr marL="0" indent="0" algn="ctr">
              <a:buNone/>
            </a:pPr>
            <a:r>
              <a:rPr lang="en-US" sz="1200" dirty="0">
                <a:solidFill>
                  <a:srgbClr val="111111"/>
                </a:solidFill>
                <a:latin typeface="Consolas" pitchFamily="34" charset="0"/>
                <a:ea typeface="Consolas" pitchFamily="34" charset="-122"/>
                <a:cs typeface="Consolas" pitchFamily="34" charset="-120"/>
              </a:rPr>
              <a:t>YAML</a:t>
            </a:r>
            <a:endParaRPr lang="en-US" sz="1200" dirty="0"/>
          </a:p>
        </p:txBody>
      </p:sp>
      <p:sp>
        <p:nvSpPr>
          <p:cNvPr id="22" name="Text 19"/>
          <p:cNvSpPr/>
          <p:nvPr/>
        </p:nvSpPr>
        <p:spPr>
          <a:xfrm>
            <a:off x="7031168" y="3703320"/>
            <a:ext cx="2011680" cy="301752"/>
          </a:xfrm>
          <a:prstGeom prst="rect">
            <a:avLst/>
          </a:prstGeom>
          <a:noFill/>
          <a:ln/>
        </p:spPr>
        <p:txBody>
          <a:bodyPr wrap="square" lIns="0" tIns="0" rIns="0" bIns="0" rtlCol="0" anchor="ctr"/>
          <a:lstStyle/>
          <a:p>
            <a:pPr marL="0" indent="0" algn="ctr">
              <a:buNone/>
            </a:pPr>
            <a:r>
              <a:rPr lang="en-US" sz="1200" dirty="0">
                <a:solidFill>
                  <a:srgbClr val="111111"/>
                </a:solidFill>
                <a:latin typeface="Consolas" pitchFamily="34" charset="0"/>
                <a:ea typeface="Consolas" pitchFamily="34" charset="-122"/>
                <a:cs typeface="Consolas" pitchFamily="34" charset="-120"/>
              </a:rPr>
              <a:t>OData</a:t>
            </a:r>
            <a:endParaRPr lang="en-US" sz="1200" dirty="0"/>
          </a:p>
        </p:txBody>
      </p:sp>
      <p:sp>
        <p:nvSpPr>
          <p:cNvPr id="23" name="Shape 20"/>
          <p:cNvSpPr/>
          <p:nvPr/>
        </p:nvSpPr>
        <p:spPr>
          <a:xfrm>
            <a:off x="2881777" y="2359152"/>
            <a:ext cx="1600036" cy="1280160"/>
          </a:xfrm>
          <a:prstGeom prst="roundRect">
            <a:avLst>
              <a:gd name="adj" fmla="val 8571"/>
            </a:avLst>
          </a:prstGeom>
          <a:solidFill>
            <a:srgbClr val="151515"/>
          </a:solidFill>
          <a:ln w="19050">
            <a:solidFill>
              <a:srgbClr val="CB0017"/>
            </a:solidFill>
            <a:prstDash val="solid"/>
          </a:ln>
          <a:effectLst>
            <a:outerShdw blurRad="88900" dist="38100" dir="8100000" algn="bl" rotWithShape="0">
              <a:srgbClr val="000000">
                <a:alpha val="10000"/>
              </a:srgbClr>
            </a:outerShdw>
          </a:effectLst>
        </p:spPr>
        <p:txBody>
          <a:bodyPr/>
          <a:lstStyle/>
          <a:p>
            <a:endParaRPr lang="en-US"/>
          </a:p>
        </p:txBody>
      </p:sp>
      <p:sp>
        <p:nvSpPr>
          <p:cNvPr id="24" name="Text 21"/>
          <p:cNvSpPr/>
          <p:nvPr/>
        </p:nvSpPr>
        <p:spPr>
          <a:xfrm>
            <a:off x="2881776" y="2514600"/>
            <a:ext cx="1600035"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Oswald" pitchFamily="34" charset="0"/>
                <a:ea typeface="Oswald" pitchFamily="34" charset="-122"/>
                <a:cs typeface="Oswald" pitchFamily="34" charset="-120"/>
              </a:rPr>
              <a:t>UDM</a:t>
            </a:r>
            <a:endParaRPr lang="en-US" sz="3000" dirty="0"/>
          </a:p>
        </p:txBody>
      </p:sp>
      <p:sp>
        <p:nvSpPr>
          <p:cNvPr id="25" name="Text 22"/>
          <p:cNvSpPr/>
          <p:nvPr/>
        </p:nvSpPr>
        <p:spPr>
          <a:xfrm>
            <a:off x="2881777" y="3081528"/>
            <a:ext cx="1600036" cy="274320"/>
          </a:xfrm>
          <a:prstGeom prst="rect">
            <a:avLst/>
          </a:prstGeom>
          <a:noFill/>
          <a:ln/>
        </p:spPr>
        <p:txBody>
          <a:bodyPr wrap="square" lIns="0" tIns="0" rIns="0" bIns="0" rtlCol="0" anchor="ctr"/>
          <a:lstStyle/>
          <a:p>
            <a:pPr marL="0" indent="0" algn="ctr">
              <a:buNone/>
            </a:pPr>
            <a:r>
              <a:rPr lang="en-US" sz="1100" dirty="0">
                <a:solidFill>
                  <a:srgbClr val="FF8A8A"/>
                </a:solidFill>
                <a:latin typeface="Inter Tight" pitchFamily="34" charset="0"/>
                <a:ea typeface="Inter Tight" pitchFamily="34" charset="-122"/>
                <a:cs typeface="Inter Tight" pitchFamily="34" charset="-120"/>
              </a:rPr>
              <a:t>Universal Data Model</a:t>
            </a:r>
            <a:endParaRPr lang="en-US" sz="1100" dirty="0"/>
          </a:p>
        </p:txBody>
      </p:sp>
      <p:sp>
        <p:nvSpPr>
          <p:cNvPr id="26" name="Shape 23"/>
          <p:cNvSpPr/>
          <p:nvPr/>
        </p:nvSpPr>
        <p:spPr>
          <a:xfrm>
            <a:off x="2198280" y="2971800"/>
            <a:ext cx="685800" cy="0"/>
          </a:xfrm>
          <a:prstGeom prst="line">
            <a:avLst/>
          </a:prstGeom>
          <a:noFill/>
          <a:ln w="31750">
            <a:solidFill>
              <a:srgbClr val="CB0017"/>
            </a:solidFill>
            <a:prstDash val="solid"/>
            <a:tailEnd type="triangle"/>
          </a:ln>
        </p:spPr>
        <p:txBody>
          <a:bodyPr/>
          <a:lstStyle/>
          <a:p>
            <a:endParaRPr lang="en-US"/>
          </a:p>
        </p:txBody>
      </p:sp>
      <p:sp>
        <p:nvSpPr>
          <p:cNvPr id="27" name="Shape 24"/>
          <p:cNvSpPr/>
          <p:nvPr/>
        </p:nvSpPr>
        <p:spPr>
          <a:xfrm>
            <a:off x="6702552" y="2964004"/>
            <a:ext cx="685800" cy="0"/>
          </a:xfrm>
          <a:prstGeom prst="line">
            <a:avLst/>
          </a:prstGeom>
          <a:noFill/>
          <a:ln w="31750">
            <a:solidFill>
              <a:srgbClr val="CB0017"/>
            </a:solidFill>
            <a:prstDash val="solid"/>
            <a:tailEnd type="triangle"/>
          </a:ln>
        </p:spPr>
        <p:txBody>
          <a:bodyPr/>
          <a:lstStyle/>
          <a:p>
            <a:endParaRPr lang="en-US"/>
          </a:p>
        </p:txBody>
      </p:sp>
      <p:sp>
        <p:nvSpPr>
          <p:cNvPr id="28" name="Text 25"/>
          <p:cNvSpPr/>
          <p:nvPr/>
        </p:nvSpPr>
        <p:spPr>
          <a:xfrm>
            <a:off x="2120720" y="2670048"/>
            <a:ext cx="777240" cy="228600"/>
          </a:xfrm>
          <a:prstGeom prst="rect">
            <a:avLst/>
          </a:prstGeom>
          <a:noFill/>
          <a:ln/>
        </p:spPr>
        <p:txBody>
          <a:bodyPr wrap="square" lIns="0" tIns="0" rIns="0" bIns="0" rtlCol="0" anchor="ctr"/>
          <a:lstStyle/>
          <a:p>
            <a:pPr marL="0" indent="0" algn="ctr">
              <a:buNone/>
            </a:pPr>
            <a:r>
              <a:rPr lang="en-US" sz="950" i="1" dirty="0">
                <a:solidFill>
                  <a:srgbClr val="4A4A4A"/>
                </a:solidFill>
                <a:latin typeface="Inter Tight" pitchFamily="34" charset="0"/>
                <a:ea typeface="Inter Tight" pitchFamily="34" charset="-122"/>
                <a:cs typeface="Inter Tight" pitchFamily="34" charset="-120"/>
              </a:rPr>
              <a:t>parse</a:t>
            </a:r>
            <a:endParaRPr lang="en-US" sz="950" dirty="0"/>
          </a:p>
        </p:txBody>
      </p:sp>
      <p:sp>
        <p:nvSpPr>
          <p:cNvPr id="29" name="Text 26"/>
          <p:cNvSpPr/>
          <p:nvPr/>
        </p:nvSpPr>
        <p:spPr>
          <a:xfrm>
            <a:off x="6656832" y="2662252"/>
            <a:ext cx="822960" cy="228600"/>
          </a:xfrm>
          <a:prstGeom prst="rect">
            <a:avLst/>
          </a:prstGeom>
          <a:noFill/>
          <a:ln/>
        </p:spPr>
        <p:txBody>
          <a:bodyPr wrap="square" lIns="0" tIns="0" rIns="0" bIns="0" rtlCol="0" anchor="ctr"/>
          <a:lstStyle/>
          <a:p>
            <a:pPr marL="0" indent="0" algn="ctr">
              <a:buNone/>
            </a:pPr>
            <a:r>
              <a:rPr lang="en-US" sz="950" i="1" dirty="0">
                <a:solidFill>
                  <a:srgbClr val="4A4A4A"/>
                </a:solidFill>
                <a:latin typeface="Inter Tight" pitchFamily="34" charset="0"/>
                <a:ea typeface="Inter Tight" pitchFamily="34" charset="-122"/>
                <a:cs typeface="Inter Tight" pitchFamily="34" charset="-120"/>
              </a:rPr>
              <a:t>serialize</a:t>
            </a:r>
            <a:endParaRPr lang="en-US" sz="950" dirty="0"/>
          </a:p>
        </p:txBody>
      </p:sp>
      <p:sp>
        <p:nvSpPr>
          <p:cNvPr id="30" name="Text 27"/>
          <p:cNvSpPr/>
          <p:nvPr/>
        </p:nvSpPr>
        <p:spPr>
          <a:xfrm>
            <a:off x="457200" y="4389120"/>
            <a:ext cx="8229600" cy="411480"/>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Parse any format into one model, transform the model, serialize to any format. Your script never mentions XML or JSON — only the shape of the data.</a:t>
            </a:r>
            <a:endParaRPr lang="en-US" sz="1250" dirty="0"/>
          </a:p>
        </p:txBody>
      </p:sp>
      <p:sp>
        <p:nvSpPr>
          <p:cNvPr id="31" name="Shape 20">
            <a:extLst>
              <a:ext uri="{FF2B5EF4-FFF2-40B4-BE49-F238E27FC236}">
                <a16:creationId xmlns:a16="http://schemas.microsoft.com/office/drawing/2014/main" id="{83451868-98D0-29F6-CDB7-50F868887E47}"/>
              </a:ext>
            </a:extLst>
          </p:cNvPr>
          <p:cNvSpPr/>
          <p:nvPr/>
        </p:nvSpPr>
        <p:spPr>
          <a:xfrm>
            <a:off x="5168769" y="2350008"/>
            <a:ext cx="1600036" cy="1280160"/>
          </a:xfrm>
          <a:prstGeom prst="roundRect">
            <a:avLst>
              <a:gd name="adj" fmla="val 8571"/>
            </a:avLst>
          </a:prstGeom>
          <a:solidFill>
            <a:srgbClr val="151515"/>
          </a:solidFill>
          <a:ln w="19050">
            <a:solidFill>
              <a:srgbClr val="CB0017"/>
            </a:solidFill>
            <a:prstDash val="solid"/>
          </a:ln>
          <a:effectLst>
            <a:outerShdw blurRad="88900" dist="38100" dir="8100000" algn="bl" rotWithShape="0">
              <a:srgbClr val="000000">
                <a:alpha val="10000"/>
              </a:srgbClr>
            </a:outerShdw>
          </a:effectLst>
        </p:spPr>
        <p:txBody>
          <a:bodyPr/>
          <a:lstStyle/>
          <a:p>
            <a:endParaRPr lang="en-US"/>
          </a:p>
        </p:txBody>
      </p:sp>
      <p:sp>
        <p:nvSpPr>
          <p:cNvPr id="32" name="Text 21">
            <a:extLst>
              <a:ext uri="{FF2B5EF4-FFF2-40B4-BE49-F238E27FC236}">
                <a16:creationId xmlns:a16="http://schemas.microsoft.com/office/drawing/2014/main" id="{64F70CB4-DB86-B3D4-D2F5-9B3E8DFA87D8}"/>
              </a:ext>
            </a:extLst>
          </p:cNvPr>
          <p:cNvSpPr/>
          <p:nvPr/>
        </p:nvSpPr>
        <p:spPr>
          <a:xfrm>
            <a:off x="5168768" y="2505456"/>
            <a:ext cx="1600035"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Oswald" pitchFamily="34" charset="0"/>
                <a:ea typeface="Oswald" pitchFamily="34" charset="-122"/>
                <a:cs typeface="Oswald" pitchFamily="34" charset="-120"/>
              </a:rPr>
              <a:t>UDM</a:t>
            </a:r>
            <a:endParaRPr lang="en-US" sz="3000" dirty="0"/>
          </a:p>
        </p:txBody>
      </p:sp>
      <p:sp>
        <p:nvSpPr>
          <p:cNvPr id="33" name="Text 22">
            <a:extLst>
              <a:ext uri="{FF2B5EF4-FFF2-40B4-BE49-F238E27FC236}">
                <a16:creationId xmlns:a16="http://schemas.microsoft.com/office/drawing/2014/main" id="{0D37DCD3-1819-56EC-C0A8-69C547438BD4}"/>
              </a:ext>
            </a:extLst>
          </p:cNvPr>
          <p:cNvSpPr/>
          <p:nvPr/>
        </p:nvSpPr>
        <p:spPr>
          <a:xfrm>
            <a:off x="5168769" y="3072384"/>
            <a:ext cx="1600036" cy="274320"/>
          </a:xfrm>
          <a:prstGeom prst="rect">
            <a:avLst/>
          </a:prstGeom>
          <a:noFill/>
          <a:ln/>
        </p:spPr>
        <p:txBody>
          <a:bodyPr wrap="square" lIns="0" tIns="0" rIns="0" bIns="0" rtlCol="0" anchor="ctr"/>
          <a:lstStyle/>
          <a:p>
            <a:pPr marL="0" indent="0" algn="ctr">
              <a:buNone/>
            </a:pPr>
            <a:r>
              <a:rPr lang="en-US" sz="1100" dirty="0">
                <a:solidFill>
                  <a:srgbClr val="FF8A8A"/>
                </a:solidFill>
                <a:latin typeface="Inter Tight" pitchFamily="34" charset="0"/>
                <a:ea typeface="Inter Tight" pitchFamily="34" charset="-122"/>
                <a:cs typeface="Inter Tight" pitchFamily="34" charset="-120"/>
              </a:rPr>
              <a:t>Universal Data Model</a:t>
            </a:r>
            <a:endParaRPr lang="en-US" sz="1100" dirty="0"/>
          </a:p>
        </p:txBody>
      </p:sp>
      <p:pic>
        <p:nvPicPr>
          <p:cNvPr id="34" name="Image 0" descr="preencoded.png">
            <a:extLst>
              <a:ext uri="{FF2B5EF4-FFF2-40B4-BE49-F238E27FC236}">
                <a16:creationId xmlns:a16="http://schemas.microsoft.com/office/drawing/2014/main" id="{2ED194F1-88CA-109F-9BA5-E6FF325BD858}"/>
              </a:ext>
            </a:extLst>
          </p:cNvPr>
          <p:cNvPicPr>
            <a:picLocks noChangeAspect="1"/>
          </p:cNvPicPr>
          <p:nvPr/>
        </p:nvPicPr>
        <p:blipFill>
          <a:blip r:embed="rId4"/>
          <a:stretch>
            <a:fillRect/>
          </a:stretch>
        </p:blipFill>
        <p:spPr>
          <a:xfrm>
            <a:off x="4528688" y="2660904"/>
            <a:ext cx="640080" cy="6400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6</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THE LANGUAGE</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One script, any format</a:t>
            </a:r>
            <a:endParaRPr lang="en-US" sz="3100" dirty="0"/>
          </a:p>
        </p:txBody>
      </p:sp>
      <p:sp>
        <p:nvSpPr>
          <p:cNvPr id="8" name="Shape 6"/>
          <p:cNvSpPr/>
          <p:nvPr/>
        </p:nvSpPr>
        <p:spPr>
          <a:xfrm>
            <a:off x="457200" y="1417320"/>
            <a:ext cx="5257800" cy="3154680"/>
          </a:xfrm>
          <a:prstGeom prst="rect">
            <a:avLst/>
          </a:prstGeom>
          <a:solidFill>
            <a:srgbClr val="151515"/>
          </a:solidFill>
          <a:ln w="12700">
            <a:solidFill>
              <a:srgbClr val="151515"/>
            </a:solidFill>
            <a:prstDash val="solid"/>
          </a:ln>
          <a:effectLst>
            <a:outerShdw blurRad="88900" dist="38100" dir="8100000" algn="bl" rotWithShape="0">
              <a:srgbClr val="000000">
                <a:alpha val="10000"/>
              </a:srgbClr>
            </a:outerShdw>
          </a:effectLst>
        </p:spPr>
        <p:txBody>
          <a:bodyPr/>
          <a:lstStyle/>
          <a:p>
            <a:endParaRPr lang="en-US"/>
          </a:p>
        </p:txBody>
      </p:sp>
      <p:sp>
        <p:nvSpPr>
          <p:cNvPr id="9" name="Text 7"/>
          <p:cNvSpPr/>
          <p:nvPr/>
        </p:nvSpPr>
        <p:spPr>
          <a:xfrm>
            <a:off x="658368" y="1572768"/>
            <a:ext cx="4937760" cy="2880360"/>
          </a:xfrm>
          <a:prstGeom prst="rect">
            <a:avLst/>
          </a:prstGeom>
          <a:noFill/>
          <a:ln/>
        </p:spPr>
        <p:txBody>
          <a:bodyPr wrap="square" lIns="0" tIns="0" rIns="0" bIns="0" rtlCol="0" anchor="t"/>
          <a:lstStyle/>
          <a:p>
            <a:pPr marL="0" indent="0">
              <a:lnSpc>
                <a:spcPct val="108000"/>
              </a:lnSpc>
              <a:buNone/>
            </a:pPr>
            <a:r>
              <a:rPr lang="en-US" sz="1150" dirty="0">
                <a:solidFill>
                  <a:srgbClr val="FF8A8A"/>
                </a:solidFill>
                <a:latin typeface="Consolas" pitchFamily="34" charset="0"/>
                <a:ea typeface="Consolas" pitchFamily="34" charset="-122"/>
                <a:cs typeface="Consolas" pitchFamily="34" charset="-120"/>
              </a:rPr>
              <a:t>%utlx 1.0</a:t>
            </a:r>
            <a:endParaRPr lang="en-US" sz="1150" dirty="0"/>
          </a:p>
          <a:p>
            <a:pPr marL="0" indent="0">
              <a:lnSpc>
                <a:spcPct val="108000"/>
              </a:lnSpc>
              <a:buNone/>
            </a:pPr>
            <a:r>
              <a:rPr lang="en-US" sz="1150" dirty="0">
                <a:solidFill>
                  <a:srgbClr val="9CDCFE"/>
                </a:solidFill>
                <a:latin typeface="Consolas" pitchFamily="34" charset="0"/>
                <a:ea typeface="Consolas" pitchFamily="34" charset="-122"/>
                <a:cs typeface="Consolas" pitchFamily="34" charset="-120"/>
              </a:rPr>
              <a:t>input  xml</a:t>
            </a:r>
            <a:endParaRPr lang="en-US" sz="1150" dirty="0"/>
          </a:p>
          <a:p>
            <a:pPr marL="0" indent="0">
              <a:lnSpc>
                <a:spcPct val="108000"/>
              </a:lnSpc>
              <a:buNone/>
            </a:pPr>
            <a:r>
              <a:rPr lang="en-US" sz="1150" dirty="0">
                <a:solidFill>
                  <a:srgbClr val="9CDCFE"/>
                </a:solidFill>
                <a:latin typeface="Consolas" pitchFamily="34" charset="0"/>
                <a:ea typeface="Consolas" pitchFamily="34" charset="-122"/>
                <a:cs typeface="Consolas" pitchFamily="34" charset="-120"/>
              </a:rPr>
              <a:t>output json</a:t>
            </a:r>
            <a:endParaRPr lang="en-US" sz="1150" dirty="0"/>
          </a:p>
          <a:p>
            <a:pPr marL="0" indent="0">
              <a:lnSpc>
                <a:spcPct val="108000"/>
              </a:lnSpc>
              <a:buNone/>
            </a:pPr>
            <a:r>
              <a:rPr lang="en-US" sz="1150" dirty="0">
                <a:solidFill>
                  <a:srgbClr val="6A737D"/>
                </a:solidFill>
                <a:latin typeface="Consolas" pitchFamily="34" charset="0"/>
                <a:ea typeface="Consolas" pitchFamily="34" charset="-122"/>
                <a:cs typeface="Consolas" pitchFamily="34" charset="-120"/>
              </a:rPr>
              <a:t>---</a:t>
            </a:r>
            <a:endParaRPr lang="en-US" sz="1150" dirty="0"/>
          </a:p>
          <a:p>
            <a:pPr marL="0" indent="0">
              <a:lnSpc>
                <a:spcPct val="108000"/>
              </a:lnSpc>
              <a:buNone/>
            </a:pPr>
            <a:r>
              <a:rPr lang="en-US" sz="1150" dirty="0">
                <a:solidFill>
                  <a:srgbClr val="E6E6E6"/>
                </a:solidFill>
                <a:latin typeface="Consolas" pitchFamily="34" charset="0"/>
                <a:ea typeface="Consolas" pitchFamily="34" charset="-122"/>
                <a:cs typeface="Consolas" pitchFamily="34" charset="-120"/>
              </a:rPr>
              <a:t>{</a:t>
            </a:r>
            <a:endParaRPr lang="en-US" sz="1150" dirty="0"/>
          </a:p>
          <a:p>
            <a:pPr marL="0" indent="0">
              <a:lnSpc>
                <a:spcPct val="108000"/>
              </a:lnSpc>
              <a:buNone/>
            </a:pPr>
            <a:r>
              <a:rPr lang="en-US" sz="1150" dirty="0">
                <a:solidFill>
                  <a:srgbClr val="E6E6E6"/>
                </a:solidFill>
                <a:latin typeface="Consolas" pitchFamily="34" charset="0"/>
                <a:ea typeface="Consolas" pitchFamily="34" charset="-122"/>
                <a:cs typeface="Consolas" pitchFamily="34" charset="-120"/>
              </a:rPr>
              <a:t>  invoice: {</a:t>
            </a:r>
            <a:endParaRPr lang="en-US" sz="1150" dirty="0"/>
          </a:p>
          <a:p>
            <a:pPr marL="0" indent="0">
              <a:lnSpc>
                <a:spcPct val="108000"/>
              </a:lnSpc>
              <a:buNone/>
            </a:pPr>
            <a:r>
              <a:rPr lang="en-US" sz="1150" dirty="0">
                <a:solidFill>
                  <a:srgbClr val="CE9178"/>
                </a:solidFill>
                <a:latin typeface="Consolas" pitchFamily="34" charset="0"/>
                <a:ea typeface="Consolas" pitchFamily="34" charset="-122"/>
                <a:cs typeface="Consolas" pitchFamily="34" charset="-120"/>
              </a:rPr>
              <a:t>    id:    "INV-" + $input.Order.@id,</a:t>
            </a:r>
            <a:endParaRPr lang="en-US" sz="1150" dirty="0"/>
          </a:p>
          <a:p>
            <a:pPr marL="0" indent="0">
              <a:lnSpc>
                <a:spcPct val="108000"/>
              </a:lnSpc>
              <a:buNone/>
            </a:pPr>
            <a:r>
              <a:rPr lang="en-US" sz="1150" dirty="0">
                <a:solidFill>
                  <a:srgbClr val="E6E6E6"/>
                </a:solidFill>
                <a:latin typeface="Consolas" pitchFamily="34" charset="0"/>
                <a:ea typeface="Consolas" pitchFamily="34" charset="-122"/>
                <a:cs typeface="Consolas" pitchFamily="34" charset="-120"/>
              </a:rPr>
              <a:t>    items: $input.Order.Items.Item</a:t>
            </a:r>
            <a:endParaRPr lang="en-US" sz="1150" dirty="0"/>
          </a:p>
          <a:p>
            <a:pPr marL="0" indent="0">
              <a:lnSpc>
                <a:spcPct val="108000"/>
              </a:lnSpc>
              <a:buNone/>
            </a:pPr>
            <a:r>
              <a:rPr lang="en-US" sz="1150" dirty="0">
                <a:solidFill>
                  <a:srgbClr val="DCDCAA"/>
                </a:solidFill>
                <a:latin typeface="Consolas" pitchFamily="34" charset="0"/>
                <a:ea typeface="Consolas" pitchFamily="34" charset="-122"/>
                <a:cs typeface="Consolas" pitchFamily="34" charset="-120"/>
              </a:rPr>
              <a:t>      |&gt; map(i =&gt; {</a:t>
            </a:r>
            <a:endParaRPr lang="en-US" sz="1150" dirty="0"/>
          </a:p>
          <a:p>
            <a:pPr marL="0" indent="0">
              <a:lnSpc>
                <a:spcPct val="108000"/>
              </a:lnSpc>
              <a:buNone/>
            </a:pPr>
            <a:r>
              <a:rPr lang="en-US" sz="1150" dirty="0">
                <a:solidFill>
                  <a:srgbClr val="E6E6E6"/>
                </a:solidFill>
                <a:latin typeface="Consolas" pitchFamily="34" charset="0"/>
                <a:ea typeface="Consolas" pitchFamily="34" charset="-122"/>
                <a:cs typeface="Consolas" pitchFamily="34" charset="-120"/>
              </a:rPr>
              <a:t>           sku:   i.@sku,</a:t>
            </a:r>
            <a:endParaRPr lang="en-US" sz="1150" dirty="0"/>
          </a:p>
          <a:p>
            <a:pPr marL="0" indent="0">
              <a:lnSpc>
                <a:spcPct val="108000"/>
              </a:lnSpc>
              <a:buNone/>
            </a:pPr>
            <a:r>
              <a:rPr lang="en-US" sz="1150" dirty="0">
                <a:solidFill>
                  <a:srgbClr val="E6E6E6"/>
                </a:solidFill>
                <a:latin typeface="Consolas" pitchFamily="34" charset="0"/>
                <a:ea typeface="Consolas" pitchFamily="34" charset="-122"/>
                <a:cs typeface="Consolas" pitchFamily="34" charset="-120"/>
              </a:rPr>
              <a:t>           total: i.@qty * i.@price</a:t>
            </a:r>
            <a:endParaRPr lang="en-US" sz="1150" dirty="0"/>
          </a:p>
          <a:p>
            <a:pPr marL="0" indent="0">
              <a:lnSpc>
                <a:spcPct val="108000"/>
              </a:lnSpc>
              <a:buNone/>
            </a:pPr>
            <a:r>
              <a:rPr lang="en-US" sz="1150" dirty="0">
                <a:solidFill>
                  <a:srgbClr val="DCDCAA"/>
                </a:solidFill>
                <a:latin typeface="Consolas" pitchFamily="34" charset="0"/>
                <a:ea typeface="Consolas" pitchFamily="34" charset="-122"/>
                <a:cs typeface="Consolas" pitchFamily="34" charset="-120"/>
              </a:rPr>
              <a:t>         })</a:t>
            </a:r>
            <a:endParaRPr lang="en-US" sz="1150" dirty="0"/>
          </a:p>
          <a:p>
            <a:pPr marL="0" indent="0">
              <a:lnSpc>
                <a:spcPct val="108000"/>
              </a:lnSpc>
              <a:buNone/>
            </a:pPr>
            <a:r>
              <a:rPr lang="en-US" sz="1150" dirty="0">
                <a:solidFill>
                  <a:srgbClr val="E6E6E6"/>
                </a:solidFill>
                <a:latin typeface="Consolas" pitchFamily="34" charset="0"/>
                <a:ea typeface="Consolas" pitchFamily="34" charset="-122"/>
                <a:cs typeface="Consolas" pitchFamily="34" charset="-120"/>
              </a:rPr>
              <a:t>  }</a:t>
            </a:r>
            <a:endParaRPr lang="en-US" sz="1150" dirty="0"/>
          </a:p>
          <a:p>
            <a:pPr marL="0" indent="0">
              <a:lnSpc>
                <a:spcPct val="108000"/>
              </a:lnSpc>
              <a:buNone/>
            </a:pPr>
            <a:r>
              <a:rPr lang="en-US" sz="1150" dirty="0">
                <a:solidFill>
                  <a:srgbClr val="E6E6E6"/>
                </a:solidFill>
                <a:latin typeface="Consolas" pitchFamily="34" charset="0"/>
                <a:ea typeface="Consolas" pitchFamily="34" charset="-122"/>
                <a:cs typeface="Consolas" pitchFamily="34" charset="-120"/>
              </a:rPr>
              <a:t>}</a:t>
            </a:r>
            <a:endParaRPr lang="en-US" sz="1150" dirty="0"/>
          </a:p>
        </p:txBody>
      </p:sp>
      <p:sp>
        <p:nvSpPr>
          <p:cNvPr id="10" name="Shape 8"/>
          <p:cNvSpPr/>
          <p:nvPr/>
        </p:nvSpPr>
        <p:spPr>
          <a:xfrm>
            <a:off x="5989320" y="1417320"/>
            <a:ext cx="2697480" cy="64008"/>
          </a:xfrm>
          <a:prstGeom prst="rect">
            <a:avLst/>
          </a:prstGeom>
          <a:solidFill>
            <a:srgbClr val="CB0017"/>
          </a:solidFill>
          <a:ln w="12700">
            <a:solidFill>
              <a:srgbClr val="CB0017"/>
            </a:solidFill>
            <a:prstDash val="solid"/>
          </a:ln>
        </p:spPr>
        <p:txBody>
          <a:bodyPr/>
          <a:lstStyle/>
          <a:p>
            <a:endParaRPr lang="en-US"/>
          </a:p>
        </p:txBody>
      </p:sp>
      <p:sp>
        <p:nvSpPr>
          <p:cNvPr id="11" name="Text 9"/>
          <p:cNvSpPr/>
          <p:nvPr/>
        </p:nvSpPr>
        <p:spPr>
          <a:xfrm>
            <a:off x="5989320" y="1600200"/>
            <a:ext cx="2697480" cy="457200"/>
          </a:xfrm>
          <a:prstGeom prst="rect">
            <a:avLst/>
          </a:prstGeom>
          <a:noFill/>
          <a:ln/>
        </p:spPr>
        <p:txBody>
          <a:bodyPr wrap="square" lIns="0" tIns="0" rIns="0" bIns="0" rtlCol="0" anchor="ctr"/>
          <a:lstStyle/>
          <a:p>
            <a:pPr marL="0" indent="0">
              <a:buNone/>
            </a:pPr>
            <a:r>
              <a:rPr lang="en-US" sz="2200" b="1" dirty="0">
                <a:solidFill>
                  <a:srgbClr val="111111"/>
                </a:solidFill>
                <a:latin typeface="Oswald" pitchFamily="34" charset="0"/>
                <a:ea typeface="Oswald" pitchFamily="34" charset="-122"/>
                <a:cs typeface="Oswald" pitchFamily="34" charset="-120"/>
              </a:rPr>
              <a:t>Change one line.</a:t>
            </a:r>
            <a:endParaRPr lang="en-US" sz="2200" dirty="0"/>
          </a:p>
        </p:txBody>
      </p:sp>
      <p:sp>
        <p:nvSpPr>
          <p:cNvPr id="12" name="Shape 10"/>
          <p:cNvSpPr/>
          <p:nvPr/>
        </p:nvSpPr>
        <p:spPr>
          <a:xfrm>
            <a:off x="5989320" y="2194560"/>
            <a:ext cx="2697480" cy="457200"/>
          </a:xfrm>
          <a:prstGeom prst="roundRect">
            <a:avLst>
              <a:gd name="adj" fmla="val 12000"/>
            </a:avLst>
          </a:prstGeom>
          <a:solidFill>
            <a:srgbClr val="FAF8F6"/>
          </a:solidFill>
          <a:ln w="12700">
            <a:solidFill>
              <a:srgbClr val="E6E6E6"/>
            </a:solidFill>
            <a:prstDash val="solid"/>
          </a:ln>
        </p:spPr>
        <p:txBody>
          <a:bodyPr/>
          <a:lstStyle/>
          <a:p>
            <a:endParaRPr lang="en-US"/>
          </a:p>
        </p:txBody>
      </p:sp>
      <p:sp>
        <p:nvSpPr>
          <p:cNvPr id="13" name="Text 11"/>
          <p:cNvSpPr/>
          <p:nvPr/>
        </p:nvSpPr>
        <p:spPr>
          <a:xfrm>
            <a:off x="6126480" y="2194560"/>
            <a:ext cx="2468880" cy="457200"/>
          </a:xfrm>
          <a:prstGeom prst="rect">
            <a:avLst/>
          </a:prstGeom>
          <a:noFill/>
          <a:ln/>
        </p:spPr>
        <p:txBody>
          <a:bodyPr wrap="square" lIns="0" tIns="0" rIns="0" bIns="0" rtlCol="0" anchor="ctr"/>
          <a:lstStyle/>
          <a:p>
            <a:pPr marL="0" indent="0">
              <a:buNone/>
            </a:pPr>
            <a:r>
              <a:rPr lang="en-US" sz="1250" dirty="0">
                <a:solidFill>
                  <a:srgbClr val="4A4A4A"/>
                </a:solidFill>
                <a:latin typeface="Consolas" pitchFamily="34" charset="0"/>
                <a:ea typeface="Consolas" pitchFamily="34" charset="-122"/>
                <a:cs typeface="Consolas" pitchFamily="34" charset="-120"/>
              </a:rPr>
              <a:t>input </a:t>
            </a:r>
            <a:r>
              <a:rPr lang="en-US" sz="1250" b="1" dirty="0">
                <a:solidFill>
                  <a:srgbClr val="CB0017"/>
                </a:solidFill>
                <a:latin typeface="Consolas" pitchFamily="34" charset="0"/>
                <a:ea typeface="Consolas" pitchFamily="34" charset="-122"/>
                <a:cs typeface="Consolas" pitchFamily="34" charset="-120"/>
              </a:rPr>
              <a:t>xml</a:t>
            </a:r>
            <a:r>
              <a:rPr lang="en-US" sz="1250" dirty="0">
                <a:solidFill>
                  <a:srgbClr val="4A4A4A"/>
                </a:solidFill>
                <a:latin typeface="Consolas" pitchFamily="34" charset="0"/>
                <a:ea typeface="Consolas" pitchFamily="34" charset="-122"/>
                <a:cs typeface="Consolas" pitchFamily="34" charset="-120"/>
              </a:rPr>
              <a:t>  →  input </a:t>
            </a:r>
            <a:r>
              <a:rPr lang="en-US" sz="1250" b="1" dirty="0">
                <a:solidFill>
                  <a:srgbClr val="CB0017"/>
                </a:solidFill>
                <a:latin typeface="Consolas" pitchFamily="34" charset="0"/>
                <a:ea typeface="Consolas" pitchFamily="34" charset="-122"/>
                <a:cs typeface="Consolas" pitchFamily="34" charset="-120"/>
              </a:rPr>
              <a:t>json</a:t>
            </a:r>
            <a:endParaRPr lang="en-US" sz="1250" dirty="0"/>
          </a:p>
        </p:txBody>
      </p:sp>
      <p:sp>
        <p:nvSpPr>
          <p:cNvPr id="14" name="Text 12"/>
          <p:cNvSpPr/>
          <p:nvPr/>
        </p:nvSpPr>
        <p:spPr>
          <a:xfrm>
            <a:off x="5989320" y="2788920"/>
            <a:ext cx="2697480" cy="914400"/>
          </a:xfrm>
          <a:prstGeom prst="rect">
            <a:avLst/>
          </a:prstGeom>
          <a:noFill/>
          <a:ln/>
        </p:spPr>
        <p:txBody>
          <a:bodyPr wrap="square" lIns="0" tIns="0" rIns="0" bIns="0" rtlCol="0" anchor="ctr"/>
          <a:lstStyle/>
          <a:p>
            <a:pPr marL="0" indent="0">
              <a:buNone/>
            </a:pPr>
            <a:r>
              <a:rPr lang="en-US" sz="1300" dirty="0">
                <a:solidFill>
                  <a:srgbClr val="4A4A4A"/>
                </a:solidFill>
                <a:latin typeface="Inter Tight" pitchFamily="34" charset="0"/>
                <a:ea typeface="Inter Tight" pitchFamily="34" charset="-122"/>
                <a:cs typeface="Inter Tight" pitchFamily="34" charset="-120"/>
              </a:rPr>
              <a:t>The transformation body doesn't change. Same logic runs over XML, JSON, CSV, YAML or OData.</a:t>
            </a:r>
            <a:endParaRPr lang="en-US" sz="1300" dirty="0"/>
          </a:p>
        </p:txBody>
      </p:sp>
      <p:sp>
        <p:nvSpPr>
          <p:cNvPr id="15" name="Text 13"/>
          <p:cNvSpPr/>
          <p:nvPr/>
        </p:nvSpPr>
        <p:spPr>
          <a:xfrm>
            <a:off x="5989320" y="3886200"/>
            <a:ext cx="2697480" cy="640080"/>
          </a:xfrm>
          <a:prstGeom prst="rect">
            <a:avLst/>
          </a:prstGeom>
          <a:noFill/>
          <a:ln/>
        </p:spPr>
        <p:txBody>
          <a:bodyPr wrap="square" lIns="0" tIns="0" rIns="0" bIns="0" rtlCol="0" anchor="ctr"/>
          <a:lstStyle/>
          <a:p>
            <a:pPr marL="0" indent="0">
              <a:buNone/>
            </a:pPr>
            <a:r>
              <a:rPr lang="en-US" sz="1100" i="1" dirty="0">
                <a:solidFill>
                  <a:srgbClr val="111111"/>
                </a:solidFill>
                <a:latin typeface="Inter Tight" pitchFamily="34" charset="0"/>
                <a:ea typeface="Inter Tight" pitchFamily="34" charset="-122"/>
                <a:cs typeface="Inter Tight" pitchFamily="34" charset="-120"/>
              </a:rPr>
              <a:t>map · filter · reduce · groupBy · pattern matching · safe navigation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7</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THE SECOND DIMENSION</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Transform the contracts, not just the messages</a:t>
            </a:r>
            <a:endParaRPr lang="en-US" sz="3100" dirty="0"/>
          </a:p>
        </p:txBody>
      </p:sp>
      <p:pic>
        <p:nvPicPr>
          <p:cNvPr id="8" name="Image 0" descr="preencoded.png"/>
          <p:cNvPicPr>
            <a:picLocks noChangeAspect="1"/>
          </p:cNvPicPr>
          <p:nvPr/>
        </p:nvPicPr>
        <p:blipFill>
          <a:blip r:embed="rId3"/>
          <a:stretch>
            <a:fillRect/>
          </a:stretch>
        </p:blipFill>
        <p:spPr>
          <a:xfrm>
            <a:off x="7955280" y="457200"/>
            <a:ext cx="640080" cy="640080"/>
          </a:xfrm>
          <a:prstGeom prst="rect">
            <a:avLst/>
          </a:prstGeom>
        </p:spPr>
      </p:pic>
      <p:sp>
        <p:nvSpPr>
          <p:cNvPr id="9" name="Text 6"/>
          <p:cNvSpPr/>
          <p:nvPr/>
        </p:nvSpPr>
        <p:spPr>
          <a:xfrm>
            <a:off x="457200" y="1371600"/>
            <a:ext cx="8138160" cy="548640"/>
          </a:xfrm>
          <a:prstGeom prst="rect">
            <a:avLst/>
          </a:prstGeom>
          <a:noFill/>
          <a:ln/>
        </p:spPr>
        <p:txBody>
          <a:bodyPr wrap="square" lIns="0" tIns="0" rIns="0" bIns="0" rtlCol="0" anchor="ctr"/>
          <a:lstStyle/>
          <a:p>
            <a:pPr marL="0" indent="0">
              <a:buNone/>
            </a:pPr>
            <a:r>
              <a:rPr lang="en-US" sz="1400" dirty="0">
                <a:solidFill>
                  <a:srgbClr val="4A4A4A"/>
                </a:solidFill>
                <a:latin typeface="Inter Tight" pitchFamily="34" charset="0"/>
                <a:ea typeface="Inter Tight" pitchFamily="34" charset="-122"/>
                <a:cs typeface="Inter Tight" pitchFamily="34" charset="-120"/>
              </a:rPr>
              <a:t>USDL extends UTL-X from data to schemas. Convert the contracts that govern your data — in any direction.</a:t>
            </a:r>
            <a:endParaRPr lang="en-US" sz="1400" dirty="0"/>
          </a:p>
        </p:txBody>
      </p:sp>
      <p:sp>
        <p:nvSpPr>
          <p:cNvPr id="10" name="Shape 7"/>
          <p:cNvSpPr/>
          <p:nvPr/>
        </p:nvSpPr>
        <p:spPr>
          <a:xfrm>
            <a:off x="777240" y="2377440"/>
            <a:ext cx="1554480" cy="868680"/>
          </a:xfrm>
          <a:prstGeom prst="rect">
            <a:avLst/>
          </a:prstGeom>
          <a:solidFill>
            <a:srgbClr val="FAF8F6"/>
          </a:solidFill>
          <a:ln w="15875">
            <a:solidFill>
              <a:srgbClr val="CB0017"/>
            </a:solidFill>
            <a:prstDash val="solid"/>
          </a:ln>
          <a:effectLst>
            <a:outerShdw blurRad="88900" dist="38100" dir="8100000" algn="bl" rotWithShape="0">
              <a:srgbClr val="000000">
                <a:alpha val="10000"/>
              </a:srgbClr>
            </a:outerShdw>
          </a:effectLst>
        </p:spPr>
        <p:txBody>
          <a:bodyPr/>
          <a:lstStyle/>
          <a:p>
            <a:endParaRPr lang="en-US"/>
          </a:p>
        </p:txBody>
      </p:sp>
      <p:sp>
        <p:nvSpPr>
          <p:cNvPr id="11" name="Text 8"/>
          <p:cNvSpPr/>
          <p:nvPr/>
        </p:nvSpPr>
        <p:spPr>
          <a:xfrm>
            <a:off x="777240" y="2377440"/>
            <a:ext cx="1554480" cy="868680"/>
          </a:xfrm>
          <a:prstGeom prst="rect">
            <a:avLst/>
          </a:prstGeom>
          <a:noFill/>
          <a:ln/>
        </p:spPr>
        <p:txBody>
          <a:bodyPr wrap="square" lIns="0" tIns="0" rIns="0" bIns="0" rtlCol="0" anchor="ctr"/>
          <a:lstStyle/>
          <a:p>
            <a:pPr marL="0" indent="0" algn="ctr">
              <a:buNone/>
            </a:pPr>
            <a:r>
              <a:rPr lang="en-US" sz="1900" b="1" dirty="0">
                <a:solidFill>
                  <a:srgbClr val="111111"/>
                </a:solidFill>
                <a:latin typeface="Oswald" pitchFamily="34" charset="0"/>
                <a:ea typeface="Oswald" pitchFamily="34" charset="-122"/>
                <a:cs typeface="Oswald" pitchFamily="34" charset="-120"/>
              </a:rPr>
              <a:t>XSD</a:t>
            </a:r>
            <a:endParaRPr lang="en-US" sz="1900" dirty="0"/>
          </a:p>
        </p:txBody>
      </p:sp>
      <p:sp>
        <p:nvSpPr>
          <p:cNvPr id="12" name="Shape 9"/>
          <p:cNvSpPr/>
          <p:nvPr/>
        </p:nvSpPr>
        <p:spPr>
          <a:xfrm>
            <a:off x="2660904" y="2377440"/>
            <a:ext cx="1554480" cy="868680"/>
          </a:xfrm>
          <a:prstGeom prst="rect">
            <a:avLst/>
          </a:prstGeom>
          <a:solidFill>
            <a:srgbClr val="FAF8F6"/>
          </a:solidFill>
          <a:ln w="15875">
            <a:solidFill>
              <a:srgbClr val="CB0017"/>
            </a:solidFill>
            <a:prstDash val="solid"/>
          </a:ln>
          <a:effectLst>
            <a:outerShdw blurRad="88900" dist="38100" dir="8100000" algn="bl" rotWithShape="0">
              <a:srgbClr val="000000">
                <a:alpha val="10000"/>
              </a:srgbClr>
            </a:outerShdw>
          </a:effectLst>
        </p:spPr>
        <p:txBody>
          <a:bodyPr/>
          <a:lstStyle/>
          <a:p>
            <a:endParaRPr lang="en-US"/>
          </a:p>
        </p:txBody>
      </p:sp>
      <p:sp>
        <p:nvSpPr>
          <p:cNvPr id="13" name="Text 10"/>
          <p:cNvSpPr/>
          <p:nvPr/>
        </p:nvSpPr>
        <p:spPr>
          <a:xfrm>
            <a:off x="2660904" y="2377440"/>
            <a:ext cx="1554480" cy="868680"/>
          </a:xfrm>
          <a:prstGeom prst="rect">
            <a:avLst/>
          </a:prstGeom>
          <a:noFill/>
          <a:ln/>
        </p:spPr>
        <p:txBody>
          <a:bodyPr wrap="square" lIns="0" tIns="0" rIns="0" bIns="0" rtlCol="0" anchor="ctr"/>
          <a:lstStyle/>
          <a:p>
            <a:pPr marL="0" indent="0" algn="ctr">
              <a:buNone/>
            </a:pPr>
            <a:r>
              <a:rPr lang="en-US" sz="1500" b="1" dirty="0">
                <a:solidFill>
                  <a:srgbClr val="111111"/>
                </a:solidFill>
                <a:latin typeface="Oswald" pitchFamily="34" charset="0"/>
                <a:ea typeface="Oswald" pitchFamily="34" charset="-122"/>
                <a:cs typeface="Oswald" pitchFamily="34" charset="-120"/>
              </a:rPr>
              <a:t>JSON Schema</a:t>
            </a:r>
            <a:endParaRPr lang="en-US" sz="1500" dirty="0"/>
          </a:p>
        </p:txBody>
      </p:sp>
      <p:sp>
        <p:nvSpPr>
          <p:cNvPr id="14" name="Shape 11"/>
          <p:cNvSpPr/>
          <p:nvPr/>
        </p:nvSpPr>
        <p:spPr>
          <a:xfrm>
            <a:off x="4544568" y="2377440"/>
            <a:ext cx="1554480" cy="868680"/>
          </a:xfrm>
          <a:prstGeom prst="rect">
            <a:avLst/>
          </a:prstGeom>
          <a:solidFill>
            <a:srgbClr val="FAF8F6"/>
          </a:solidFill>
          <a:ln w="15875">
            <a:solidFill>
              <a:srgbClr val="CB0017"/>
            </a:solidFill>
            <a:prstDash val="solid"/>
          </a:ln>
          <a:effectLst>
            <a:outerShdw blurRad="88900" dist="38100" dir="8100000" algn="bl" rotWithShape="0">
              <a:srgbClr val="000000">
                <a:alpha val="10000"/>
              </a:srgbClr>
            </a:outerShdw>
          </a:effectLst>
        </p:spPr>
        <p:txBody>
          <a:bodyPr/>
          <a:lstStyle/>
          <a:p>
            <a:endParaRPr lang="en-US"/>
          </a:p>
        </p:txBody>
      </p:sp>
      <p:sp>
        <p:nvSpPr>
          <p:cNvPr id="15" name="Text 12"/>
          <p:cNvSpPr/>
          <p:nvPr/>
        </p:nvSpPr>
        <p:spPr>
          <a:xfrm>
            <a:off x="4544568" y="2377440"/>
            <a:ext cx="1554480" cy="868680"/>
          </a:xfrm>
          <a:prstGeom prst="rect">
            <a:avLst/>
          </a:prstGeom>
          <a:noFill/>
          <a:ln/>
        </p:spPr>
        <p:txBody>
          <a:bodyPr wrap="square" lIns="0" tIns="0" rIns="0" bIns="0" rtlCol="0" anchor="ctr"/>
          <a:lstStyle/>
          <a:p>
            <a:pPr marL="0" indent="0" algn="ctr">
              <a:buNone/>
            </a:pPr>
            <a:r>
              <a:rPr lang="en-US" sz="1900" b="1" dirty="0">
                <a:solidFill>
                  <a:srgbClr val="111111"/>
                </a:solidFill>
                <a:latin typeface="Oswald" pitchFamily="34" charset="0"/>
                <a:ea typeface="Oswald" pitchFamily="34" charset="-122"/>
                <a:cs typeface="Oswald" pitchFamily="34" charset="-120"/>
              </a:rPr>
              <a:t>Avro</a:t>
            </a:r>
            <a:endParaRPr lang="en-US" sz="1900" dirty="0"/>
          </a:p>
        </p:txBody>
      </p:sp>
      <p:sp>
        <p:nvSpPr>
          <p:cNvPr id="16" name="Shape 13"/>
          <p:cNvSpPr/>
          <p:nvPr/>
        </p:nvSpPr>
        <p:spPr>
          <a:xfrm>
            <a:off x="6428232" y="2377440"/>
            <a:ext cx="1554480" cy="868680"/>
          </a:xfrm>
          <a:prstGeom prst="rect">
            <a:avLst/>
          </a:prstGeom>
          <a:solidFill>
            <a:srgbClr val="FAF8F6"/>
          </a:solidFill>
          <a:ln w="15875">
            <a:solidFill>
              <a:srgbClr val="CB0017"/>
            </a:solidFill>
            <a:prstDash val="solid"/>
          </a:ln>
          <a:effectLst>
            <a:outerShdw blurRad="88900" dist="38100" dir="8100000" algn="bl" rotWithShape="0">
              <a:srgbClr val="000000">
                <a:alpha val="10000"/>
              </a:srgbClr>
            </a:outerShdw>
          </a:effectLst>
        </p:spPr>
        <p:txBody>
          <a:bodyPr/>
          <a:lstStyle/>
          <a:p>
            <a:endParaRPr lang="en-US"/>
          </a:p>
        </p:txBody>
      </p:sp>
      <p:sp>
        <p:nvSpPr>
          <p:cNvPr id="17" name="Text 14"/>
          <p:cNvSpPr/>
          <p:nvPr/>
        </p:nvSpPr>
        <p:spPr>
          <a:xfrm>
            <a:off x="6428232" y="2377440"/>
            <a:ext cx="1554480" cy="868680"/>
          </a:xfrm>
          <a:prstGeom prst="rect">
            <a:avLst/>
          </a:prstGeom>
          <a:noFill/>
          <a:ln/>
        </p:spPr>
        <p:txBody>
          <a:bodyPr wrap="square" lIns="0" tIns="0" rIns="0" bIns="0" rtlCol="0" anchor="ctr"/>
          <a:lstStyle/>
          <a:p>
            <a:pPr marL="0" indent="0" algn="ctr">
              <a:buNone/>
            </a:pPr>
            <a:r>
              <a:rPr lang="en-US" sz="1500" b="1" dirty="0">
                <a:solidFill>
                  <a:srgbClr val="111111"/>
                </a:solidFill>
                <a:latin typeface="Oswald" pitchFamily="34" charset="0"/>
                <a:ea typeface="Oswald" pitchFamily="34" charset="-122"/>
                <a:cs typeface="Oswald" pitchFamily="34" charset="-120"/>
              </a:rPr>
              <a:t>Protobuf</a:t>
            </a:r>
            <a:endParaRPr lang="en-US" sz="1500" dirty="0"/>
          </a:p>
        </p:txBody>
      </p:sp>
      <p:sp>
        <p:nvSpPr>
          <p:cNvPr id="18" name="Shape 15"/>
          <p:cNvSpPr/>
          <p:nvPr/>
        </p:nvSpPr>
        <p:spPr>
          <a:xfrm>
            <a:off x="2359152" y="2807208"/>
            <a:ext cx="274320" cy="0"/>
          </a:xfrm>
          <a:prstGeom prst="line">
            <a:avLst/>
          </a:prstGeom>
          <a:noFill/>
          <a:ln w="31750">
            <a:solidFill>
              <a:srgbClr val="CB0017"/>
            </a:solidFill>
            <a:prstDash val="solid"/>
            <a:headEnd type="triangle"/>
            <a:tailEnd type="triangle"/>
          </a:ln>
        </p:spPr>
        <p:txBody>
          <a:bodyPr/>
          <a:lstStyle/>
          <a:p>
            <a:endParaRPr lang="en-US"/>
          </a:p>
        </p:txBody>
      </p:sp>
      <p:sp>
        <p:nvSpPr>
          <p:cNvPr id="19" name="Shape 16"/>
          <p:cNvSpPr/>
          <p:nvPr/>
        </p:nvSpPr>
        <p:spPr>
          <a:xfrm>
            <a:off x="4242816" y="2807208"/>
            <a:ext cx="274320" cy="0"/>
          </a:xfrm>
          <a:prstGeom prst="line">
            <a:avLst/>
          </a:prstGeom>
          <a:noFill/>
          <a:ln w="31750">
            <a:solidFill>
              <a:srgbClr val="CB0017"/>
            </a:solidFill>
            <a:prstDash val="solid"/>
            <a:headEnd type="triangle"/>
            <a:tailEnd type="triangle"/>
          </a:ln>
        </p:spPr>
        <p:txBody>
          <a:bodyPr/>
          <a:lstStyle/>
          <a:p>
            <a:endParaRPr lang="en-US"/>
          </a:p>
        </p:txBody>
      </p:sp>
      <p:sp>
        <p:nvSpPr>
          <p:cNvPr id="20" name="Shape 17"/>
          <p:cNvSpPr/>
          <p:nvPr/>
        </p:nvSpPr>
        <p:spPr>
          <a:xfrm>
            <a:off x="6126480" y="2807208"/>
            <a:ext cx="274320" cy="0"/>
          </a:xfrm>
          <a:prstGeom prst="line">
            <a:avLst/>
          </a:prstGeom>
          <a:noFill/>
          <a:ln w="31750">
            <a:solidFill>
              <a:srgbClr val="CB0017"/>
            </a:solidFill>
            <a:prstDash val="solid"/>
            <a:headEnd type="triangle"/>
            <a:tailEnd type="triangle"/>
          </a:ln>
        </p:spPr>
        <p:txBody>
          <a:bodyPr/>
          <a:lstStyle/>
          <a:p>
            <a:endParaRPr lang="en-US"/>
          </a:p>
        </p:txBody>
      </p:sp>
      <p:sp>
        <p:nvSpPr>
          <p:cNvPr id="21" name="Text 18"/>
          <p:cNvSpPr/>
          <p:nvPr/>
        </p:nvSpPr>
        <p:spPr>
          <a:xfrm>
            <a:off x="777240" y="3429000"/>
            <a:ext cx="7315200" cy="320040"/>
          </a:xfrm>
          <a:prstGeom prst="rect">
            <a:avLst/>
          </a:prstGeom>
          <a:noFill/>
          <a:ln/>
        </p:spPr>
        <p:txBody>
          <a:bodyPr wrap="square" lIns="0" tIns="0" rIns="0" bIns="0" rtlCol="0" anchor="ctr"/>
          <a:lstStyle/>
          <a:p>
            <a:pPr marL="0" indent="0">
              <a:buNone/>
            </a:pPr>
            <a:r>
              <a:rPr lang="en-US" sz="1200" dirty="0">
                <a:solidFill>
                  <a:srgbClr val="CB0017"/>
                </a:solidFill>
                <a:latin typeface="Consolas" pitchFamily="34" charset="0"/>
                <a:ea typeface="Consolas" pitchFamily="34" charset="-122"/>
                <a:cs typeface="Consolas" pitchFamily="34" charset="-120"/>
              </a:rPr>
              <a:t>%usdl 1.0  —  the same write-once model, applied to schema definitions.</a:t>
            </a:r>
            <a:endParaRPr lang="en-US" sz="1200" dirty="0"/>
          </a:p>
        </p:txBody>
      </p:sp>
      <p:sp>
        <p:nvSpPr>
          <p:cNvPr id="22" name="Shape 19"/>
          <p:cNvSpPr/>
          <p:nvPr/>
        </p:nvSpPr>
        <p:spPr>
          <a:xfrm>
            <a:off x="457200" y="4114800"/>
            <a:ext cx="8229600" cy="603504"/>
          </a:xfrm>
          <a:prstGeom prst="rect">
            <a:avLst/>
          </a:prstGeom>
          <a:solidFill>
            <a:srgbClr val="151515"/>
          </a:solidFill>
          <a:ln w="12700">
            <a:solidFill>
              <a:srgbClr val="151515"/>
            </a:solidFill>
            <a:prstDash val="solid"/>
          </a:ln>
        </p:spPr>
        <p:txBody>
          <a:bodyPr/>
          <a:lstStyle/>
          <a:p>
            <a:endParaRPr lang="en-US"/>
          </a:p>
        </p:txBody>
      </p:sp>
      <p:sp>
        <p:nvSpPr>
          <p:cNvPr id="23" name="Text 20"/>
          <p:cNvSpPr/>
          <p:nvPr/>
        </p:nvSpPr>
        <p:spPr>
          <a:xfrm>
            <a:off x="685800" y="4114800"/>
            <a:ext cx="7772400" cy="603504"/>
          </a:xfrm>
          <a:prstGeom prst="rect">
            <a:avLst/>
          </a:prstGeom>
          <a:noFill/>
          <a:ln/>
        </p:spPr>
        <p:txBody>
          <a:bodyPr wrap="square" lIns="0" tIns="0" rIns="0" bIns="0" rtlCol="0" anchor="ctr"/>
          <a:lstStyle/>
          <a:p>
            <a:pPr marL="0" indent="0">
              <a:buNone/>
            </a:pPr>
            <a:r>
              <a:rPr lang="en-US" sz="1300" b="1" dirty="0">
                <a:solidFill>
                  <a:srgbClr val="FF8A8A"/>
                </a:solidFill>
                <a:latin typeface="Inter Tight" pitchFamily="34" charset="0"/>
                <a:ea typeface="Inter Tight" pitchFamily="34" charset="-122"/>
                <a:cs typeface="Inter Tight" pitchFamily="34" charset="-120"/>
              </a:rPr>
              <a:t>Why it matters:  </a:t>
            </a:r>
            <a:r>
              <a:rPr lang="en-US" sz="1300" dirty="0">
                <a:solidFill>
                  <a:srgbClr val="FFFFFF"/>
                </a:solidFill>
                <a:latin typeface="Inter Tight" pitchFamily="34" charset="0"/>
                <a:ea typeface="Inter Tight" pitchFamily="34" charset="-122"/>
                <a:cs typeface="Inter Tight" pitchFamily="34" charset="-120"/>
              </a:rPr>
              <a:t>keep an Avro stream, an XSD service and a Protobuf API in sync from a single source of truth.</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8</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THE TOOLKIT</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Three products, one language</a:t>
            </a:r>
            <a:endParaRPr lang="en-US" sz="3100" dirty="0"/>
          </a:p>
        </p:txBody>
      </p:sp>
      <p:sp>
        <p:nvSpPr>
          <p:cNvPr id="8" name="Shape 6"/>
          <p:cNvSpPr/>
          <p:nvPr/>
        </p:nvSpPr>
        <p:spPr>
          <a:xfrm>
            <a:off x="457200" y="1554480"/>
            <a:ext cx="2743200" cy="283464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9" name="Shape 7"/>
          <p:cNvSpPr/>
          <p:nvPr/>
        </p:nvSpPr>
        <p:spPr>
          <a:xfrm>
            <a:off x="457200" y="1554480"/>
            <a:ext cx="2743200" cy="64008"/>
          </a:xfrm>
          <a:prstGeom prst="rect">
            <a:avLst/>
          </a:prstGeom>
          <a:solidFill>
            <a:srgbClr val="CB0017"/>
          </a:solidFill>
          <a:ln w="12700">
            <a:solidFill>
              <a:srgbClr val="CB0017"/>
            </a:solidFill>
            <a:prstDash val="solid"/>
          </a:ln>
        </p:spPr>
        <p:txBody>
          <a:bodyPr/>
          <a:lstStyle/>
          <a:p>
            <a:endParaRPr lang="en-US"/>
          </a:p>
        </p:txBody>
      </p:sp>
      <p:sp>
        <p:nvSpPr>
          <p:cNvPr id="10" name="Text 8"/>
          <p:cNvSpPr/>
          <p:nvPr/>
        </p:nvSpPr>
        <p:spPr>
          <a:xfrm>
            <a:off x="685800" y="1783080"/>
            <a:ext cx="914400" cy="365760"/>
          </a:xfrm>
          <a:prstGeom prst="rect">
            <a:avLst/>
          </a:prstGeom>
          <a:noFill/>
          <a:ln/>
        </p:spPr>
        <p:txBody>
          <a:bodyPr wrap="square" lIns="0" tIns="0" rIns="0" bIns="0" rtlCol="0" anchor="ctr"/>
          <a:lstStyle/>
          <a:p>
            <a:pPr marL="0" indent="0">
              <a:buNone/>
            </a:pPr>
            <a:r>
              <a:rPr lang="en-US" sz="1800" b="1" kern="0" spc="200" dirty="0">
                <a:solidFill>
                  <a:srgbClr val="CB0017"/>
                </a:solidFill>
                <a:latin typeface="Oswald" pitchFamily="34" charset="0"/>
                <a:ea typeface="Oswald" pitchFamily="34" charset="-122"/>
                <a:cs typeface="Oswald" pitchFamily="34" charset="-120"/>
              </a:rPr>
              <a:t>01</a:t>
            </a:r>
            <a:endParaRPr lang="en-US" sz="1800" dirty="0"/>
          </a:p>
        </p:txBody>
      </p:sp>
      <p:sp>
        <p:nvSpPr>
          <p:cNvPr id="11" name="Shape 9"/>
          <p:cNvSpPr/>
          <p:nvPr/>
        </p:nvSpPr>
        <p:spPr>
          <a:xfrm>
            <a:off x="2331720" y="1810512"/>
            <a:ext cx="566928" cy="566928"/>
          </a:xfrm>
          <a:prstGeom prst="line">
            <a:avLst/>
          </a:prstGeom>
          <a:solidFill>
            <a:srgbClr val="CB0017"/>
          </a:solidFill>
          <a:ln w="12700">
            <a:solidFill>
              <a:srgbClr val="CB0017"/>
            </a:solidFill>
            <a:prstDash val="solid"/>
          </a:ln>
        </p:spPr>
        <p:txBody>
          <a:bodyPr/>
          <a:lstStyle/>
          <a:p>
            <a:endParaRPr lang="en-US"/>
          </a:p>
        </p:txBody>
      </p:sp>
      <p:sp>
        <p:nvSpPr>
          <p:cNvPr id="13" name="Text 10"/>
          <p:cNvSpPr/>
          <p:nvPr/>
        </p:nvSpPr>
        <p:spPr>
          <a:xfrm>
            <a:off x="685800" y="2423160"/>
            <a:ext cx="2286000" cy="548640"/>
          </a:xfrm>
          <a:prstGeom prst="rect">
            <a:avLst/>
          </a:prstGeom>
          <a:noFill/>
          <a:ln/>
        </p:spPr>
        <p:txBody>
          <a:bodyPr wrap="square" lIns="0" tIns="0" rIns="0" bIns="0" rtlCol="0" anchor="ctr"/>
          <a:lstStyle/>
          <a:p>
            <a:pPr marL="0" indent="0">
              <a:buNone/>
            </a:pPr>
            <a:r>
              <a:rPr lang="en-US" sz="2500" b="1" dirty="0">
                <a:solidFill>
                  <a:srgbClr val="111111"/>
                </a:solidFill>
                <a:latin typeface="Consolas" pitchFamily="34" charset="0"/>
                <a:ea typeface="Consolas" pitchFamily="34" charset="-122"/>
                <a:cs typeface="Consolas" pitchFamily="34" charset="-120"/>
              </a:rPr>
              <a:t>utlx</a:t>
            </a:r>
            <a:endParaRPr lang="en-US" sz="2500" dirty="0"/>
          </a:p>
        </p:txBody>
      </p:sp>
      <p:sp>
        <p:nvSpPr>
          <p:cNvPr id="14" name="Text 11"/>
          <p:cNvSpPr/>
          <p:nvPr/>
        </p:nvSpPr>
        <p:spPr>
          <a:xfrm>
            <a:off x="685800" y="3017520"/>
            <a:ext cx="2286000" cy="274320"/>
          </a:xfrm>
          <a:prstGeom prst="rect">
            <a:avLst/>
          </a:prstGeom>
          <a:noFill/>
          <a:ln/>
        </p:spPr>
        <p:txBody>
          <a:bodyPr wrap="square" lIns="0" tIns="0" rIns="0" bIns="0" rtlCol="0" anchor="ctr"/>
          <a:lstStyle/>
          <a:p>
            <a:pPr marL="0" indent="0">
              <a:buNone/>
            </a:pPr>
            <a:r>
              <a:rPr lang="en-US" sz="1050" b="1" kern="0" spc="150" dirty="0">
                <a:solidFill>
                  <a:srgbClr val="CB0017"/>
                </a:solidFill>
                <a:latin typeface="Oswald" pitchFamily="34" charset="0"/>
                <a:ea typeface="Oswald" pitchFamily="34" charset="-122"/>
                <a:cs typeface="Oswald" pitchFamily="34" charset="-120"/>
              </a:rPr>
              <a:t>CLI TOOL</a:t>
            </a:r>
            <a:endParaRPr lang="en-US" sz="1050" dirty="0"/>
          </a:p>
        </p:txBody>
      </p:sp>
      <p:sp>
        <p:nvSpPr>
          <p:cNvPr id="15" name="Text 12"/>
          <p:cNvSpPr/>
          <p:nvPr/>
        </p:nvSpPr>
        <p:spPr>
          <a:xfrm>
            <a:off x="685800" y="3337560"/>
            <a:ext cx="2286000" cy="914400"/>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Native binary. Pipe any format from your terminal.</a:t>
            </a:r>
            <a:endParaRPr lang="en-US" sz="1250" dirty="0"/>
          </a:p>
        </p:txBody>
      </p:sp>
      <p:sp>
        <p:nvSpPr>
          <p:cNvPr id="16" name="Shape 13"/>
          <p:cNvSpPr/>
          <p:nvPr/>
        </p:nvSpPr>
        <p:spPr>
          <a:xfrm>
            <a:off x="3200400" y="1554480"/>
            <a:ext cx="2743200" cy="283464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7" name="Shape 14"/>
          <p:cNvSpPr/>
          <p:nvPr/>
        </p:nvSpPr>
        <p:spPr>
          <a:xfrm>
            <a:off x="3200400" y="1554480"/>
            <a:ext cx="2743200" cy="64008"/>
          </a:xfrm>
          <a:prstGeom prst="rect">
            <a:avLst/>
          </a:prstGeom>
          <a:solidFill>
            <a:srgbClr val="CB0017"/>
          </a:solidFill>
          <a:ln w="12700">
            <a:solidFill>
              <a:srgbClr val="CB0017"/>
            </a:solidFill>
            <a:prstDash val="solid"/>
          </a:ln>
        </p:spPr>
        <p:txBody>
          <a:bodyPr/>
          <a:lstStyle/>
          <a:p>
            <a:endParaRPr lang="en-US"/>
          </a:p>
        </p:txBody>
      </p:sp>
      <p:sp>
        <p:nvSpPr>
          <p:cNvPr id="18" name="Text 15"/>
          <p:cNvSpPr/>
          <p:nvPr/>
        </p:nvSpPr>
        <p:spPr>
          <a:xfrm>
            <a:off x="3429000" y="1783080"/>
            <a:ext cx="914400" cy="365760"/>
          </a:xfrm>
          <a:prstGeom prst="rect">
            <a:avLst/>
          </a:prstGeom>
          <a:noFill/>
          <a:ln/>
        </p:spPr>
        <p:txBody>
          <a:bodyPr wrap="square" lIns="0" tIns="0" rIns="0" bIns="0" rtlCol="0" anchor="ctr"/>
          <a:lstStyle/>
          <a:p>
            <a:pPr marL="0" indent="0">
              <a:buNone/>
            </a:pPr>
            <a:r>
              <a:rPr lang="en-US" sz="1800" b="1" kern="0" spc="200" dirty="0">
                <a:solidFill>
                  <a:srgbClr val="CB0017"/>
                </a:solidFill>
                <a:latin typeface="Oswald" pitchFamily="34" charset="0"/>
                <a:ea typeface="Oswald" pitchFamily="34" charset="-122"/>
                <a:cs typeface="Oswald" pitchFamily="34" charset="-120"/>
              </a:rPr>
              <a:t>02</a:t>
            </a:r>
            <a:endParaRPr lang="en-US" sz="1800" dirty="0"/>
          </a:p>
        </p:txBody>
      </p:sp>
      <p:sp>
        <p:nvSpPr>
          <p:cNvPr id="19" name="Shape 16"/>
          <p:cNvSpPr/>
          <p:nvPr/>
        </p:nvSpPr>
        <p:spPr>
          <a:xfrm>
            <a:off x="5074920" y="1810512"/>
            <a:ext cx="566928" cy="566928"/>
          </a:xfrm>
          <a:prstGeom prst="line">
            <a:avLst/>
          </a:prstGeom>
          <a:solidFill>
            <a:srgbClr val="CB0017"/>
          </a:solidFill>
          <a:ln w="12700">
            <a:solidFill>
              <a:srgbClr val="CB0017"/>
            </a:solidFill>
            <a:prstDash val="solid"/>
          </a:ln>
        </p:spPr>
        <p:txBody>
          <a:bodyPr/>
          <a:lstStyle/>
          <a:p>
            <a:endParaRPr lang="en-US"/>
          </a:p>
        </p:txBody>
      </p:sp>
      <p:sp>
        <p:nvSpPr>
          <p:cNvPr id="21" name="Text 17"/>
          <p:cNvSpPr/>
          <p:nvPr/>
        </p:nvSpPr>
        <p:spPr>
          <a:xfrm>
            <a:off x="3429000" y="2423160"/>
            <a:ext cx="2286000" cy="548640"/>
          </a:xfrm>
          <a:prstGeom prst="rect">
            <a:avLst/>
          </a:prstGeom>
          <a:noFill/>
          <a:ln/>
        </p:spPr>
        <p:txBody>
          <a:bodyPr wrap="square" lIns="0" tIns="0" rIns="0" bIns="0" rtlCol="0" anchor="ctr"/>
          <a:lstStyle/>
          <a:p>
            <a:pPr marL="0" indent="0">
              <a:buNone/>
            </a:pPr>
            <a:r>
              <a:rPr lang="en-US" sz="2500" b="1" dirty="0">
                <a:solidFill>
                  <a:srgbClr val="111111"/>
                </a:solidFill>
                <a:latin typeface="Consolas" pitchFamily="34" charset="0"/>
                <a:ea typeface="Consolas" pitchFamily="34" charset="-122"/>
                <a:cs typeface="Consolas" pitchFamily="34" charset="-120"/>
              </a:rPr>
              <a:t>utlxd</a:t>
            </a:r>
            <a:endParaRPr lang="en-US" sz="2500" dirty="0"/>
          </a:p>
        </p:txBody>
      </p:sp>
      <p:sp>
        <p:nvSpPr>
          <p:cNvPr id="22" name="Text 18"/>
          <p:cNvSpPr/>
          <p:nvPr/>
        </p:nvSpPr>
        <p:spPr>
          <a:xfrm>
            <a:off x="3429000" y="3017520"/>
            <a:ext cx="2286000" cy="274320"/>
          </a:xfrm>
          <a:prstGeom prst="rect">
            <a:avLst/>
          </a:prstGeom>
          <a:noFill/>
          <a:ln/>
        </p:spPr>
        <p:txBody>
          <a:bodyPr wrap="square" lIns="0" tIns="0" rIns="0" bIns="0" rtlCol="0" anchor="ctr"/>
          <a:lstStyle/>
          <a:p>
            <a:pPr marL="0" indent="0">
              <a:buNone/>
            </a:pPr>
            <a:r>
              <a:rPr lang="en-US" sz="1050" b="1" kern="0" spc="150" dirty="0">
                <a:solidFill>
                  <a:srgbClr val="CB0017"/>
                </a:solidFill>
                <a:latin typeface="Oswald" pitchFamily="34" charset="0"/>
                <a:ea typeface="Oswald" pitchFamily="34" charset="-122"/>
                <a:cs typeface="Oswald" pitchFamily="34" charset="-120"/>
              </a:rPr>
              <a:t>IDE &amp; EDITOR</a:t>
            </a:r>
            <a:endParaRPr lang="en-US" sz="1050" dirty="0"/>
          </a:p>
        </p:txBody>
      </p:sp>
      <p:sp>
        <p:nvSpPr>
          <p:cNvPr id="23" name="Text 19"/>
          <p:cNvSpPr/>
          <p:nvPr/>
        </p:nvSpPr>
        <p:spPr>
          <a:xfrm>
            <a:off x="3429000" y="3337560"/>
            <a:ext cx="2286000" cy="914400"/>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Theia-based. Write, map and run transformations live.</a:t>
            </a:r>
            <a:endParaRPr lang="en-US" sz="1250" dirty="0"/>
          </a:p>
        </p:txBody>
      </p:sp>
      <p:sp>
        <p:nvSpPr>
          <p:cNvPr id="24" name="Shape 20"/>
          <p:cNvSpPr/>
          <p:nvPr/>
        </p:nvSpPr>
        <p:spPr>
          <a:xfrm>
            <a:off x="5943600" y="1554480"/>
            <a:ext cx="2743200" cy="283464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25" name="Shape 21"/>
          <p:cNvSpPr/>
          <p:nvPr/>
        </p:nvSpPr>
        <p:spPr>
          <a:xfrm>
            <a:off x="5943600" y="1554480"/>
            <a:ext cx="2743200" cy="64008"/>
          </a:xfrm>
          <a:prstGeom prst="rect">
            <a:avLst/>
          </a:prstGeom>
          <a:solidFill>
            <a:srgbClr val="CB0017"/>
          </a:solidFill>
          <a:ln w="12700">
            <a:solidFill>
              <a:srgbClr val="CB0017"/>
            </a:solidFill>
            <a:prstDash val="solid"/>
          </a:ln>
        </p:spPr>
        <p:txBody>
          <a:bodyPr/>
          <a:lstStyle/>
          <a:p>
            <a:endParaRPr lang="en-US"/>
          </a:p>
        </p:txBody>
      </p:sp>
      <p:sp>
        <p:nvSpPr>
          <p:cNvPr id="26" name="Text 22"/>
          <p:cNvSpPr/>
          <p:nvPr/>
        </p:nvSpPr>
        <p:spPr>
          <a:xfrm>
            <a:off x="6172200" y="1783080"/>
            <a:ext cx="914400" cy="365760"/>
          </a:xfrm>
          <a:prstGeom prst="rect">
            <a:avLst/>
          </a:prstGeom>
          <a:noFill/>
          <a:ln/>
        </p:spPr>
        <p:txBody>
          <a:bodyPr wrap="square" lIns="0" tIns="0" rIns="0" bIns="0" rtlCol="0" anchor="ctr"/>
          <a:lstStyle/>
          <a:p>
            <a:pPr marL="0" indent="0">
              <a:buNone/>
            </a:pPr>
            <a:r>
              <a:rPr lang="en-US" sz="1800" b="1" kern="0" spc="200" dirty="0">
                <a:solidFill>
                  <a:srgbClr val="CB0017"/>
                </a:solidFill>
                <a:latin typeface="Oswald" pitchFamily="34" charset="0"/>
                <a:ea typeface="Oswald" pitchFamily="34" charset="-122"/>
                <a:cs typeface="Oswald" pitchFamily="34" charset="-120"/>
              </a:rPr>
              <a:t>03</a:t>
            </a:r>
            <a:endParaRPr lang="en-US" sz="1800" dirty="0"/>
          </a:p>
        </p:txBody>
      </p:sp>
      <p:sp>
        <p:nvSpPr>
          <p:cNvPr id="27" name="Shape 23"/>
          <p:cNvSpPr/>
          <p:nvPr/>
        </p:nvSpPr>
        <p:spPr>
          <a:xfrm>
            <a:off x="7818120" y="1810512"/>
            <a:ext cx="566928" cy="566928"/>
          </a:xfrm>
          <a:prstGeom prst="line">
            <a:avLst/>
          </a:prstGeom>
          <a:solidFill>
            <a:srgbClr val="CB0017"/>
          </a:solidFill>
          <a:ln w="12700">
            <a:solidFill>
              <a:srgbClr val="CB0017"/>
            </a:solidFill>
            <a:prstDash val="solid"/>
          </a:ln>
        </p:spPr>
        <p:txBody>
          <a:bodyPr/>
          <a:lstStyle/>
          <a:p>
            <a:endParaRPr lang="en-US"/>
          </a:p>
        </p:txBody>
      </p:sp>
      <p:sp>
        <p:nvSpPr>
          <p:cNvPr id="29" name="Text 24"/>
          <p:cNvSpPr/>
          <p:nvPr/>
        </p:nvSpPr>
        <p:spPr>
          <a:xfrm>
            <a:off x="6172200" y="2423160"/>
            <a:ext cx="2286000" cy="548640"/>
          </a:xfrm>
          <a:prstGeom prst="rect">
            <a:avLst/>
          </a:prstGeom>
          <a:noFill/>
          <a:ln/>
        </p:spPr>
        <p:txBody>
          <a:bodyPr wrap="square" lIns="0" tIns="0" rIns="0" bIns="0" rtlCol="0" anchor="ctr"/>
          <a:lstStyle/>
          <a:p>
            <a:pPr marL="0" indent="0">
              <a:buNone/>
            </a:pPr>
            <a:r>
              <a:rPr lang="en-US" sz="2500" b="1" dirty="0">
                <a:solidFill>
                  <a:srgbClr val="111111"/>
                </a:solidFill>
                <a:latin typeface="Consolas" pitchFamily="34" charset="0"/>
                <a:ea typeface="Consolas" pitchFamily="34" charset="-122"/>
                <a:cs typeface="Consolas" pitchFamily="34" charset="-120"/>
              </a:rPr>
              <a:t>utlxe</a:t>
            </a:r>
            <a:endParaRPr lang="en-US" sz="2500" dirty="0"/>
          </a:p>
        </p:txBody>
      </p:sp>
      <p:sp>
        <p:nvSpPr>
          <p:cNvPr id="30" name="Text 25"/>
          <p:cNvSpPr/>
          <p:nvPr/>
        </p:nvSpPr>
        <p:spPr>
          <a:xfrm>
            <a:off x="6172200" y="3017520"/>
            <a:ext cx="2286000" cy="274320"/>
          </a:xfrm>
          <a:prstGeom prst="rect">
            <a:avLst/>
          </a:prstGeom>
          <a:noFill/>
          <a:ln/>
        </p:spPr>
        <p:txBody>
          <a:bodyPr wrap="square" lIns="0" tIns="0" rIns="0" bIns="0" rtlCol="0" anchor="ctr"/>
          <a:lstStyle/>
          <a:p>
            <a:pPr marL="0" indent="0">
              <a:buNone/>
            </a:pPr>
            <a:r>
              <a:rPr lang="en-US" sz="1050" b="1" kern="0" spc="150" dirty="0">
                <a:solidFill>
                  <a:srgbClr val="CB0017"/>
                </a:solidFill>
                <a:latin typeface="Oswald" pitchFamily="34" charset="0"/>
                <a:ea typeface="Oswald" pitchFamily="34" charset="-122"/>
                <a:cs typeface="Oswald" pitchFamily="34" charset="-120"/>
              </a:rPr>
              <a:t>PRODUCTION ENGINE</a:t>
            </a:r>
            <a:endParaRPr lang="en-US" sz="1050" dirty="0"/>
          </a:p>
        </p:txBody>
      </p:sp>
      <p:sp>
        <p:nvSpPr>
          <p:cNvPr id="31" name="Text 26"/>
          <p:cNvSpPr/>
          <p:nvPr/>
        </p:nvSpPr>
        <p:spPr>
          <a:xfrm>
            <a:off x="6172200" y="3337560"/>
            <a:ext cx="2286000" cy="914400"/>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Enterprise scale. Kafka, Dapr, Azure Marketplace.</a:t>
            </a:r>
            <a:endParaRPr lang="en-US" sz="1250" dirty="0"/>
          </a:p>
        </p:txBody>
      </p:sp>
      <p:sp>
        <p:nvSpPr>
          <p:cNvPr id="32" name="Text 27"/>
          <p:cNvSpPr/>
          <p:nvPr/>
        </p:nvSpPr>
        <p:spPr>
          <a:xfrm>
            <a:off x="457200" y="4526280"/>
            <a:ext cx="8229600" cy="320040"/>
          </a:xfrm>
          <a:prstGeom prst="rect">
            <a:avLst/>
          </a:prstGeom>
          <a:noFill/>
          <a:ln/>
        </p:spPr>
        <p:txBody>
          <a:bodyPr wrap="square" lIns="0" tIns="0" rIns="0" bIns="0" rtlCol="0" anchor="ctr"/>
          <a:lstStyle/>
          <a:p>
            <a:pPr marL="0" indent="0" algn="ctr">
              <a:buNone/>
            </a:pPr>
            <a:r>
              <a:rPr lang="en-US" sz="1250" i="1" dirty="0">
                <a:solidFill>
                  <a:srgbClr val="111111"/>
                </a:solidFill>
                <a:latin typeface="Inter Tight" pitchFamily="34" charset="0"/>
                <a:ea typeface="Inter Tight" pitchFamily="34" charset="-122"/>
                <a:cs typeface="Inter Tight" pitchFamily="34" charset="-120"/>
              </a:rPr>
              <a:t>From a one-liner in your terminal to a pipeline handling millions of messages — the same language scales with you.</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9</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01 · utlx</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The command-line workhorse</a:t>
            </a:r>
            <a:endParaRPr lang="en-US" sz="3100" dirty="0"/>
          </a:p>
        </p:txBody>
      </p:sp>
      <p:pic>
        <p:nvPicPr>
          <p:cNvPr id="8" name="Image 0" descr="preencoded.png"/>
          <p:cNvPicPr>
            <a:picLocks noChangeAspect="1"/>
          </p:cNvPicPr>
          <p:nvPr/>
        </p:nvPicPr>
        <p:blipFill>
          <a:blip r:embed="rId3"/>
          <a:stretch>
            <a:fillRect/>
          </a:stretch>
        </p:blipFill>
        <p:spPr>
          <a:xfrm>
            <a:off x="7955280" y="457200"/>
            <a:ext cx="640080" cy="640080"/>
          </a:xfrm>
          <a:prstGeom prst="rect">
            <a:avLst/>
          </a:prstGeom>
        </p:spPr>
      </p:pic>
      <p:pic>
        <p:nvPicPr>
          <p:cNvPr id="9" name="Image 1" descr="preencoded.png"/>
          <p:cNvPicPr>
            <a:picLocks noChangeAspect="1"/>
          </p:cNvPicPr>
          <p:nvPr/>
        </p:nvPicPr>
        <p:blipFill>
          <a:blip r:embed="rId4"/>
          <a:stretch>
            <a:fillRect/>
          </a:stretch>
        </p:blipFill>
        <p:spPr>
          <a:xfrm>
            <a:off x="502920" y="1572768"/>
            <a:ext cx="292608" cy="292608"/>
          </a:xfrm>
          <a:prstGeom prst="rect">
            <a:avLst/>
          </a:prstGeom>
        </p:spPr>
      </p:pic>
      <p:sp>
        <p:nvSpPr>
          <p:cNvPr id="10" name="Text 6"/>
          <p:cNvSpPr/>
          <p:nvPr/>
        </p:nvSpPr>
        <p:spPr>
          <a:xfrm>
            <a:off x="914399" y="1517904"/>
            <a:ext cx="3463391" cy="365760"/>
          </a:xfrm>
          <a:prstGeom prst="rect">
            <a:avLst/>
          </a:prstGeom>
          <a:noFill/>
          <a:ln/>
        </p:spPr>
        <p:txBody>
          <a:bodyPr wrap="square" lIns="0" tIns="0" rIns="0" bIns="0" rtlCol="0" anchor="ctr"/>
          <a:lstStyle/>
          <a:p>
            <a:pPr marL="0" indent="0">
              <a:buNone/>
            </a:pPr>
            <a:r>
              <a:rPr lang="en-US" sz="1600" b="1" dirty="0">
                <a:solidFill>
                  <a:srgbClr val="111111"/>
                </a:solidFill>
                <a:latin typeface="Oswald" pitchFamily="34" charset="0"/>
                <a:ea typeface="Oswald" pitchFamily="34" charset="-122"/>
                <a:cs typeface="Oswald" pitchFamily="34" charset="-120"/>
              </a:rPr>
              <a:t>Native binary (Windows, Mac, Linux)</a:t>
            </a:r>
            <a:endParaRPr lang="en-US" sz="1600" dirty="0"/>
          </a:p>
        </p:txBody>
      </p:sp>
      <p:sp>
        <p:nvSpPr>
          <p:cNvPr id="11" name="Text 7"/>
          <p:cNvSpPr/>
          <p:nvPr/>
        </p:nvSpPr>
        <p:spPr>
          <a:xfrm>
            <a:off x="914400" y="1865376"/>
            <a:ext cx="4572000" cy="320040"/>
          </a:xfrm>
          <a:prstGeom prst="rect">
            <a:avLst/>
          </a:prstGeom>
          <a:noFill/>
          <a:ln/>
        </p:spPr>
        <p:txBody>
          <a:bodyPr wrap="square" lIns="0" tIns="0" rIns="0" bIns="0" rtlCol="0" anchor="ctr"/>
          <a:lstStyle/>
          <a:p>
            <a:pPr marL="0" indent="0">
              <a:buNone/>
            </a:pPr>
            <a:r>
              <a:rPr lang="en-US" sz="1200" dirty="0">
                <a:solidFill>
                  <a:srgbClr val="4A4A4A"/>
                </a:solidFill>
                <a:latin typeface="Inter Tight" pitchFamily="34" charset="0"/>
                <a:ea typeface="Inter Tight" pitchFamily="34" charset="-122"/>
                <a:cs typeface="Inter Tight" pitchFamily="34" charset="-120"/>
              </a:rPr>
              <a:t>&lt;100ms startup, ~15MB — no JVM required</a:t>
            </a:r>
            <a:endParaRPr lang="en-US" sz="1200" dirty="0"/>
          </a:p>
        </p:txBody>
      </p:sp>
      <p:pic>
        <p:nvPicPr>
          <p:cNvPr id="12" name="Image 2" descr="preencoded.png"/>
          <p:cNvPicPr>
            <a:picLocks noChangeAspect="1"/>
          </p:cNvPicPr>
          <p:nvPr/>
        </p:nvPicPr>
        <p:blipFill>
          <a:blip r:embed="rId4"/>
          <a:stretch>
            <a:fillRect/>
          </a:stretch>
        </p:blipFill>
        <p:spPr>
          <a:xfrm>
            <a:off x="502920" y="2322576"/>
            <a:ext cx="292608" cy="292608"/>
          </a:xfrm>
          <a:prstGeom prst="rect">
            <a:avLst/>
          </a:prstGeom>
        </p:spPr>
      </p:pic>
      <p:sp>
        <p:nvSpPr>
          <p:cNvPr id="13" name="Text 8"/>
          <p:cNvSpPr/>
          <p:nvPr/>
        </p:nvSpPr>
        <p:spPr>
          <a:xfrm>
            <a:off x="914400" y="2267712"/>
            <a:ext cx="2926080" cy="365760"/>
          </a:xfrm>
          <a:prstGeom prst="rect">
            <a:avLst/>
          </a:prstGeom>
          <a:noFill/>
          <a:ln/>
        </p:spPr>
        <p:txBody>
          <a:bodyPr wrap="square" lIns="0" tIns="0" rIns="0" bIns="0" rtlCol="0" anchor="ctr"/>
          <a:lstStyle/>
          <a:p>
            <a:pPr marL="0" indent="0">
              <a:buNone/>
            </a:pPr>
            <a:r>
              <a:rPr lang="en-US" sz="1600" b="1" dirty="0">
                <a:solidFill>
                  <a:srgbClr val="111111"/>
                </a:solidFill>
                <a:latin typeface="Oswald" pitchFamily="34" charset="0"/>
                <a:ea typeface="Oswald" pitchFamily="34" charset="-122"/>
                <a:cs typeface="Oswald" pitchFamily="34" charset="-120"/>
              </a:rPr>
              <a:t>jq-style inline</a:t>
            </a:r>
            <a:endParaRPr lang="en-US" sz="1600" dirty="0"/>
          </a:p>
        </p:txBody>
      </p:sp>
      <p:sp>
        <p:nvSpPr>
          <p:cNvPr id="14" name="Text 9"/>
          <p:cNvSpPr/>
          <p:nvPr/>
        </p:nvSpPr>
        <p:spPr>
          <a:xfrm>
            <a:off x="914400" y="2615184"/>
            <a:ext cx="4572000" cy="320040"/>
          </a:xfrm>
          <a:prstGeom prst="rect">
            <a:avLst/>
          </a:prstGeom>
          <a:noFill/>
          <a:ln/>
        </p:spPr>
        <p:txBody>
          <a:bodyPr wrap="square" lIns="0" tIns="0" rIns="0" bIns="0" rtlCol="0" anchor="ctr"/>
          <a:lstStyle/>
          <a:p>
            <a:pPr marL="0" indent="0">
              <a:buNone/>
            </a:pPr>
            <a:r>
              <a:rPr lang="en-US" sz="1200" dirty="0">
                <a:solidFill>
                  <a:srgbClr val="4A4A4A"/>
                </a:solidFill>
                <a:latin typeface="Inter Tight" pitchFamily="34" charset="0"/>
                <a:ea typeface="Inter Tight" pitchFamily="34" charset="-122"/>
                <a:cs typeface="Inter Tight" pitchFamily="34" charset="-120"/>
              </a:rPr>
              <a:t>utlx -e '.customer.name' -r</a:t>
            </a:r>
            <a:endParaRPr lang="en-US" sz="1200" dirty="0"/>
          </a:p>
        </p:txBody>
      </p:sp>
      <p:pic>
        <p:nvPicPr>
          <p:cNvPr id="15" name="Image 3" descr="preencoded.png"/>
          <p:cNvPicPr>
            <a:picLocks noChangeAspect="1"/>
          </p:cNvPicPr>
          <p:nvPr/>
        </p:nvPicPr>
        <p:blipFill>
          <a:blip r:embed="rId4"/>
          <a:stretch>
            <a:fillRect/>
          </a:stretch>
        </p:blipFill>
        <p:spPr>
          <a:xfrm>
            <a:off x="502920" y="3072384"/>
            <a:ext cx="292608" cy="292608"/>
          </a:xfrm>
          <a:prstGeom prst="rect">
            <a:avLst/>
          </a:prstGeom>
        </p:spPr>
      </p:pic>
      <p:sp>
        <p:nvSpPr>
          <p:cNvPr id="16" name="Text 10"/>
          <p:cNvSpPr/>
          <p:nvPr/>
        </p:nvSpPr>
        <p:spPr>
          <a:xfrm>
            <a:off x="914400" y="3017520"/>
            <a:ext cx="2926080" cy="365760"/>
          </a:xfrm>
          <a:prstGeom prst="rect">
            <a:avLst/>
          </a:prstGeom>
          <a:noFill/>
          <a:ln/>
        </p:spPr>
        <p:txBody>
          <a:bodyPr wrap="square" lIns="0" tIns="0" rIns="0" bIns="0" rtlCol="0" anchor="ctr"/>
          <a:lstStyle/>
          <a:p>
            <a:pPr marL="0" indent="0">
              <a:buNone/>
            </a:pPr>
            <a:r>
              <a:rPr lang="en-US" sz="1600" b="1" dirty="0">
                <a:solidFill>
                  <a:srgbClr val="111111"/>
                </a:solidFill>
                <a:latin typeface="Oswald" pitchFamily="34" charset="0"/>
                <a:ea typeface="Oswald" pitchFamily="34" charset="-122"/>
                <a:cs typeface="Oswald" pitchFamily="34" charset="-120"/>
              </a:rPr>
              <a:t>Instant conversion</a:t>
            </a:r>
            <a:endParaRPr lang="en-US" sz="1600" dirty="0"/>
          </a:p>
        </p:txBody>
      </p:sp>
      <p:sp>
        <p:nvSpPr>
          <p:cNvPr id="17" name="Text 11"/>
          <p:cNvSpPr/>
          <p:nvPr/>
        </p:nvSpPr>
        <p:spPr>
          <a:xfrm>
            <a:off x="914400" y="3364992"/>
            <a:ext cx="4572000" cy="320040"/>
          </a:xfrm>
          <a:prstGeom prst="rect">
            <a:avLst/>
          </a:prstGeom>
          <a:noFill/>
          <a:ln/>
        </p:spPr>
        <p:txBody>
          <a:bodyPr wrap="square" lIns="0" tIns="0" rIns="0" bIns="0" rtlCol="0" anchor="ctr"/>
          <a:lstStyle/>
          <a:p>
            <a:pPr marL="0" indent="0">
              <a:buNone/>
            </a:pPr>
            <a:r>
              <a:rPr lang="en-US" sz="1200" dirty="0">
                <a:solidFill>
                  <a:srgbClr val="4A4A4A"/>
                </a:solidFill>
                <a:latin typeface="Inter Tight" pitchFamily="34" charset="0"/>
                <a:ea typeface="Inter Tight" pitchFamily="34" charset="-122"/>
                <a:cs typeface="Inter Tight" pitchFamily="34" charset="-120"/>
              </a:rPr>
              <a:t>cat data.xml | utlx --output json</a:t>
            </a:r>
            <a:endParaRPr lang="en-US" sz="1200" dirty="0"/>
          </a:p>
        </p:txBody>
      </p:sp>
      <p:pic>
        <p:nvPicPr>
          <p:cNvPr id="18" name="Image 4" descr="preencoded.png"/>
          <p:cNvPicPr>
            <a:picLocks noChangeAspect="1"/>
          </p:cNvPicPr>
          <p:nvPr/>
        </p:nvPicPr>
        <p:blipFill>
          <a:blip r:embed="rId4"/>
          <a:stretch>
            <a:fillRect/>
          </a:stretch>
        </p:blipFill>
        <p:spPr>
          <a:xfrm>
            <a:off x="502920" y="3822192"/>
            <a:ext cx="292608" cy="292608"/>
          </a:xfrm>
          <a:prstGeom prst="rect">
            <a:avLst/>
          </a:prstGeom>
        </p:spPr>
      </p:pic>
      <p:sp>
        <p:nvSpPr>
          <p:cNvPr id="19" name="Text 12"/>
          <p:cNvSpPr/>
          <p:nvPr/>
        </p:nvSpPr>
        <p:spPr>
          <a:xfrm>
            <a:off x="914400" y="3767328"/>
            <a:ext cx="2926080" cy="365760"/>
          </a:xfrm>
          <a:prstGeom prst="rect">
            <a:avLst/>
          </a:prstGeom>
          <a:noFill/>
          <a:ln/>
        </p:spPr>
        <p:txBody>
          <a:bodyPr wrap="square" lIns="0" tIns="0" rIns="0" bIns="0" rtlCol="0" anchor="ctr"/>
          <a:lstStyle/>
          <a:p>
            <a:pPr marL="0" indent="0">
              <a:buNone/>
            </a:pPr>
            <a:r>
              <a:rPr lang="en-US" sz="1600" b="1" dirty="0">
                <a:solidFill>
                  <a:srgbClr val="111111"/>
                </a:solidFill>
                <a:latin typeface="Oswald" pitchFamily="34" charset="0"/>
                <a:ea typeface="Oswald" pitchFamily="34" charset="-122"/>
                <a:cs typeface="Oswald" pitchFamily="34" charset="-120"/>
              </a:rPr>
              <a:t>CI/CD friendly</a:t>
            </a:r>
            <a:endParaRPr lang="en-US" sz="1600" dirty="0"/>
          </a:p>
        </p:txBody>
      </p:sp>
      <p:sp>
        <p:nvSpPr>
          <p:cNvPr id="20" name="Text 13"/>
          <p:cNvSpPr/>
          <p:nvPr/>
        </p:nvSpPr>
        <p:spPr>
          <a:xfrm>
            <a:off x="914400" y="4114800"/>
            <a:ext cx="4572000" cy="320040"/>
          </a:xfrm>
          <a:prstGeom prst="rect">
            <a:avLst/>
          </a:prstGeom>
          <a:noFill/>
          <a:ln/>
        </p:spPr>
        <p:txBody>
          <a:bodyPr wrap="square" lIns="0" tIns="0" rIns="0" bIns="0" rtlCol="0" anchor="ctr"/>
          <a:lstStyle/>
          <a:p>
            <a:pPr marL="0" indent="0">
              <a:buNone/>
            </a:pPr>
            <a:r>
              <a:rPr lang="en-US" sz="1200" dirty="0">
                <a:solidFill>
                  <a:srgbClr val="4A4A4A"/>
                </a:solidFill>
                <a:latin typeface="Inter Tight" pitchFamily="34" charset="0"/>
                <a:ea typeface="Inter Tight" pitchFamily="34" charset="-122"/>
                <a:cs typeface="Inter Tight" pitchFamily="34" charset="-120"/>
              </a:rPr>
              <a:t>stateless, scriptable, exit-code aware</a:t>
            </a:r>
            <a:endParaRPr lang="en-US" sz="1200" dirty="0"/>
          </a:p>
        </p:txBody>
      </p:sp>
      <p:sp>
        <p:nvSpPr>
          <p:cNvPr id="21" name="Shape 14"/>
          <p:cNvSpPr/>
          <p:nvPr/>
        </p:nvSpPr>
        <p:spPr>
          <a:xfrm>
            <a:off x="5223409" y="1554480"/>
            <a:ext cx="3463391" cy="2880360"/>
          </a:xfrm>
          <a:prstGeom prst="rect">
            <a:avLst/>
          </a:prstGeom>
          <a:solidFill>
            <a:srgbClr val="151515"/>
          </a:solidFill>
          <a:ln w="12700">
            <a:solidFill>
              <a:srgbClr val="151515"/>
            </a:solidFill>
            <a:prstDash val="solid"/>
          </a:ln>
          <a:effectLst>
            <a:outerShdw blurRad="88900" dist="38100" dir="8100000" algn="bl" rotWithShape="0">
              <a:srgbClr val="000000">
                <a:alpha val="10000"/>
              </a:srgbClr>
            </a:outerShdw>
          </a:effectLst>
        </p:spPr>
        <p:txBody>
          <a:bodyPr/>
          <a:lstStyle/>
          <a:p>
            <a:endParaRPr lang="en-US"/>
          </a:p>
        </p:txBody>
      </p:sp>
      <p:sp>
        <p:nvSpPr>
          <p:cNvPr id="22" name="Text 15"/>
          <p:cNvSpPr/>
          <p:nvPr/>
        </p:nvSpPr>
        <p:spPr>
          <a:xfrm>
            <a:off x="5358144" y="1691640"/>
            <a:ext cx="2560320" cy="274320"/>
          </a:xfrm>
          <a:prstGeom prst="rect">
            <a:avLst/>
          </a:prstGeom>
          <a:noFill/>
          <a:ln/>
        </p:spPr>
        <p:txBody>
          <a:bodyPr wrap="square" lIns="0" tIns="0" rIns="0" bIns="0" rtlCol="0" anchor="ctr"/>
          <a:lstStyle/>
          <a:p>
            <a:pPr marL="0" indent="0">
              <a:buNone/>
            </a:pPr>
            <a:r>
              <a:rPr lang="en-US" sz="1050" b="1" kern="0" spc="200" dirty="0">
                <a:solidFill>
                  <a:srgbClr val="FF8A8A"/>
                </a:solidFill>
                <a:latin typeface="Oswald" pitchFamily="34" charset="0"/>
                <a:ea typeface="Oswald" pitchFamily="34" charset="-122"/>
                <a:cs typeface="Oswald" pitchFamily="34" charset="-120"/>
              </a:rPr>
              <a:t>INSTALL</a:t>
            </a:r>
            <a:endParaRPr lang="en-US" sz="1050" dirty="0"/>
          </a:p>
        </p:txBody>
      </p:sp>
      <p:sp>
        <p:nvSpPr>
          <p:cNvPr id="23" name="Text 16"/>
          <p:cNvSpPr/>
          <p:nvPr/>
        </p:nvSpPr>
        <p:spPr>
          <a:xfrm>
            <a:off x="5358144" y="2057400"/>
            <a:ext cx="3282936" cy="2286000"/>
          </a:xfrm>
          <a:prstGeom prst="rect">
            <a:avLst/>
          </a:prstGeom>
          <a:noFill/>
          <a:ln/>
        </p:spPr>
        <p:txBody>
          <a:bodyPr wrap="square" lIns="0" tIns="0" rIns="0" bIns="0" rtlCol="0" anchor="t"/>
          <a:lstStyle/>
          <a:p>
            <a:pPr marL="0" indent="0">
              <a:lnSpc>
                <a:spcPct val="115000"/>
              </a:lnSpc>
              <a:buNone/>
            </a:pPr>
            <a:r>
              <a:rPr lang="en-US" sz="1100" dirty="0">
                <a:solidFill>
                  <a:srgbClr val="6A737D"/>
                </a:solidFill>
                <a:latin typeface="Consolas" pitchFamily="34" charset="0"/>
                <a:ea typeface="Consolas" pitchFamily="34" charset="-122"/>
                <a:cs typeface="Consolas" pitchFamily="34" charset="-120"/>
              </a:rPr>
              <a:t># macOS</a:t>
            </a:r>
            <a:endParaRPr lang="en-US" sz="1100" dirty="0"/>
          </a:p>
          <a:p>
            <a:pPr marL="0" indent="0">
              <a:lnSpc>
                <a:spcPct val="115000"/>
              </a:lnSpc>
              <a:buNone/>
            </a:pPr>
            <a:r>
              <a:rPr lang="en-US" sz="1100" dirty="0">
                <a:solidFill>
                  <a:srgbClr val="E6E6E6"/>
                </a:solidFill>
                <a:latin typeface="Consolas" pitchFamily="34" charset="0"/>
                <a:ea typeface="Consolas" pitchFamily="34" charset="-122"/>
                <a:cs typeface="Consolas" pitchFamily="34" charset="-120"/>
              </a:rPr>
              <a:t>brew tap grauwen/utlx</a:t>
            </a:r>
            <a:endParaRPr lang="en-US" sz="1100" dirty="0"/>
          </a:p>
          <a:p>
            <a:pPr marL="0" indent="0">
              <a:lnSpc>
                <a:spcPct val="115000"/>
              </a:lnSpc>
              <a:buNone/>
            </a:pPr>
            <a:r>
              <a:rPr lang="en-US" sz="1100" dirty="0">
                <a:solidFill>
                  <a:srgbClr val="E6E6E6"/>
                </a:solidFill>
                <a:latin typeface="Consolas" pitchFamily="34" charset="0"/>
                <a:ea typeface="Consolas" pitchFamily="34" charset="-122"/>
                <a:cs typeface="Consolas" pitchFamily="34" charset="-120"/>
              </a:rPr>
              <a:t>brew install utlx</a:t>
            </a:r>
            <a:endParaRPr lang="en-US" sz="1100" dirty="0"/>
          </a:p>
          <a:p>
            <a:pPr marL="0" indent="0">
              <a:lnSpc>
                <a:spcPct val="115000"/>
              </a:lnSpc>
              <a:buNone/>
            </a:pPr>
            <a:r>
              <a:rPr lang="en-US" sz="600" dirty="0">
                <a:solidFill>
                  <a:srgbClr val="000000"/>
                </a:solidFill>
                <a:latin typeface="Consolas" pitchFamily="34" charset="0"/>
                <a:ea typeface="Consolas" pitchFamily="34" charset="-122"/>
                <a:cs typeface="Consolas" pitchFamily="34" charset="-120"/>
              </a:rPr>
              <a:t> </a:t>
            </a:r>
            <a:endParaRPr lang="en-US" sz="1100" dirty="0"/>
          </a:p>
          <a:p>
            <a:pPr marL="0" indent="0">
              <a:lnSpc>
                <a:spcPct val="115000"/>
              </a:lnSpc>
              <a:buNone/>
            </a:pPr>
            <a:r>
              <a:rPr lang="en-US" sz="1100" dirty="0">
                <a:solidFill>
                  <a:srgbClr val="6A737D"/>
                </a:solidFill>
                <a:latin typeface="Consolas" pitchFamily="34" charset="0"/>
                <a:ea typeface="Consolas" pitchFamily="34" charset="-122"/>
                <a:cs typeface="Consolas" pitchFamily="34" charset="-120"/>
              </a:rPr>
              <a:t># Windows</a:t>
            </a:r>
            <a:endParaRPr lang="en-US" sz="1100" dirty="0"/>
          </a:p>
          <a:p>
            <a:pPr marL="0" indent="0">
              <a:lnSpc>
                <a:spcPct val="115000"/>
              </a:lnSpc>
              <a:buNone/>
            </a:pPr>
            <a:r>
              <a:rPr lang="en-US" sz="1100" dirty="0">
                <a:solidFill>
                  <a:srgbClr val="E6E6E6"/>
                </a:solidFill>
                <a:latin typeface="Consolas" pitchFamily="34" charset="0"/>
                <a:ea typeface="Consolas" pitchFamily="34" charset="-122"/>
                <a:cs typeface="Consolas" pitchFamily="34" charset="-120"/>
              </a:rPr>
              <a:t>choco install utlx</a:t>
            </a:r>
            <a:endParaRPr lang="en-US" sz="1100" dirty="0"/>
          </a:p>
          <a:p>
            <a:pPr marL="0" indent="0">
              <a:lnSpc>
                <a:spcPct val="115000"/>
              </a:lnSpc>
              <a:buNone/>
            </a:pPr>
            <a:r>
              <a:rPr lang="en-US" sz="600" dirty="0">
                <a:solidFill>
                  <a:srgbClr val="000000"/>
                </a:solidFill>
                <a:latin typeface="Consolas" pitchFamily="34" charset="0"/>
                <a:ea typeface="Consolas" pitchFamily="34" charset="-122"/>
                <a:cs typeface="Consolas" pitchFamily="34" charset="-120"/>
              </a:rPr>
              <a:t> </a:t>
            </a:r>
            <a:endParaRPr lang="en-US" sz="1100" dirty="0"/>
          </a:p>
          <a:p>
            <a:pPr marL="0" indent="0">
              <a:lnSpc>
                <a:spcPct val="115000"/>
              </a:lnSpc>
              <a:buNone/>
            </a:pPr>
            <a:r>
              <a:rPr lang="en-US" sz="1100" dirty="0">
                <a:solidFill>
                  <a:srgbClr val="6A737D"/>
                </a:solidFill>
                <a:latin typeface="Consolas" pitchFamily="34" charset="0"/>
                <a:ea typeface="Consolas" pitchFamily="34" charset="-122"/>
                <a:cs typeface="Consolas" pitchFamily="34" charset="-120"/>
              </a:rPr>
              <a:t># Linux</a:t>
            </a:r>
            <a:endParaRPr lang="en-US" sz="1100" dirty="0"/>
          </a:p>
          <a:p>
            <a:pPr marL="0" indent="0">
              <a:lnSpc>
                <a:spcPct val="115000"/>
              </a:lnSpc>
              <a:buNone/>
            </a:pPr>
            <a:r>
              <a:rPr lang="en-US" sz="1100" dirty="0">
                <a:solidFill>
                  <a:srgbClr val="E6E6E6"/>
                </a:solidFill>
                <a:latin typeface="Consolas" pitchFamily="34" charset="0"/>
                <a:ea typeface="Consolas" pitchFamily="34" charset="-122"/>
                <a:cs typeface="Consolas" pitchFamily="34" charset="-120"/>
              </a:rPr>
              <a:t>curl -L https://github.com/grauwen/utl-x/releases/latest/download/utlx-linux-x64.bin -o utlx</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10</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02 · utlxd</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A full IDE for transformations</a:t>
            </a:r>
            <a:endParaRPr lang="en-US" sz="3100" dirty="0"/>
          </a:p>
        </p:txBody>
      </p:sp>
      <p:sp>
        <p:nvSpPr>
          <p:cNvPr id="8" name="Shape 6"/>
          <p:cNvSpPr/>
          <p:nvPr/>
        </p:nvSpPr>
        <p:spPr>
          <a:xfrm>
            <a:off x="457200" y="1545336"/>
            <a:ext cx="109728" cy="457200"/>
          </a:xfrm>
          <a:prstGeom prst="rect">
            <a:avLst/>
          </a:prstGeom>
          <a:solidFill>
            <a:srgbClr val="CB0017"/>
          </a:solidFill>
          <a:ln w="12700">
            <a:solidFill>
              <a:srgbClr val="CB0017"/>
            </a:solidFill>
            <a:prstDash val="solid"/>
          </a:ln>
        </p:spPr>
        <p:txBody>
          <a:bodyPr/>
          <a:lstStyle/>
          <a:p>
            <a:endParaRPr lang="en-US"/>
          </a:p>
        </p:txBody>
      </p:sp>
      <p:sp>
        <p:nvSpPr>
          <p:cNvPr id="9" name="Text 7"/>
          <p:cNvSpPr/>
          <p:nvPr/>
        </p:nvSpPr>
        <p:spPr>
          <a:xfrm>
            <a:off x="713232" y="1481328"/>
            <a:ext cx="7863840" cy="310896"/>
          </a:xfrm>
          <a:prstGeom prst="rect">
            <a:avLst/>
          </a:prstGeom>
          <a:noFill/>
          <a:ln/>
        </p:spPr>
        <p:txBody>
          <a:bodyPr wrap="square" lIns="0" tIns="0" rIns="0" bIns="0" rtlCol="0" anchor="ctr"/>
          <a:lstStyle/>
          <a:p>
            <a:pPr marL="0" indent="0">
              <a:buNone/>
            </a:pPr>
            <a:r>
              <a:rPr lang="en-US" sz="1600" b="1" dirty="0">
                <a:solidFill>
                  <a:srgbClr val="111111"/>
                </a:solidFill>
                <a:latin typeface="Oswald" pitchFamily="34" charset="0"/>
                <a:ea typeface="Oswald" pitchFamily="34" charset="-122"/>
                <a:cs typeface="Oswald" pitchFamily="34" charset="-120"/>
              </a:rPr>
              <a:t>Theia-based</a:t>
            </a:r>
            <a:endParaRPr lang="en-US" sz="1600" dirty="0"/>
          </a:p>
        </p:txBody>
      </p:sp>
      <p:sp>
        <p:nvSpPr>
          <p:cNvPr id="10" name="Text 8"/>
          <p:cNvSpPr/>
          <p:nvPr/>
        </p:nvSpPr>
        <p:spPr>
          <a:xfrm>
            <a:off x="713232" y="1783080"/>
            <a:ext cx="786384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VS Code-compatible — Electron or hosted in the browser</a:t>
            </a:r>
            <a:endParaRPr lang="en-US" sz="1250" dirty="0"/>
          </a:p>
        </p:txBody>
      </p:sp>
      <p:sp>
        <p:nvSpPr>
          <p:cNvPr id="11" name="Shape 9"/>
          <p:cNvSpPr/>
          <p:nvPr/>
        </p:nvSpPr>
        <p:spPr>
          <a:xfrm>
            <a:off x="457200" y="2176272"/>
            <a:ext cx="109728" cy="457200"/>
          </a:xfrm>
          <a:prstGeom prst="rect">
            <a:avLst/>
          </a:prstGeom>
          <a:solidFill>
            <a:srgbClr val="CB0017"/>
          </a:solidFill>
          <a:ln w="12700">
            <a:solidFill>
              <a:srgbClr val="CB0017"/>
            </a:solidFill>
            <a:prstDash val="solid"/>
          </a:ln>
        </p:spPr>
        <p:txBody>
          <a:bodyPr/>
          <a:lstStyle/>
          <a:p>
            <a:endParaRPr lang="en-US"/>
          </a:p>
        </p:txBody>
      </p:sp>
      <p:sp>
        <p:nvSpPr>
          <p:cNvPr id="12" name="Text 10"/>
          <p:cNvSpPr/>
          <p:nvPr/>
        </p:nvSpPr>
        <p:spPr>
          <a:xfrm>
            <a:off x="713232" y="2112264"/>
            <a:ext cx="7863840" cy="310896"/>
          </a:xfrm>
          <a:prstGeom prst="rect">
            <a:avLst/>
          </a:prstGeom>
          <a:noFill/>
          <a:ln/>
        </p:spPr>
        <p:txBody>
          <a:bodyPr wrap="square" lIns="0" tIns="0" rIns="0" bIns="0" rtlCol="0" anchor="ctr"/>
          <a:lstStyle/>
          <a:p>
            <a:pPr marL="0" indent="0">
              <a:buNone/>
            </a:pPr>
            <a:r>
              <a:rPr lang="en-US" sz="1600" b="1" dirty="0">
                <a:solidFill>
                  <a:srgbClr val="111111"/>
                </a:solidFill>
                <a:latin typeface="Oswald" pitchFamily="34" charset="0"/>
                <a:ea typeface="Oswald" pitchFamily="34" charset="-122"/>
                <a:cs typeface="Oswald" pitchFamily="34" charset="-120"/>
              </a:rPr>
              <a:t>Execution mode</a:t>
            </a:r>
            <a:endParaRPr lang="en-US" sz="1600" dirty="0"/>
          </a:p>
        </p:txBody>
      </p:sp>
      <p:sp>
        <p:nvSpPr>
          <p:cNvPr id="13" name="Text 11"/>
          <p:cNvSpPr/>
          <p:nvPr/>
        </p:nvSpPr>
        <p:spPr>
          <a:xfrm>
            <a:off x="713232" y="2414016"/>
            <a:ext cx="786384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Three panels: input(s) · UTLX transformation editor · (live) output, side by side</a:t>
            </a:r>
            <a:endParaRPr lang="en-US" sz="1250" dirty="0"/>
          </a:p>
        </p:txBody>
      </p:sp>
      <p:sp>
        <p:nvSpPr>
          <p:cNvPr id="14" name="Shape 12"/>
          <p:cNvSpPr/>
          <p:nvPr/>
        </p:nvSpPr>
        <p:spPr>
          <a:xfrm>
            <a:off x="457200" y="2807208"/>
            <a:ext cx="109728" cy="457200"/>
          </a:xfrm>
          <a:prstGeom prst="rect">
            <a:avLst/>
          </a:prstGeom>
          <a:solidFill>
            <a:srgbClr val="CB0017"/>
          </a:solidFill>
          <a:ln w="12700">
            <a:solidFill>
              <a:srgbClr val="CB0017"/>
            </a:solidFill>
            <a:prstDash val="solid"/>
          </a:ln>
        </p:spPr>
        <p:txBody>
          <a:bodyPr/>
          <a:lstStyle/>
          <a:p>
            <a:endParaRPr lang="en-US"/>
          </a:p>
        </p:txBody>
      </p:sp>
      <p:sp>
        <p:nvSpPr>
          <p:cNvPr id="15" name="Text 13"/>
          <p:cNvSpPr/>
          <p:nvPr/>
        </p:nvSpPr>
        <p:spPr>
          <a:xfrm>
            <a:off x="713232" y="2743200"/>
            <a:ext cx="7863840" cy="310896"/>
          </a:xfrm>
          <a:prstGeom prst="rect">
            <a:avLst/>
          </a:prstGeom>
          <a:noFill/>
          <a:ln/>
        </p:spPr>
        <p:txBody>
          <a:bodyPr wrap="square" lIns="0" tIns="0" rIns="0" bIns="0" rtlCol="0" anchor="ctr"/>
          <a:lstStyle/>
          <a:p>
            <a:pPr marL="0" indent="0">
              <a:buNone/>
            </a:pPr>
            <a:r>
              <a:rPr lang="en-US" sz="1600" b="1" dirty="0">
                <a:solidFill>
                  <a:srgbClr val="111111"/>
                </a:solidFill>
                <a:latin typeface="Oswald" pitchFamily="34" charset="0"/>
                <a:ea typeface="Oswald" pitchFamily="34" charset="-122"/>
                <a:cs typeface="Oswald" pitchFamily="34" charset="-120"/>
              </a:rPr>
              <a:t>Message Contract mode</a:t>
            </a:r>
            <a:endParaRPr lang="en-US" sz="1600" dirty="0"/>
          </a:p>
        </p:txBody>
      </p:sp>
      <p:sp>
        <p:nvSpPr>
          <p:cNvPr id="16" name="Text 14"/>
          <p:cNvSpPr/>
          <p:nvPr/>
        </p:nvSpPr>
        <p:spPr>
          <a:xfrm>
            <a:off x="713232" y="3044952"/>
            <a:ext cx="786384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Schema-driven mapping with a UDM tree browser</a:t>
            </a:r>
            <a:endParaRPr lang="en-US" sz="1250" dirty="0"/>
          </a:p>
        </p:txBody>
      </p:sp>
      <p:sp>
        <p:nvSpPr>
          <p:cNvPr id="17" name="Shape 15"/>
          <p:cNvSpPr/>
          <p:nvPr/>
        </p:nvSpPr>
        <p:spPr>
          <a:xfrm>
            <a:off x="457200" y="3438144"/>
            <a:ext cx="109728" cy="457200"/>
          </a:xfrm>
          <a:prstGeom prst="rect">
            <a:avLst/>
          </a:prstGeom>
          <a:solidFill>
            <a:srgbClr val="CB0017"/>
          </a:solidFill>
          <a:ln w="12700">
            <a:solidFill>
              <a:srgbClr val="CB0017"/>
            </a:solidFill>
            <a:prstDash val="solid"/>
          </a:ln>
        </p:spPr>
        <p:txBody>
          <a:bodyPr/>
          <a:lstStyle/>
          <a:p>
            <a:endParaRPr lang="en-US"/>
          </a:p>
        </p:txBody>
      </p:sp>
      <p:sp>
        <p:nvSpPr>
          <p:cNvPr id="18" name="Text 16"/>
          <p:cNvSpPr/>
          <p:nvPr/>
        </p:nvSpPr>
        <p:spPr>
          <a:xfrm>
            <a:off x="713232" y="3374136"/>
            <a:ext cx="7863840" cy="310896"/>
          </a:xfrm>
          <a:prstGeom prst="rect">
            <a:avLst/>
          </a:prstGeom>
          <a:noFill/>
          <a:ln/>
        </p:spPr>
        <p:txBody>
          <a:bodyPr wrap="square" lIns="0" tIns="0" rIns="0" bIns="0" rtlCol="0" anchor="ctr"/>
          <a:lstStyle/>
          <a:p>
            <a:pPr marL="0" indent="0">
              <a:buNone/>
            </a:pPr>
            <a:r>
              <a:rPr lang="en-US" sz="1600" b="1" dirty="0">
                <a:solidFill>
                  <a:srgbClr val="111111"/>
                </a:solidFill>
                <a:latin typeface="Oswald" pitchFamily="34" charset="0"/>
                <a:ea typeface="Oswald" pitchFamily="34" charset="-122"/>
                <a:cs typeface="Oswald" pitchFamily="34" charset="-120"/>
              </a:rPr>
              <a:t>LSP + built-in MCP server</a:t>
            </a:r>
            <a:endParaRPr lang="en-US" sz="1600" dirty="0"/>
          </a:p>
        </p:txBody>
      </p:sp>
      <p:sp>
        <p:nvSpPr>
          <p:cNvPr id="19" name="Text 17"/>
          <p:cNvSpPr/>
          <p:nvPr/>
        </p:nvSpPr>
        <p:spPr>
          <a:xfrm>
            <a:off x="713232" y="3675888"/>
            <a:ext cx="786384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Language intelligence — and AI tools can drive it</a:t>
            </a:r>
            <a:endParaRPr lang="en-US" sz="1250" dirty="0"/>
          </a:p>
        </p:txBody>
      </p:sp>
      <p:sp>
        <p:nvSpPr>
          <p:cNvPr id="20" name="Shape 18"/>
          <p:cNvSpPr/>
          <p:nvPr/>
        </p:nvSpPr>
        <p:spPr>
          <a:xfrm>
            <a:off x="457200" y="4069080"/>
            <a:ext cx="109728" cy="457200"/>
          </a:xfrm>
          <a:prstGeom prst="rect">
            <a:avLst/>
          </a:prstGeom>
          <a:solidFill>
            <a:srgbClr val="CB0017"/>
          </a:solidFill>
          <a:ln w="12700">
            <a:solidFill>
              <a:srgbClr val="CB0017"/>
            </a:solidFill>
            <a:prstDash val="solid"/>
          </a:ln>
        </p:spPr>
        <p:txBody>
          <a:bodyPr/>
          <a:lstStyle/>
          <a:p>
            <a:endParaRPr lang="en-US"/>
          </a:p>
        </p:txBody>
      </p:sp>
      <p:sp>
        <p:nvSpPr>
          <p:cNvPr id="21" name="Text 19"/>
          <p:cNvSpPr/>
          <p:nvPr/>
        </p:nvSpPr>
        <p:spPr>
          <a:xfrm>
            <a:off x="713232" y="4005072"/>
            <a:ext cx="7863840" cy="310896"/>
          </a:xfrm>
          <a:prstGeom prst="rect">
            <a:avLst/>
          </a:prstGeom>
          <a:noFill/>
          <a:ln/>
        </p:spPr>
        <p:txBody>
          <a:bodyPr wrap="square" lIns="0" tIns="0" rIns="0" bIns="0" rtlCol="0" anchor="ctr"/>
          <a:lstStyle/>
          <a:p>
            <a:pPr marL="0" indent="0">
              <a:buNone/>
            </a:pPr>
            <a:r>
              <a:rPr lang="en-US" sz="1600" b="1" dirty="0">
                <a:solidFill>
                  <a:srgbClr val="111111"/>
                </a:solidFill>
                <a:latin typeface="Oswald" pitchFamily="34" charset="0"/>
                <a:ea typeface="Oswald" pitchFamily="34" charset="-122"/>
                <a:cs typeface="Oswald" pitchFamily="34" charset="-120"/>
              </a:rPr>
              <a:t>AI Contract Coverage</a:t>
            </a:r>
            <a:endParaRPr lang="en-US" sz="1600" dirty="0"/>
          </a:p>
        </p:txBody>
      </p:sp>
      <p:sp>
        <p:nvSpPr>
          <p:cNvPr id="22" name="Text 20"/>
          <p:cNvSpPr/>
          <p:nvPr/>
        </p:nvSpPr>
        <p:spPr>
          <a:xfrm>
            <a:off x="713232" y="4306824"/>
            <a:ext cx="786384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Instantly shows if a mapping is possible, and pinpoints gaps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640080" y="1417320"/>
            <a:ext cx="8229600" cy="457200"/>
          </a:xfrm>
          <a:prstGeom prst="rect">
            <a:avLst/>
          </a:prstGeom>
          <a:noFill/>
          <a:ln/>
        </p:spPr>
        <p:txBody>
          <a:bodyPr wrap="square" lIns="0" tIns="0" rIns="0" bIns="0" rtlCol="0" anchor="ctr"/>
          <a:lstStyle/>
          <a:p>
            <a:pPr marL="0" indent="0">
              <a:buNone/>
            </a:pPr>
            <a:r>
              <a:rPr lang="en-US" sz="1600" b="1" kern="0" spc="500" dirty="0">
                <a:solidFill>
                  <a:srgbClr val="CB0017"/>
                </a:solidFill>
                <a:latin typeface="Oswald" pitchFamily="34" charset="0"/>
                <a:ea typeface="Oswald" pitchFamily="34" charset="-122"/>
                <a:cs typeface="Oswald" pitchFamily="34" charset="-120"/>
              </a:rPr>
              <a:t>LIVE DEMO</a:t>
            </a:r>
            <a:endParaRPr lang="en-US" sz="1600" dirty="0"/>
          </a:p>
        </p:txBody>
      </p:sp>
      <p:sp>
        <p:nvSpPr>
          <p:cNvPr id="4" name="Text 2"/>
          <p:cNvSpPr/>
          <p:nvPr/>
        </p:nvSpPr>
        <p:spPr>
          <a:xfrm>
            <a:off x="603504" y="1828800"/>
            <a:ext cx="8229600" cy="1005840"/>
          </a:xfrm>
          <a:prstGeom prst="rect">
            <a:avLst/>
          </a:prstGeom>
          <a:noFill/>
          <a:ln/>
        </p:spPr>
        <p:txBody>
          <a:bodyPr wrap="square" lIns="0" tIns="0" rIns="0" bIns="0" rtlCol="0" anchor="ctr"/>
          <a:lstStyle/>
          <a:p>
            <a:pPr marL="0" indent="0">
              <a:buNone/>
            </a:pPr>
            <a:r>
              <a:rPr lang="en-US" sz="6200" b="1" dirty="0">
                <a:solidFill>
                  <a:srgbClr val="111111"/>
                </a:solidFill>
                <a:latin typeface="Oswald" pitchFamily="34" charset="0"/>
                <a:ea typeface="Oswald" pitchFamily="34" charset="-122"/>
                <a:cs typeface="Oswald" pitchFamily="34" charset="-120"/>
              </a:rPr>
              <a:t>utlx CLI &amp; IDE in action</a:t>
            </a:r>
            <a:endParaRPr lang="en-US" sz="6200" dirty="0"/>
          </a:p>
        </p:txBody>
      </p:sp>
      <p:sp>
        <p:nvSpPr>
          <p:cNvPr id="5" name="Shape 3"/>
          <p:cNvSpPr/>
          <p:nvPr/>
        </p:nvSpPr>
        <p:spPr>
          <a:xfrm>
            <a:off x="640080" y="2926080"/>
            <a:ext cx="3657600" cy="45720"/>
          </a:xfrm>
          <a:prstGeom prst="rect">
            <a:avLst/>
          </a:prstGeom>
          <a:solidFill>
            <a:srgbClr val="CB0017"/>
          </a:solidFill>
          <a:ln w="12700">
            <a:solidFill>
              <a:srgbClr val="CB0017"/>
            </a:solidFill>
            <a:prstDash val="solid"/>
          </a:ln>
        </p:spPr>
        <p:txBody>
          <a:bodyPr/>
          <a:lstStyle/>
          <a:p>
            <a:endParaRPr lang="en-US"/>
          </a:p>
        </p:txBody>
      </p:sp>
      <p:sp>
        <p:nvSpPr>
          <p:cNvPr id="6" name="Text 4"/>
          <p:cNvSpPr/>
          <p:nvPr/>
        </p:nvSpPr>
        <p:spPr>
          <a:xfrm>
            <a:off x="640080" y="3108960"/>
            <a:ext cx="8193024" cy="457200"/>
          </a:xfrm>
          <a:prstGeom prst="rect">
            <a:avLst/>
          </a:prstGeom>
          <a:noFill/>
          <a:ln/>
        </p:spPr>
        <p:txBody>
          <a:bodyPr wrap="square" lIns="0" tIns="0" rIns="0" bIns="0" rtlCol="0" anchor="ctr"/>
          <a:lstStyle/>
          <a:p>
            <a:pPr marL="0" indent="0">
              <a:buNone/>
            </a:pPr>
            <a:r>
              <a:rPr lang="en-US" sz="1600" dirty="0">
                <a:solidFill>
                  <a:srgbClr val="4A4A4A"/>
                </a:solidFill>
                <a:latin typeface="Inter Tight" pitchFamily="34" charset="0"/>
                <a:ea typeface="Inter Tight" pitchFamily="34" charset="-122"/>
                <a:cs typeface="Inter Tight" pitchFamily="34" charset="-120"/>
              </a:rPr>
              <a:t>Input(s) → UTLX transformation → live output — and AI-assisted contract coverage, end to end.</a:t>
            </a:r>
            <a:endParaRPr lang="en-US" sz="1600" dirty="0"/>
          </a:p>
        </p:txBody>
      </p:sp>
      <p:pic>
        <p:nvPicPr>
          <p:cNvPr id="7" name="Image 0" descr="preencoded.png"/>
          <p:cNvPicPr>
            <a:picLocks noChangeAspect="1"/>
          </p:cNvPicPr>
          <p:nvPr/>
        </p:nvPicPr>
        <p:blipFill>
          <a:blip r:embed="rId3"/>
          <a:stretch>
            <a:fillRect/>
          </a:stretch>
        </p:blipFill>
        <p:spPr>
          <a:xfrm>
            <a:off x="7635240" y="777240"/>
            <a:ext cx="914400" cy="914400"/>
          </a:xfrm>
          <a:prstGeom prst="rect">
            <a:avLst/>
          </a:prstGeom>
        </p:spPr>
      </p:pic>
      <p:sp>
        <p:nvSpPr>
          <p:cNvPr id="8" name="Text 5"/>
          <p:cNvSpPr/>
          <p:nvPr/>
        </p:nvSpPr>
        <p:spPr>
          <a:xfrm>
            <a:off x="640080" y="4297680"/>
            <a:ext cx="7315200" cy="274320"/>
          </a:xfrm>
          <a:prstGeom prst="rect">
            <a:avLst/>
          </a:prstGeom>
          <a:noFill/>
          <a:ln/>
        </p:spPr>
        <p:txBody>
          <a:bodyPr wrap="square" lIns="0" tIns="0" rIns="0" bIns="0" rtlCol="0" anchor="ctr"/>
          <a:lstStyle/>
          <a:p>
            <a:pPr marL="0" indent="0">
              <a:buNone/>
            </a:pPr>
            <a:r>
              <a:rPr lang="en-US" sz="1200" dirty="0">
                <a:solidFill>
                  <a:srgbClr val="9AA0A6"/>
                </a:solidFill>
                <a:latin typeface="Consolas" pitchFamily="34" charset="0"/>
                <a:ea typeface="Consolas" pitchFamily="34" charset="-122"/>
                <a:cs typeface="Consolas" pitchFamily="34" charset="-120"/>
              </a:rPr>
              <a:t>github.com/grauwen/utl-x   ·   utlx.dev</a:t>
            </a:r>
            <a:endParaRPr lang="en-US" sz="1200" dirty="0"/>
          </a:p>
        </p:txBody>
      </p:sp>
      <p:pic>
        <p:nvPicPr>
          <p:cNvPr id="9" name="Picture 8" descr="A black background with red text&#10;&#10;AI-generated content may be incorrect.">
            <a:extLst>
              <a:ext uri="{FF2B5EF4-FFF2-40B4-BE49-F238E27FC236}">
                <a16:creationId xmlns:a16="http://schemas.microsoft.com/office/drawing/2014/main" id="{C9332FD5-603D-2427-7C2A-A9284116E7FF}"/>
              </a:ext>
            </a:extLst>
          </p:cNvPr>
          <p:cNvPicPr>
            <a:picLocks noChangeAspect="1"/>
          </p:cNvPicPr>
          <p:nvPr/>
        </p:nvPicPr>
        <p:blipFill>
          <a:blip r:embed="rId4"/>
          <a:stretch>
            <a:fillRect/>
          </a:stretch>
        </p:blipFill>
        <p:spPr>
          <a:xfrm>
            <a:off x="2709042" y="172737"/>
            <a:ext cx="2178547" cy="170178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13</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WHY UTL-X</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The open alternative to DataWeave</a:t>
            </a:r>
            <a:endParaRPr lang="en-US" sz="3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2697480"/>
        </p:xfrm>
        <a:graphic>
          <a:graphicData uri="http://schemas.openxmlformats.org/drawingml/2006/table">
            <a:tbl>
              <a:tblPr/>
              <a:tblGrid>
                <a:gridCol w="34747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11480">
                <a:tc>
                  <a:txBody>
                    <a:bodyPr/>
                    <a:lstStyle/>
                    <a:p>
                      <a:pPr marL="0" indent="0">
                        <a:buNone/>
                      </a:pPr>
                      <a:endParaRPr lang="en-US" sz="12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Oswald" pitchFamily="34" charset="0"/>
                          <a:ea typeface="Oswald" pitchFamily="34" charset="-122"/>
                          <a:cs typeface="Oswald" pitchFamily="34" charset="-120"/>
                        </a:rPr>
                        <a:t>UTL-X</a:t>
                      </a:r>
                      <a:endParaRPr lang="en-US" sz="1200" dirty="0">
                        <a:latin typeface="Oswald" charset="0"/>
                        <a:ea typeface="Oswald" charset="0"/>
                        <a:cs typeface="Oswald" charset="0"/>
                      </a:endParaRPr>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Oswald" pitchFamily="34" charset="0"/>
                          <a:ea typeface="Oswald" pitchFamily="34" charset="-122"/>
                          <a:cs typeface="Oswald" pitchFamily="34" charset="-120"/>
                        </a:rPr>
                        <a:t>DataWeave</a:t>
                      </a:r>
                      <a:endParaRPr lang="en-US" sz="1200" dirty="0">
                        <a:latin typeface="Oswald" charset="0"/>
                        <a:ea typeface="Oswald" charset="0"/>
                        <a:cs typeface="Oswald" charset="0"/>
                      </a:endParaRPr>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Oswald" pitchFamily="34" charset="0"/>
                          <a:ea typeface="Oswald" pitchFamily="34" charset="-122"/>
                          <a:cs typeface="Oswald" pitchFamily="34" charset="-120"/>
                        </a:rPr>
                        <a:t>XSLT</a:t>
                      </a:r>
                      <a:endParaRPr lang="en-US" sz="1200" dirty="0">
                        <a:latin typeface="Oswald" charset="0"/>
                        <a:ea typeface="Oswald" charset="0"/>
                        <a:cs typeface="Oswald" charset="0"/>
                      </a:endParaRPr>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Oswald" pitchFamily="34" charset="0"/>
                          <a:ea typeface="Oswald" pitchFamily="34" charset="-122"/>
                          <a:cs typeface="Oswald" pitchFamily="34" charset="-120"/>
                        </a:rPr>
                        <a:t>jq</a:t>
                      </a:r>
                      <a:endParaRPr lang="en-US" sz="1200" dirty="0">
                        <a:latin typeface="Oswald" charset="0"/>
                        <a:ea typeface="Oswald" charset="0"/>
                        <a:cs typeface="Oswald" charset="0"/>
                      </a:endParaRPr>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111111"/>
                          </a:solidFill>
                          <a:latin typeface="Inter Tight" pitchFamily="34" charset="0"/>
                          <a:ea typeface="Inter Tight" pitchFamily="34" charset="-122"/>
                          <a:cs typeface="Inter Tight" pitchFamily="34" charset="-120"/>
                        </a:rPr>
                        <a:t>Format-agnostic (XML/JSON/CSV/YAML/OData)</a:t>
                      </a:r>
                      <a:endParaRPr lang="en-US" sz="1150" dirty="0">
                        <a:latin typeface="Inter Tight" charset="0"/>
                        <a:ea typeface="Inter Tight" charset="0"/>
                        <a:cs typeface="Inter Tight" charset="0"/>
                      </a:endParaRPr>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B0017"/>
                          </a:solidFill>
                        </a:rPr>
                        <a:t>✓</a:t>
                      </a:r>
                      <a:endParaRPr lang="en-US" sz="15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B0017"/>
                          </a:solidFill>
                        </a:rPr>
                        <a:t>✓</a:t>
                      </a:r>
                      <a:endParaRPr lang="en-US" sz="15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AA0A6"/>
                          </a:solidFill>
                        </a:rPr>
                        <a:t>XML only</a:t>
                      </a:r>
                      <a:endParaRPr lang="en-US" sz="10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AA0A6"/>
                          </a:solidFill>
                        </a:rPr>
                        <a:t>JSON only</a:t>
                      </a:r>
                      <a:endParaRPr lang="en-US" sz="10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111111"/>
                          </a:solidFill>
                          <a:latin typeface="Inter Tight" pitchFamily="34" charset="0"/>
                          <a:ea typeface="Inter Tight" pitchFamily="34" charset="-122"/>
                          <a:cs typeface="Inter Tight" pitchFamily="34" charset="-120"/>
                        </a:rPr>
                        <a:t>Open source</a:t>
                      </a:r>
                      <a:endParaRPr lang="en-US" sz="1150" dirty="0">
                        <a:latin typeface="Inter Tight" charset="0"/>
                        <a:ea typeface="Inter Tight" charset="0"/>
                        <a:cs typeface="Inter Tight" charset="0"/>
                      </a:endParaRPr>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CB0017"/>
                          </a:solidFill>
                        </a:rPr>
                        <a:t>✓ AGPL-3.0</a:t>
                      </a:r>
                      <a:endParaRPr lang="en-US" sz="11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9AA0A6"/>
                          </a:solidFill>
                        </a:rPr>
                        <a:t>—</a:t>
                      </a:r>
                      <a:endParaRPr lang="en-US" sz="13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B0017"/>
                          </a:solidFill>
                        </a:rPr>
                        <a:t>✓</a:t>
                      </a:r>
                      <a:endParaRPr lang="en-US" sz="15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B0017"/>
                          </a:solidFill>
                        </a:rPr>
                        <a:t>✓</a:t>
                      </a:r>
                      <a:endParaRPr lang="en-US" sz="15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111111"/>
                          </a:solidFill>
                          <a:latin typeface="Inter Tight" pitchFamily="34" charset="0"/>
                          <a:ea typeface="Inter Tight" pitchFamily="34" charset="-122"/>
                          <a:cs typeface="Inter Tight" pitchFamily="34" charset="-120"/>
                        </a:rPr>
                        <a:t>Native binary (&lt;100ms startup)</a:t>
                      </a:r>
                      <a:endParaRPr lang="en-US" sz="1150" dirty="0">
                        <a:latin typeface="Inter Tight" charset="0"/>
                        <a:ea typeface="Inter Tight" charset="0"/>
                        <a:cs typeface="Inter Tight" charset="0"/>
                      </a:endParaRPr>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B0017"/>
                          </a:solidFill>
                        </a:rPr>
                        <a:t>✓</a:t>
                      </a:r>
                      <a:endParaRPr lang="en-US" sz="15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9AA0A6"/>
                          </a:solidFill>
                        </a:rPr>
                        <a:t>—</a:t>
                      </a:r>
                      <a:endParaRPr lang="en-US" sz="13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9AA0A6"/>
                          </a:solidFill>
                        </a:rPr>
                        <a:t>~</a:t>
                      </a:r>
                      <a:endParaRPr lang="en-US" sz="12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B0017"/>
                          </a:solidFill>
                        </a:rPr>
                        <a:t>✓</a:t>
                      </a:r>
                      <a:endParaRPr lang="en-US" sz="15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111111"/>
                          </a:solidFill>
                          <a:latin typeface="Inter Tight" pitchFamily="34" charset="0"/>
                          <a:ea typeface="Inter Tight" pitchFamily="34" charset="-122"/>
                          <a:cs typeface="Inter Tight" pitchFamily="34" charset="-120"/>
                        </a:rPr>
                        <a:t>Schema transformation (XSD↔Avro↔Protobuf)</a:t>
                      </a:r>
                      <a:endParaRPr lang="en-US" sz="1150" dirty="0">
                        <a:latin typeface="Inter Tight" charset="0"/>
                        <a:ea typeface="Inter Tight" charset="0"/>
                        <a:cs typeface="Inter Tight" charset="0"/>
                      </a:endParaRPr>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B0017"/>
                          </a:solidFill>
                        </a:rPr>
                        <a:t>✓</a:t>
                      </a:r>
                      <a:endParaRPr lang="en-US" sz="15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000" i="1" dirty="0">
                          <a:solidFill>
                            <a:srgbClr val="4A4A4A"/>
                          </a:solidFill>
                        </a:rPr>
                        <a:t>partial</a:t>
                      </a:r>
                      <a:endParaRPr lang="en-US" sz="10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9AA0A6"/>
                          </a:solidFill>
                        </a:rPr>
                        <a:t>—</a:t>
                      </a:r>
                      <a:endParaRPr lang="en-US" sz="13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9AA0A6"/>
                          </a:solidFill>
                        </a:rPr>
                        <a:t>—</a:t>
                      </a:r>
                      <a:endParaRPr lang="en-US" sz="13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50" b="1" dirty="0">
                          <a:solidFill>
                            <a:srgbClr val="111111"/>
                          </a:solidFill>
                          <a:latin typeface="Inter Tight" pitchFamily="34" charset="0"/>
                          <a:ea typeface="Inter Tight" pitchFamily="34" charset="-122"/>
                          <a:cs typeface="Inter Tight" pitchFamily="34" charset="-120"/>
                        </a:rPr>
                        <a:t>No vendor lock-in</a:t>
                      </a:r>
                      <a:endParaRPr lang="en-US" sz="1150" dirty="0">
                        <a:latin typeface="Inter Tight" charset="0"/>
                        <a:ea typeface="Inter Tight" charset="0"/>
                        <a:cs typeface="Inter Tight" charset="0"/>
                      </a:endParaRPr>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B0017"/>
                          </a:solidFill>
                        </a:rPr>
                        <a:t>✓</a:t>
                      </a:r>
                      <a:endParaRPr lang="en-US" sz="15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9AA0A6"/>
                          </a:solidFill>
                        </a:rPr>
                        <a:t>MuleSoft</a:t>
                      </a:r>
                      <a:endParaRPr lang="en-US" sz="10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B0017"/>
                          </a:solidFill>
                        </a:rPr>
                        <a:t>✓</a:t>
                      </a:r>
                      <a:endParaRPr lang="en-US" sz="15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B0017"/>
                          </a:solidFill>
                        </a:rPr>
                        <a:t>✓</a:t>
                      </a:r>
                      <a:endParaRPr lang="en-US" sz="1500" dirty="0"/>
                    </a:p>
                  </a:txBody>
                  <a:tcPr marL="50800" marR="50800" marT="25400" marB="2540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6"/>
          <p:cNvSpPr/>
          <p:nvPr/>
        </p:nvSpPr>
        <p:spPr>
          <a:xfrm>
            <a:off x="457200" y="4526280"/>
            <a:ext cx="8229600" cy="320040"/>
          </a:xfrm>
          <a:prstGeom prst="rect">
            <a:avLst/>
          </a:prstGeom>
          <a:noFill/>
          <a:ln/>
        </p:spPr>
        <p:txBody>
          <a:bodyPr wrap="square" lIns="0" tIns="0" rIns="0" bIns="0" rtlCol="0" anchor="ctr"/>
          <a:lstStyle/>
          <a:p>
            <a:pPr marL="0" indent="0" algn="ctr">
              <a:buNone/>
            </a:pPr>
            <a:r>
              <a:rPr lang="en-US" sz="1250" i="1" dirty="0">
                <a:solidFill>
                  <a:srgbClr val="111111"/>
                </a:solidFill>
                <a:latin typeface="Inter Tight" pitchFamily="34" charset="0"/>
                <a:ea typeface="Inter Tight" pitchFamily="34" charset="-122"/>
                <a:cs typeface="Inter Tight" pitchFamily="34" charset="-120"/>
              </a:rPr>
              <a:t>Everything DataWeave does for data — plus schemas, plus open source. Everything jq does — for every format.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14</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STATUS</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Shipping today — v1.2.2</a:t>
            </a:r>
            <a:endParaRPr lang="en-US" sz="3100" dirty="0"/>
          </a:p>
        </p:txBody>
      </p:sp>
      <p:sp>
        <p:nvSpPr>
          <p:cNvPr id="8" name="Text 6"/>
          <p:cNvSpPr/>
          <p:nvPr/>
        </p:nvSpPr>
        <p:spPr>
          <a:xfrm>
            <a:off x="457200" y="1325880"/>
            <a:ext cx="8229600" cy="320040"/>
          </a:xfrm>
          <a:prstGeom prst="rect">
            <a:avLst/>
          </a:prstGeom>
          <a:noFill/>
          <a:ln/>
        </p:spPr>
        <p:txBody>
          <a:bodyPr wrap="square" lIns="0" tIns="0" rIns="0" bIns="0" rtlCol="0" anchor="ctr"/>
          <a:lstStyle/>
          <a:p>
            <a:pPr marL="0" indent="0">
              <a:buNone/>
            </a:pPr>
            <a:r>
              <a:rPr lang="en-US" sz="1400" dirty="0">
                <a:solidFill>
                  <a:srgbClr val="4A4A4A"/>
                </a:solidFill>
                <a:latin typeface="Inter Tight" pitchFamily="34" charset="0"/>
                <a:ea typeface="Inter Tight" pitchFamily="34" charset="-122"/>
                <a:cs typeface="Inter Tight" pitchFamily="34" charset="-120"/>
              </a:rPr>
              <a:t>The language and all formats are stable. Runtimes are filling in.</a:t>
            </a:r>
            <a:endParaRPr lang="en-US" sz="1400" dirty="0"/>
          </a:p>
        </p:txBody>
      </p:sp>
      <p:sp>
        <p:nvSpPr>
          <p:cNvPr id="9" name="Shape 7"/>
          <p:cNvSpPr/>
          <p:nvPr/>
        </p:nvSpPr>
        <p:spPr>
          <a:xfrm>
            <a:off x="457199" y="1783080"/>
            <a:ext cx="2848847" cy="2934592"/>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0" name="Shape 8"/>
          <p:cNvSpPr/>
          <p:nvPr/>
        </p:nvSpPr>
        <p:spPr>
          <a:xfrm>
            <a:off x="457199" y="1782271"/>
            <a:ext cx="5211676" cy="45719"/>
          </a:xfrm>
          <a:prstGeom prst="rect">
            <a:avLst/>
          </a:prstGeom>
          <a:solidFill>
            <a:srgbClr val="CB0017"/>
          </a:solidFill>
          <a:ln w="12700">
            <a:solidFill>
              <a:srgbClr val="CB0017"/>
            </a:solidFill>
            <a:prstDash val="solid"/>
          </a:ln>
        </p:spPr>
        <p:txBody>
          <a:bodyPr/>
          <a:lstStyle/>
          <a:p>
            <a:endParaRPr lang="en-US"/>
          </a:p>
        </p:txBody>
      </p:sp>
      <p:sp>
        <p:nvSpPr>
          <p:cNvPr id="11" name="Text 9"/>
          <p:cNvSpPr/>
          <p:nvPr/>
        </p:nvSpPr>
        <p:spPr>
          <a:xfrm>
            <a:off x="685800" y="1938528"/>
            <a:ext cx="3657600" cy="274320"/>
          </a:xfrm>
          <a:prstGeom prst="rect">
            <a:avLst/>
          </a:prstGeom>
          <a:noFill/>
          <a:ln/>
        </p:spPr>
        <p:txBody>
          <a:bodyPr wrap="square" lIns="0" tIns="0" rIns="0" bIns="0" rtlCol="0" anchor="ctr"/>
          <a:lstStyle/>
          <a:p>
            <a:pPr marL="0" indent="0">
              <a:buNone/>
            </a:pPr>
            <a:r>
              <a:rPr lang="en-US" sz="1200" b="1" kern="0" spc="200" dirty="0">
                <a:solidFill>
                  <a:srgbClr val="CB0017"/>
                </a:solidFill>
                <a:latin typeface="Oswald" pitchFamily="34" charset="0"/>
                <a:ea typeface="Oswald" pitchFamily="34" charset="-122"/>
                <a:cs typeface="Oswald" pitchFamily="34" charset="-120"/>
              </a:rPr>
              <a:t>STABLE</a:t>
            </a:r>
            <a:endParaRPr lang="en-US" sz="1200" dirty="0"/>
          </a:p>
        </p:txBody>
      </p:sp>
      <p:pic>
        <p:nvPicPr>
          <p:cNvPr id="12" name="Image 0" descr="preencoded.png"/>
          <p:cNvPicPr>
            <a:picLocks noChangeAspect="1"/>
          </p:cNvPicPr>
          <p:nvPr/>
        </p:nvPicPr>
        <p:blipFill>
          <a:blip r:embed="rId3"/>
          <a:stretch>
            <a:fillRect/>
          </a:stretch>
        </p:blipFill>
        <p:spPr>
          <a:xfrm>
            <a:off x="523960" y="2304288"/>
            <a:ext cx="237744" cy="237744"/>
          </a:xfrm>
          <a:prstGeom prst="rect">
            <a:avLst/>
          </a:prstGeom>
        </p:spPr>
      </p:pic>
      <p:sp>
        <p:nvSpPr>
          <p:cNvPr id="13" name="Text 10"/>
          <p:cNvSpPr/>
          <p:nvPr/>
        </p:nvSpPr>
        <p:spPr>
          <a:xfrm>
            <a:off x="852092" y="2267712"/>
            <a:ext cx="4114800" cy="292608"/>
          </a:xfrm>
          <a:prstGeom prst="rect">
            <a:avLst/>
          </a:prstGeom>
          <a:noFill/>
          <a:ln/>
        </p:spPr>
        <p:txBody>
          <a:bodyPr wrap="square" lIns="0" tIns="0" rIns="0" bIns="0" rtlCol="0" anchor="ctr"/>
          <a:lstStyle/>
          <a:p>
            <a:pPr marL="0" indent="0">
              <a:buNone/>
            </a:pPr>
            <a:r>
              <a:rPr lang="en-US" sz="1250" dirty="0">
                <a:solidFill>
                  <a:srgbClr val="111111"/>
                </a:solidFill>
                <a:latin typeface="Inter Tight" pitchFamily="34" charset="0"/>
                <a:ea typeface="Inter Tight" pitchFamily="34" charset="-122"/>
                <a:cs typeface="Inter Tight" pitchFamily="34" charset="-120"/>
              </a:rPr>
              <a:t>UTLX 1.0 language</a:t>
            </a:r>
            <a:endParaRPr lang="en-US" sz="1250" dirty="0"/>
          </a:p>
        </p:txBody>
      </p:sp>
      <p:pic>
        <p:nvPicPr>
          <p:cNvPr id="14" name="Image 1" descr="preencoded.png"/>
          <p:cNvPicPr>
            <a:picLocks noChangeAspect="1"/>
          </p:cNvPicPr>
          <p:nvPr/>
        </p:nvPicPr>
        <p:blipFill>
          <a:blip r:embed="rId3"/>
          <a:stretch>
            <a:fillRect/>
          </a:stretch>
        </p:blipFill>
        <p:spPr>
          <a:xfrm>
            <a:off x="523960" y="2615184"/>
            <a:ext cx="237744" cy="237744"/>
          </a:xfrm>
          <a:prstGeom prst="rect">
            <a:avLst/>
          </a:prstGeom>
        </p:spPr>
      </p:pic>
      <p:sp>
        <p:nvSpPr>
          <p:cNvPr id="15" name="Text 11"/>
          <p:cNvSpPr/>
          <p:nvPr/>
        </p:nvSpPr>
        <p:spPr>
          <a:xfrm>
            <a:off x="852092" y="2578608"/>
            <a:ext cx="4114800" cy="292608"/>
          </a:xfrm>
          <a:prstGeom prst="rect">
            <a:avLst/>
          </a:prstGeom>
          <a:noFill/>
          <a:ln/>
        </p:spPr>
        <p:txBody>
          <a:bodyPr wrap="square" lIns="0" tIns="0" rIns="0" bIns="0" rtlCol="0" anchor="ctr"/>
          <a:lstStyle/>
          <a:p>
            <a:pPr marL="0" indent="0">
              <a:buNone/>
            </a:pPr>
            <a:r>
              <a:rPr lang="en-US" sz="1250" dirty="0">
                <a:solidFill>
                  <a:srgbClr val="111111"/>
                </a:solidFill>
                <a:latin typeface="Inter Tight" pitchFamily="34" charset="0"/>
                <a:ea typeface="Inter Tight" pitchFamily="34" charset="-122"/>
                <a:cs typeface="Inter Tight" pitchFamily="34" charset="-120"/>
              </a:rPr>
              <a:t>USDL 1.0 (schemas)</a:t>
            </a:r>
            <a:endParaRPr lang="en-US" sz="1250" dirty="0"/>
          </a:p>
        </p:txBody>
      </p:sp>
      <p:pic>
        <p:nvPicPr>
          <p:cNvPr id="16" name="Image 2" descr="preencoded.png"/>
          <p:cNvPicPr>
            <a:picLocks noChangeAspect="1"/>
          </p:cNvPicPr>
          <p:nvPr/>
        </p:nvPicPr>
        <p:blipFill>
          <a:blip r:embed="rId3"/>
          <a:stretch>
            <a:fillRect/>
          </a:stretch>
        </p:blipFill>
        <p:spPr>
          <a:xfrm>
            <a:off x="523960" y="2926080"/>
            <a:ext cx="237744" cy="237744"/>
          </a:xfrm>
          <a:prstGeom prst="rect">
            <a:avLst/>
          </a:prstGeom>
        </p:spPr>
      </p:pic>
      <p:sp>
        <p:nvSpPr>
          <p:cNvPr id="17" name="Text 12"/>
          <p:cNvSpPr/>
          <p:nvPr/>
        </p:nvSpPr>
        <p:spPr>
          <a:xfrm>
            <a:off x="852092" y="2889504"/>
            <a:ext cx="4114800" cy="292608"/>
          </a:xfrm>
          <a:prstGeom prst="rect">
            <a:avLst/>
          </a:prstGeom>
          <a:noFill/>
          <a:ln/>
        </p:spPr>
        <p:txBody>
          <a:bodyPr wrap="square" lIns="0" tIns="0" rIns="0" bIns="0" rtlCol="0" anchor="ctr"/>
          <a:lstStyle/>
          <a:p>
            <a:pPr marL="0" indent="0">
              <a:buNone/>
            </a:pPr>
            <a:r>
              <a:rPr lang="en-US" sz="1250" dirty="0">
                <a:solidFill>
                  <a:srgbClr val="111111"/>
                </a:solidFill>
                <a:latin typeface="Inter Tight" pitchFamily="34" charset="0"/>
                <a:ea typeface="Inter Tight" pitchFamily="34" charset="-122"/>
                <a:cs typeface="Inter Tight" pitchFamily="34" charset="-120"/>
              </a:rPr>
              <a:t>Universal Data Model (UDM)</a:t>
            </a:r>
            <a:endParaRPr lang="en-US" sz="1250" dirty="0"/>
          </a:p>
        </p:txBody>
      </p:sp>
      <p:pic>
        <p:nvPicPr>
          <p:cNvPr id="18" name="Image 3" descr="preencoded.png"/>
          <p:cNvPicPr>
            <a:picLocks noChangeAspect="1"/>
          </p:cNvPicPr>
          <p:nvPr/>
        </p:nvPicPr>
        <p:blipFill>
          <a:blip r:embed="rId3"/>
          <a:stretch>
            <a:fillRect/>
          </a:stretch>
        </p:blipFill>
        <p:spPr>
          <a:xfrm>
            <a:off x="523960" y="3236976"/>
            <a:ext cx="237744" cy="237744"/>
          </a:xfrm>
          <a:prstGeom prst="rect">
            <a:avLst/>
          </a:prstGeom>
        </p:spPr>
      </p:pic>
      <p:sp>
        <p:nvSpPr>
          <p:cNvPr id="19" name="Text 13"/>
          <p:cNvSpPr/>
          <p:nvPr/>
        </p:nvSpPr>
        <p:spPr>
          <a:xfrm>
            <a:off x="808161" y="3208289"/>
            <a:ext cx="4114800" cy="292608"/>
          </a:xfrm>
          <a:prstGeom prst="rect">
            <a:avLst/>
          </a:prstGeom>
          <a:noFill/>
          <a:ln/>
        </p:spPr>
        <p:txBody>
          <a:bodyPr wrap="square" lIns="0" tIns="0" rIns="0" bIns="0" rtlCol="0" anchor="ctr"/>
          <a:lstStyle/>
          <a:p>
            <a:r>
              <a:rPr lang="en-US" sz="1250" dirty="0">
                <a:solidFill>
                  <a:srgbClr val="111111"/>
                </a:solidFill>
                <a:latin typeface="Inter Tight" pitchFamily="34" charset="0"/>
                <a:ea typeface="Inter Tight" pitchFamily="34" charset="-122"/>
                <a:cs typeface="Inter Tight" pitchFamily="34" charset="-120"/>
              </a:rPr>
              <a:t>T1: XML · JSON · CSV · YAML · ODATA</a:t>
            </a:r>
            <a:endParaRPr lang="en-US" sz="1250" dirty="0"/>
          </a:p>
        </p:txBody>
      </p:sp>
      <p:pic>
        <p:nvPicPr>
          <p:cNvPr id="20" name="Image 4" descr="preencoded.png"/>
          <p:cNvPicPr>
            <a:picLocks noChangeAspect="1"/>
          </p:cNvPicPr>
          <p:nvPr/>
        </p:nvPicPr>
        <p:blipFill>
          <a:blip r:embed="rId3"/>
          <a:stretch>
            <a:fillRect/>
          </a:stretch>
        </p:blipFill>
        <p:spPr>
          <a:xfrm>
            <a:off x="523960" y="3547872"/>
            <a:ext cx="237744" cy="237744"/>
          </a:xfrm>
          <a:prstGeom prst="rect">
            <a:avLst/>
          </a:prstGeom>
        </p:spPr>
      </p:pic>
      <p:sp>
        <p:nvSpPr>
          <p:cNvPr id="21" name="Text 14"/>
          <p:cNvSpPr/>
          <p:nvPr/>
        </p:nvSpPr>
        <p:spPr>
          <a:xfrm>
            <a:off x="808161" y="3511554"/>
            <a:ext cx="4114800" cy="292608"/>
          </a:xfrm>
          <a:prstGeom prst="rect">
            <a:avLst/>
          </a:prstGeom>
          <a:noFill/>
          <a:ln/>
        </p:spPr>
        <p:txBody>
          <a:bodyPr wrap="square" lIns="0" tIns="0" rIns="0" bIns="0" rtlCol="0" anchor="ctr"/>
          <a:lstStyle/>
          <a:p>
            <a:r>
              <a:rPr lang="en-US" sz="1250" dirty="0">
                <a:solidFill>
                  <a:srgbClr val="111111"/>
                </a:solidFill>
                <a:latin typeface="Inter Tight" pitchFamily="34" charset="0"/>
                <a:ea typeface="Inter Tight" pitchFamily="34" charset="-122"/>
                <a:cs typeface="Inter Tight" pitchFamily="34" charset="-120"/>
              </a:rPr>
              <a:t>T2: XSD · JSCH · TSCH · OSCH</a:t>
            </a:r>
            <a:endParaRPr lang="en-US" sz="1250" dirty="0"/>
          </a:p>
        </p:txBody>
      </p:sp>
      <p:pic>
        <p:nvPicPr>
          <p:cNvPr id="22" name="Image 5" descr="preencoded.png"/>
          <p:cNvPicPr>
            <a:picLocks noChangeAspect="1"/>
          </p:cNvPicPr>
          <p:nvPr/>
        </p:nvPicPr>
        <p:blipFill>
          <a:blip r:embed="rId3"/>
          <a:stretch>
            <a:fillRect/>
          </a:stretch>
        </p:blipFill>
        <p:spPr>
          <a:xfrm>
            <a:off x="523960" y="3858768"/>
            <a:ext cx="237744" cy="237744"/>
          </a:xfrm>
          <a:prstGeom prst="rect">
            <a:avLst/>
          </a:prstGeom>
        </p:spPr>
      </p:pic>
      <p:sp>
        <p:nvSpPr>
          <p:cNvPr id="23" name="Text 15"/>
          <p:cNvSpPr/>
          <p:nvPr/>
        </p:nvSpPr>
        <p:spPr>
          <a:xfrm>
            <a:off x="852092" y="3822192"/>
            <a:ext cx="4114800" cy="292608"/>
          </a:xfrm>
          <a:prstGeom prst="rect">
            <a:avLst/>
          </a:prstGeom>
          <a:noFill/>
          <a:ln/>
        </p:spPr>
        <p:txBody>
          <a:bodyPr wrap="square" lIns="0" tIns="0" rIns="0" bIns="0" rtlCol="0" anchor="ctr"/>
          <a:lstStyle/>
          <a:p>
            <a:pPr marL="0" indent="0">
              <a:buNone/>
            </a:pPr>
            <a:r>
              <a:rPr lang="en-US" sz="1250" dirty="0">
                <a:solidFill>
                  <a:srgbClr val="111111"/>
                </a:solidFill>
                <a:latin typeface="Inter Tight" pitchFamily="34" charset="0"/>
                <a:ea typeface="Inter Tight" pitchFamily="34" charset="-122"/>
                <a:cs typeface="Inter Tight" pitchFamily="34" charset="-120"/>
              </a:rPr>
              <a:t>+ Avro · + Proto(buf)</a:t>
            </a:r>
            <a:endParaRPr lang="en-US" sz="1250" dirty="0"/>
          </a:p>
        </p:txBody>
      </p:sp>
      <p:pic>
        <p:nvPicPr>
          <p:cNvPr id="24" name="Image 6" descr="preencoded.png"/>
          <p:cNvPicPr>
            <a:picLocks noChangeAspect="1"/>
          </p:cNvPicPr>
          <p:nvPr/>
        </p:nvPicPr>
        <p:blipFill>
          <a:blip r:embed="rId3"/>
          <a:stretch>
            <a:fillRect/>
          </a:stretch>
        </p:blipFill>
        <p:spPr>
          <a:xfrm>
            <a:off x="523960" y="4169664"/>
            <a:ext cx="237744" cy="237744"/>
          </a:xfrm>
          <a:prstGeom prst="rect">
            <a:avLst/>
          </a:prstGeom>
        </p:spPr>
      </p:pic>
      <p:sp>
        <p:nvSpPr>
          <p:cNvPr id="25" name="Text 16"/>
          <p:cNvSpPr/>
          <p:nvPr/>
        </p:nvSpPr>
        <p:spPr>
          <a:xfrm>
            <a:off x="852092" y="4133088"/>
            <a:ext cx="4114800" cy="292608"/>
          </a:xfrm>
          <a:prstGeom prst="rect">
            <a:avLst/>
          </a:prstGeom>
          <a:noFill/>
          <a:ln/>
        </p:spPr>
        <p:txBody>
          <a:bodyPr wrap="square" lIns="0" tIns="0" rIns="0" bIns="0" rtlCol="0" anchor="ctr"/>
          <a:lstStyle/>
          <a:p>
            <a:pPr marL="0" indent="0">
              <a:buNone/>
            </a:pPr>
            <a:r>
              <a:rPr lang="en-US" sz="1250" dirty="0">
                <a:solidFill>
                  <a:srgbClr val="111111"/>
                </a:solidFill>
                <a:latin typeface="Inter Tight" pitchFamily="34" charset="0"/>
                <a:ea typeface="Inter Tight" pitchFamily="34" charset="-122"/>
                <a:cs typeface="Inter Tight" pitchFamily="34" charset="-120"/>
              </a:rPr>
              <a:t>utlx CLI (JAR)</a:t>
            </a:r>
            <a:endParaRPr lang="en-US" sz="1250" dirty="0"/>
          </a:p>
        </p:txBody>
      </p:sp>
      <p:sp>
        <p:nvSpPr>
          <p:cNvPr id="26" name="Shape 17"/>
          <p:cNvSpPr/>
          <p:nvPr/>
        </p:nvSpPr>
        <p:spPr>
          <a:xfrm>
            <a:off x="5668875" y="1769363"/>
            <a:ext cx="3429404" cy="2934591"/>
          </a:xfrm>
          <a:prstGeom prst="rect">
            <a:avLst/>
          </a:prstGeom>
          <a:solidFill>
            <a:srgbClr val="FFFFFF"/>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dirty="0"/>
          </a:p>
        </p:txBody>
      </p:sp>
      <p:sp>
        <p:nvSpPr>
          <p:cNvPr id="27" name="Shape 18"/>
          <p:cNvSpPr/>
          <p:nvPr/>
        </p:nvSpPr>
        <p:spPr>
          <a:xfrm>
            <a:off x="5668874" y="1773640"/>
            <a:ext cx="3429403" cy="103962"/>
          </a:xfrm>
          <a:prstGeom prst="rect">
            <a:avLst/>
          </a:prstGeom>
          <a:solidFill>
            <a:srgbClr val="9AA0A6"/>
          </a:solidFill>
          <a:ln w="12700">
            <a:solidFill>
              <a:srgbClr val="9AA0A6"/>
            </a:solidFill>
            <a:prstDash val="solid"/>
          </a:ln>
        </p:spPr>
        <p:txBody>
          <a:bodyPr/>
          <a:lstStyle/>
          <a:p>
            <a:endParaRPr lang="en-US"/>
          </a:p>
        </p:txBody>
      </p:sp>
      <p:sp>
        <p:nvSpPr>
          <p:cNvPr id="28" name="Text 19"/>
          <p:cNvSpPr/>
          <p:nvPr/>
        </p:nvSpPr>
        <p:spPr>
          <a:xfrm>
            <a:off x="5760720" y="1938528"/>
            <a:ext cx="2743200" cy="274320"/>
          </a:xfrm>
          <a:prstGeom prst="rect">
            <a:avLst/>
          </a:prstGeom>
          <a:noFill/>
          <a:ln/>
        </p:spPr>
        <p:txBody>
          <a:bodyPr wrap="square" lIns="0" tIns="0" rIns="0" bIns="0" rtlCol="0" anchor="ctr"/>
          <a:lstStyle/>
          <a:p>
            <a:pPr marL="0" indent="0">
              <a:buNone/>
            </a:pPr>
            <a:r>
              <a:rPr lang="en-US" sz="1200" b="1" kern="0" spc="150" dirty="0">
                <a:solidFill>
                  <a:srgbClr val="4A4A4A"/>
                </a:solidFill>
                <a:latin typeface="Oswald" pitchFamily="34" charset="0"/>
              </a:rPr>
              <a:t>In Development</a:t>
            </a:r>
            <a:endParaRPr lang="en-US" sz="1200" dirty="0"/>
          </a:p>
        </p:txBody>
      </p:sp>
      <p:sp>
        <p:nvSpPr>
          <p:cNvPr id="29" name="Text 20"/>
          <p:cNvSpPr/>
          <p:nvPr/>
        </p:nvSpPr>
        <p:spPr>
          <a:xfrm>
            <a:off x="5760720" y="2213172"/>
            <a:ext cx="274320" cy="274320"/>
          </a:xfrm>
          <a:prstGeom prst="rect">
            <a:avLst/>
          </a:prstGeom>
          <a:noFill/>
          <a:ln/>
        </p:spPr>
        <p:txBody>
          <a:bodyPr wrap="square" lIns="0" tIns="0" rIns="0" bIns="0" rtlCol="0" anchor="ctr"/>
          <a:lstStyle/>
          <a:p>
            <a:pPr marL="0" indent="0">
              <a:buNone/>
            </a:pPr>
            <a:r>
              <a:rPr lang="en-US" sz="1200" dirty="0">
                <a:solidFill>
                  <a:srgbClr val="9AA0A6"/>
                </a:solidFill>
                <a:latin typeface="Inter Tight" pitchFamily="34" charset="0"/>
                <a:ea typeface="Inter Tight" pitchFamily="34" charset="-122"/>
                <a:cs typeface="Inter Tight" pitchFamily="34" charset="-120"/>
              </a:rPr>
              <a:t>→</a:t>
            </a:r>
            <a:endParaRPr lang="en-US" sz="1200" dirty="0"/>
          </a:p>
        </p:txBody>
      </p:sp>
      <p:sp>
        <p:nvSpPr>
          <p:cNvPr id="30" name="Text 21"/>
          <p:cNvSpPr/>
          <p:nvPr/>
        </p:nvSpPr>
        <p:spPr>
          <a:xfrm>
            <a:off x="6035040" y="2213172"/>
            <a:ext cx="283464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rPr>
              <a:t>More SDK’s (KOTLIN/JAVA, GO, Python)</a:t>
            </a:r>
            <a:endParaRPr lang="en-US" sz="1250" dirty="0"/>
          </a:p>
        </p:txBody>
      </p:sp>
      <p:sp>
        <p:nvSpPr>
          <p:cNvPr id="31" name="Text 22"/>
          <p:cNvSpPr/>
          <p:nvPr/>
        </p:nvSpPr>
        <p:spPr>
          <a:xfrm>
            <a:off x="5770473" y="2431719"/>
            <a:ext cx="274320" cy="274320"/>
          </a:xfrm>
          <a:prstGeom prst="rect">
            <a:avLst/>
          </a:prstGeom>
          <a:noFill/>
          <a:ln/>
        </p:spPr>
        <p:txBody>
          <a:bodyPr wrap="square" lIns="0" tIns="0" rIns="0" bIns="0" rtlCol="0" anchor="ctr"/>
          <a:lstStyle/>
          <a:p>
            <a:pPr marL="0" indent="0">
              <a:buNone/>
            </a:pPr>
            <a:r>
              <a:rPr lang="en-US" sz="1200" dirty="0">
                <a:solidFill>
                  <a:srgbClr val="9AA0A6"/>
                </a:solidFill>
                <a:latin typeface="Inter Tight" pitchFamily="34" charset="0"/>
                <a:ea typeface="Inter Tight" pitchFamily="34" charset="-122"/>
                <a:cs typeface="Inter Tight" pitchFamily="34" charset="-120"/>
              </a:rPr>
              <a:t>→</a:t>
            </a:r>
            <a:endParaRPr lang="en-US" sz="1200" dirty="0"/>
          </a:p>
        </p:txBody>
      </p:sp>
      <p:sp>
        <p:nvSpPr>
          <p:cNvPr id="32" name="Text 23"/>
          <p:cNvSpPr/>
          <p:nvPr/>
        </p:nvSpPr>
        <p:spPr>
          <a:xfrm>
            <a:off x="6035040" y="2408858"/>
            <a:ext cx="256032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Theia based IDE</a:t>
            </a:r>
            <a:endParaRPr lang="en-US" sz="1250" dirty="0"/>
          </a:p>
        </p:txBody>
      </p:sp>
      <p:sp>
        <p:nvSpPr>
          <p:cNvPr id="33" name="Text 24"/>
          <p:cNvSpPr/>
          <p:nvPr/>
        </p:nvSpPr>
        <p:spPr>
          <a:xfrm>
            <a:off x="5769619" y="2669341"/>
            <a:ext cx="274320" cy="274320"/>
          </a:xfrm>
          <a:prstGeom prst="rect">
            <a:avLst/>
          </a:prstGeom>
          <a:noFill/>
          <a:ln/>
        </p:spPr>
        <p:txBody>
          <a:bodyPr wrap="square" lIns="0" tIns="0" rIns="0" bIns="0" rtlCol="0" anchor="ctr"/>
          <a:lstStyle/>
          <a:p>
            <a:pPr marL="0" indent="0">
              <a:buNone/>
            </a:pPr>
            <a:r>
              <a:rPr lang="en-US" sz="1200" dirty="0">
                <a:solidFill>
                  <a:srgbClr val="9AA0A6"/>
                </a:solidFill>
                <a:latin typeface="Inter Tight" pitchFamily="34" charset="0"/>
                <a:ea typeface="Inter Tight" pitchFamily="34" charset="-122"/>
                <a:cs typeface="Inter Tight" pitchFamily="34" charset="-120"/>
              </a:rPr>
              <a:t>→</a:t>
            </a:r>
            <a:endParaRPr lang="en-US" sz="1200" dirty="0"/>
          </a:p>
        </p:txBody>
      </p:sp>
      <p:sp>
        <p:nvSpPr>
          <p:cNvPr id="34" name="Text 25"/>
          <p:cNvSpPr/>
          <p:nvPr/>
        </p:nvSpPr>
        <p:spPr>
          <a:xfrm>
            <a:off x="6035040" y="3017520"/>
            <a:ext cx="2560320" cy="292608"/>
          </a:xfrm>
          <a:prstGeom prst="rect">
            <a:avLst/>
          </a:prstGeom>
          <a:noFill/>
          <a:ln/>
        </p:spPr>
        <p:txBody>
          <a:bodyPr wrap="square" lIns="0" tIns="0" rIns="0" bIns="0" rtlCol="0" anchor="ctr"/>
          <a:lstStyle/>
          <a:p>
            <a:pPr marL="0" indent="0">
              <a:buNone/>
            </a:pPr>
            <a:endParaRPr lang="en-US" sz="1250" dirty="0"/>
          </a:p>
        </p:txBody>
      </p:sp>
      <p:sp>
        <p:nvSpPr>
          <p:cNvPr id="35" name="Text 26"/>
          <p:cNvSpPr/>
          <p:nvPr/>
        </p:nvSpPr>
        <p:spPr>
          <a:xfrm>
            <a:off x="5787191" y="2938755"/>
            <a:ext cx="274320" cy="274320"/>
          </a:xfrm>
          <a:prstGeom prst="rect">
            <a:avLst/>
          </a:prstGeom>
          <a:noFill/>
          <a:ln/>
        </p:spPr>
        <p:txBody>
          <a:bodyPr wrap="square" lIns="0" tIns="0" rIns="0" bIns="0" rtlCol="0" anchor="ctr"/>
          <a:lstStyle/>
          <a:p>
            <a:pPr marL="0" indent="0">
              <a:buNone/>
            </a:pPr>
            <a:r>
              <a:rPr lang="en-US" sz="1200" dirty="0">
                <a:solidFill>
                  <a:srgbClr val="9AA0A6"/>
                </a:solidFill>
                <a:latin typeface="Inter Tight" pitchFamily="34" charset="0"/>
                <a:ea typeface="Inter Tight" pitchFamily="34" charset="-122"/>
                <a:cs typeface="Inter Tight" pitchFamily="34" charset="-120"/>
              </a:rPr>
              <a:t>→</a:t>
            </a:r>
            <a:endParaRPr lang="en-US" sz="1200" dirty="0"/>
          </a:p>
        </p:txBody>
      </p:sp>
      <p:sp>
        <p:nvSpPr>
          <p:cNvPr id="36" name="Text 27"/>
          <p:cNvSpPr/>
          <p:nvPr/>
        </p:nvSpPr>
        <p:spPr>
          <a:xfrm>
            <a:off x="6065585" y="3641598"/>
            <a:ext cx="256032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AWS cloud store</a:t>
            </a:r>
            <a:endParaRPr lang="en-US" sz="1250" dirty="0"/>
          </a:p>
        </p:txBody>
      </p:sp>
      <p:sp>
        <p:nvSpPr>
          <p:cNvPr id="37" name="Text 28"/>
          <p:cNvSpPr/>
          <p:nvPr/>
        </p:nvSpPr>
        <p:spPr>
          <a:xfrm>
            <a:off x="5800949" y="3206384"/>
            <a:ext cx="274320" cy="274320"/>
          </a:xfrm>
          <a:prstGeom prst="rect">
            <a:avLst/>
          </a:prstGeom>
          <a:noFill/>
          <a:ln/>
        </p:spPr>
        <p:txBody>
          <a:bodyPr wrap="square" lIns="0" tIns="0" rIns="0" bIns="0" rtlCol="0" anchor="ctr"/>
          <a:lstStyle/>
          <a:p>
            <a:pPr marL="0" indent="0">
              <a:buNone/>
            </a:pPr>
            <a:r>
              <a:rPr lang="en-US" sz="1200" dirty="0">
                <a:solidFill>
                  <a:srgbClr val="9AA0A6"/>
                </a:solidFill>
                <a:latin typeface="Inter Tight" pitchFamily="34" charset="0"/>
                <a:ea typeface="Inter Tight" pitchFamily="34" charset="-122"/>
                <a:cs typeface="Inter Tight" pitchFamily="34" charset="-120"/>
              </a:rPr>
              <a:t>→</a:t>
            </a:r>
            <a:endParaRPr lang="en-US" sz="1200" dirty="0"/>
          </a:p>
        </p:txBody>
      </p:sp>
      <p:sp>
        <p:nvSpPr>
          <p:cNvPr id="38" name="Text 29"/>
          <p:cNvSpPr/>
          <p:nvPr/>
        </p:nvSpPr>
        <p:spPr>
          <a:xfrm>
            <a:off x="6043268" y="3913632"/>
            <a:ext cx="256032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rPr>
              <a:t>GCP cloud store </a:t>
            </a:r>
            <a:endParaRPr lang="en-US" sz="1250" dirty="0"/>
          </a:p>
        </p:txBody>
      </p:sp>
      <p:sp>
        <p:nvSpPr>
          <p:cNvPr id="39" name="Text 30"/>
          <p:cNvSpPr/>
          <p:nvPr/>
        </p:nvSpPr>
        <p:spPr>
          <a:xfrm>
            <a:off x="457200" y="4759136"/>
            <a:ext cx="8229600" cy="274320"/>
          </a:xfrm>
          <a:prstGeom prst="rect">
            <a:avLst/>
          </a:prstGeom>
          <a:noFill/>
          <a:ln/>
        </p:spPr>
        <p:txBody>
          <a:bodyPr wrap="square" lIns="0" tIns="0" rIns="0" bIns="0" rtlCol="0" anchor="ctr"/>
          <a:lstStyle/>
          <a:p>
            <a:pPr marL="0" indent="0" algn="ctr">
              <a:buNone/>
            </a:pPr>
            <a:r>
              <a:rPr lang="en-US" sz="1200" i="1" dirty="0">
                <a:solidFill>
                  <a:srgbClr val="111111"/>
                </a:solidFill>
                <a:latin typeface="Inter Tight" pitchFamily="34" charset="0"/>
                <a:ea typeface="Inter Tight" pitchFamily="34" charset="-122"/>
                <a:cs typeface="Inter Tight" pitchFamily="34" charset="-120"/>
              </a:rPr>
              <a:t>v1.2.2 · 650+ stdlib functions · free &amp; open source under AGPL-3.0</a:t>
            </a:r>
            <a:endParaRPr lang="en-US" sz="1200" dirty="0"/>
          </a:p>
        </p:txBody>
      </p:sp>
      <p:sp>
        <p:nvSpPr>
          <p:cNvPr id="40" name="Shape 7">
            <a:extLst>
              <a:ext uri="{FF2B5EF4-FFF2-40B4-BE49-F238E27FC236}">
                <a16:creationId xmlns:a16="http://schemas.microsoft.com/office/drawing/2014/main" id="{EE7620E2-8861-D49A-A634-BB5439A7D18F}"/>
              </a:ext>
            </a:extLst>
          </p:cNvPr>
          <p:cNvSpPr/>
          <p:nvPr/>
        </p:nvSpPr>
        <p:spPr>
          <a:xfrm>
            <a:off x="3331669" y="1846562"/>
            <a:ext cx="2238035" cy="287111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41" name="Text 9">
            <a:extLst>
              <a:ext uri="{FF2B5EF4-FFF2-40B4-BE49-F238E27FC236}">
                <a16:creationId xmlns:a16="http://schemas.microsoft.com/office/drawing/2014/main" id="{38F2D0DC-31B7-8C25-7266-B7E37A2EDFA4}"/>
              </a:ext>
            </a:extLst>
          </p:cNvPr>
          <p:cNvSpPr/>
          <p:nvPr/>
        </p:nvSpPr>
        <p:spPr>
          <a:xfrm>
            <a:off x="3429405" y="1912108"/>
            <a:ext cx="3657600" cy="274320"/>
          </a:xfrm>
          <a:prstGeom prst="rect">
            <a:avLst/>
          </a:prstGeom>
          <a:noFill/>
          <a:ln/>
        </p:spPr>
        <p:txBody>
          <a:bodyPr wrap="square" lIns="0" tIns="0" rIns="0" bIns="0" rtlCol="0" anchor="ctr"/>
          <a:lstStyle/>
          <a:p>
            <a:pPr marL="0" indent="0">
              <a:buNone/>
            </a:pPr>
            <a:r>
              <a:rPr lang="en-US" sz="1200" b="1" kern="0" spc="200" dirty="0">
                <a:solidFill>
                  <a:srgbClr val="CB0017"/>
                </a:solidFill>
                <a:latin typeface="Oswald" pitchFamily="34" charset="0"/>
                <a:ea typeface="Oswald" pitchFamily="34" charset="-122"/>
                <a:cs typeface="Oswald" pitchFamily="34" charset="-120"/>
              </a:rPr>
              <a:t>Sidecar UTLXe Container</a:t>
            </a:r>
            <a:endParaRPr lang="en-US" sz="1200" dirty="0"/>
          </a:p>
        </p:txBody>
      </p:sp>
      <p:pic>
        <p:nvPicPr>
          <p:cNvPr id="42" name="Image 0" descr="preencoded.png">
            <a:extLst>
              <a:ext uri="{FF2B5EF4-FFF2-40B4-BE49-F238E27FC236}">
                <a16:creationId xmlns:a16="http://schemas.microsoft.com/office/drawing/2014/main" id="{986697E4-0503-BD4F-9698-B0F7FA3C130A}"/>
              </a:ext>
            </a:extLst>
          </p:cNvPr>
          <p:cNvPicPr>
            <a:picLocks noChangeAspect="1"/>
          </p:cNvPicPr>
          <p:nvPr/>
        </p:nvPicPr>
        <p:blipFill>
          <a:blip r:embed="rId3"/>
          <a:stretch>
            <a:fillRect/>
          </a:stretch>
        </p:blipFill>
        <p:spPr>
          <a:xfrm>
            <a:off x="3406748" y="2287012"/>
            <a:ext cx="237744" cy="237744"/>
          </a:xfrm>
          <a:prstGeom prst="rect">
            <a:avLst/>
          </a:prstGeom>
        </p:spPr>
      </p:pic>
      <p:sp>
        <p:nvSpPr>
          <p:cNvPr id="43" name="Text 10">
            <a:extLst>
              <a:ext uri="{FF2B5EF4-FFF2-40B4-BE49-F238E27FC236}">
                <a16:creationId xmlns:a16="http://schemas.microsoft.com/office/drawing/2014/main" id="{86D51D6B-922E-EF6C-A515-2423D4F6CC94}"/>
              </a:ext>
            </a:extLst>
          </p:cNvPr>
          <p:cNvSpPr/>
          <p:nvPr/>
        </p:nvSpPr>
        <p:spPr>
          <a:xfrm>
            <a:off x="3847764" y="2258568"/>
            <a:ext cx="4114800" cy="292608"/>
          </a:xfrm>
          <a:prstGeom prst="rect">
            <a:avLst/>
          </a:prstGeom>
          <a:noFill/>
          <a:ln/>
        </p:spPr>
        <p:txBody>
          <a:bodyPr wrap="square" lIns="0" tIns="0" rIns="0" bIns="0" rtlCol="0" anchor="ctr"/>
          <a:lstStyle/>
          <a:p>
            <a:pPr marL="0" indent="0">
              <a:buNone/>
            </a:pPr>
            <a:r>
              <a:rPr lang="en-US" sz="1250" dirty="0"/>
              <a:t>Azure Market Place</a:t>
            </a:r>
          </a:p>
        </p:txBody>
      </p:sp>
      <p:sp>
        <p:nvSpPr>
          <p:cNvPr id="44" name="Text 23">
            <a:extLst>
              <a:ext uri="{FF2B5EF4-FFF2-40B4-BE49-F238E27FC236}">
                <a16:creationId xmlns:a16="http://schemas.microsoft.com/office/drawing/2014/main" id="{53BC801A-75F5-97DE-6B45-23406DCA04B4}"/>
              </a:ext>
            </a:extLst>
          </p:cNvPr>
          <p:cNvSpPr/>
          <p:nvPr/>
        </p:nvSpPr>
        <p:spPr>
          <a:xfrm>
            <a:off x="6035039" y="2650517"/>
            <a:ext cx="3089712"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Theia online Cloude  IDE offering (subscription)</a:t>
            </a:r>
            <a:endParaRPr lang="en-US" sz="1250" dirty="0"/>
          </a:p>
        </p:txBody>
      </p:sp>
      <p:pic>
        <p:nvPicPr>
          <p:cNvPr id="45" name="Image 0" descr="preencoded.png">
            <a:extLst>
              <a:ext uri="{FF2B5EF4-FFF2-40B4-BE49-F238E27FC236}">
                <a16:creationId xmlns:a16="http://schemas.microsoft.com/office/drawing/2014/main" id="{30712AA7-7147-1B3A-9371-4F806FFEE98E}"/>
              </a:ext>
            </a:extLst>
          </p:cNvPr>
          <p:cNvPicPr>
            <a:picLocks noChangeAspect="1"/>
          </p:cNvPicPr>
          <p:nvPr/>
        </p:nvPicPr>
        <p:blipFill>
          <a:blip r:embed="rId3"/>
          <a:stretch>
            <a:fillRect/>
          </a:stretch>
        </p:blipFill>
        <p:spPr>
          <a:xfrm>
            <a:off x="3407602" y="2576789"/>
            <a:ext cx="237744" cy="237744"/>
          </a:xfrm>
          <a:prstGeom prst="rect">
            <a:avLst/>
          </a:prstGeom>
        </p:spPr>
      </p:pic>
      <p:sp>
        <p:nvSpPr>
          <p:cNvPr id="46" name="Text 10">
            <a:extLst>
              <a:ext uri="{FF2B5EF4-FFF2-40B4-BE49-F238E27FC236}">
                <a16:creationId xmlns:a16="http://schemas.microsoft.com/office/drawing/2014/main" id="{0523438F-2CE4-4DA1-6B1F-2BBE2A8D7099}"/>
              </a:ext>
            </a:extLst>
          </p:cNvPr>
          <p:cNvSpPr/>
          <p:nvPr/>
        </p:nvSpPr>
        <p:spPr>
          <a:xfrm>
            <a:off x="3866951" y="2533297"/>
            <a:ext cx="4114800" cy="292608"/>
          </a:xfrm>
          <a:prstGeom prst="rect">
            <a:avLst/>
          </a:prstGeom>
          <a:noFill/>
          <a:ln/>
        </p:spPr>
        <p:txBody>
          <a:bodyPr wrap="square" lIns="0" tIns="0" rIns="0" bIns="0" rtlCol="0" anchor="ctr"/>
          <a:lstStyle/>
          <a:p>
            <a:pPr marL="0" indent="0">
              <a:buNone/>
            </a:pPr>
            <a:r>
              <a:rPr lang="en-US" sz="1250" dirty="0"/>
              <a:t>UTLXe engine</a:t>
            </a:r>
          </a:p>
        </p:txBody>
      </p:sp>
      <p:pic>
        <p:nvPicPr>
          <p:cNvPr id="47" name="Image 0" descr="preencoded.png">
            <a:extLst>
              <a:ext uri="{FF2B5EF4-FFF2-40B4-BE49-F238E27FC236}">
                <a16:creationId xmlns:a16="http://schemas.microsoft.com/office/drawing/2014/main" id="{06DE8805-4F73-9DCE-2B8A-CD82D4961F77}"/>
              </a:ext>
            </a:extLst>
          </p:cNvPr>
          <p:cNvPicPr>
            <a:picLocks noChangeAspect="1"/>
          </p:cNvPicPr>
          <p:nvPr/>
        </p:nvPicPr>
        <p:blipFill>
          <a:blip r:embed="rId3"/>
          <a:stretch>
            <a:fillRect/>
          </a:stretch>
        </p:blipFill>
        <p:spPr>
          <a:xfrm>
            <a:off x="3406748" y="2874959"/>
            <a:ext cx="237744" cy="237744"/>
          </a:xfrm>
          <a:prstGeom prst="rect">
            <a:avLst/>
          </a:prstGeom>
        </p:spPr>
      </p:pic>
      <p:sp>
        <p:nvSpPr>
          <p:cNvPr id="48" name="Text 10">
            <a:extLst>
              <a:ext uri="{FF2B5EF4-FFF2-40B4-BE49-F238E27FC236}">
                <a16:creationId xmlns:a16="http://schemas.microsoft.com/office/drawing/2014/main" id="{A42954D0-86B1-85DD-AE64-755A8451A659}"/>
              </a:ext>
            </a:extLst>
          </p:cNvPr>
          <p:cNvSpPr/>
          <p:nvPr/>
        </p:nvSpPr>
        <p:spPr>
          <a:xfrm>
            <a:off x="3856952" y="2853575"/>
            <a:ext cx="4114800" cy="292608"/>
          </a:xfrm>
          <a:prstGeom prst="rect">
            <a:avLst/>
          </a:prstGeom>
          <a:noFill/>
          <a:ln/>
        </p:spPr>
        <p:txBody>
          <a:bodyPr wrap="square" lIns="0" tIns="0" rIns="0" bIns="0" rtlCol="0" anchor="ctr"/>
          <a:lstStyle/>
          <a:p>
            <a:pPr marL="0" indent="0">
              <a:buNone/>
            </a:pPr>
            <a:r>
              <a:rPr lang="en-US" sz="1250" dirty="0"/>
              <a:t>DAPR compliant</a:t>
            </a:r>
          </a:p>
        </p:txBody>
      </p:sp>
      <p:sp>
        <p:nvSpPr>
          <p:cNvPr id="49" name="Text 28">
            <a:extLst>
              <a:ext uri="{FF2B5EF4-FFF2-40B4-BE49-F238E27FC236}">
                <a16:creationId xmlns:a16="http://schemas.microsoft.com/office/drawing/2014/main" id="{1669391D-E0E0-1C9F-2D98-494D61E79895}"/>
              </a:ext>
            </a:extLst>
          </p:cNvPr>
          <p:cNvSpPr/>
          <p:nvPr/>
        </p:nvSpPr>
        <p:spPr>
          <a:xfrm>
            <a:off x="5800494" y="3657600"/>
            <a:ext cx="274320" cy="274320"/>
          </a:xfrm>
          <a:prstGeom prst="rect">
            <a:avLst/>
          </a:prstGeom>
          <a:noFill/>
          <a:ln/>
        </p:spPr>
        <p:txBody>
          <a:bodyPr wrap="square" lIns="0" tIns="0" rIns="0" bIns="0" rtlCol="0" anchor="ctr"/>
          <a:lstStyle/>
          <a:p>
            <a:pPr marL="0" indent="0">
              <a:buNone/>
            </a:pPr>
            <a:r>
              <a:rPr lang="en-US" sz="1200" dirty="0">
                <a:solidFill>
                  <a:srgbClr val="9AA0A6"/>
                </a:solidFill>
                <a:latin typeface="Inter Tight" pitchFamily="34" charset="0"/>
                <a:ea typeface="Inter Tight" pitchFamily="34" charset="-122"/>
                <a:cs typeface="Inter Tight" pitchFamily="34" charset="-120"/>
              </a:rPr>
              <a:t>→</a:t>
            </a:r>
            <a:endParaRPr lang="en-US" sz="1200" dirty="0"/>
          </a:p>
        </p:txBody>
      </p:sp>
      <p:sp>
        <p:nvSpPr>
          <p:cNvPr id="50" name="Text 28">
            <a:extLst>
              <a:ext uri="{FF2B5EF4-FFF2-40B4-BE49-F238E27FC236}">
                <a16:creationId xmlns:a16="http://schemas.microsoft.com/office/drawing/2014/main" id="{86F2C293-D7ED-5018-D560-7AAC31315E2F}"/>
              </a:ext>
            </a:extLst>
          </p:cNvPr>
          <p:cNvSpPr/>
          <p:nvPr/>
        </p:nvSpPr>
        <p:spPr>
          <a:xfrm>
            <a:off x="5792549" y="3928491"/>
            <a:ext cx="274320" cy="274320"/>
          </a:xfrm>
          <a:prstGeom prst="rect">
            <a:avLst/>
          </a:prstGeom>
          <a:noFill/>
          <a:ln/>
        </p:spPr>
        <p:txBody>
          <a:bodyPr wrap="square" lIns="0" tIns="0" rIns="0" bIns="0" rtlCol="0" anchor="ctr"/>
          <a:lstStyle/>
          <a:p>
            <a:pPr marL="0" indent="0">
              <a:buNone/>
            </a:pPr>
            <a:r>
              <a:rPr lang="en-US" sz="1200" dirty="0">
                <a:solidFill>
                  <a:srgbClr val="9AA0A6"/>
                </a:solidFill>
                <a:latin typeface="Inter Tight" pitchFamily="34" charset="0"/>
                <a:ea typeface="Inter Tight" pitchFamily="34" charset="-122"/>
                <a:cs typeface="Inter Tight" pitchFamily="34" charset="-120"/>
              </a:rPr>
              <a:t>→</a:t>
            </a:r>
            <a:endParaRPr lang="en-US" sz="1200" dirty="0"/>
          </a:p>
        </p:txBody>
      </p:sp>
      <p:sp>
        <p:nvSpPr>
          <p:cNvPr id="51" name="Text 27">
            <a:extLst>
              <a:ext uri="{FF2B5EF4-FFF2-40B4-BE49-F238E27FC236}">
                <a16:creationId xmlns:a16="http://schemas.microsoft.com/office/drawing/2014/main" id="{B44CFD0C-E7B4-371B-2251-BC5ABD92D657}"/>
              </a:ext>
            </a:extLst>
          </p:cNvPr>
          <p:cNvSpPr/>
          <p:nvPr/>
        </p:nvSpPr>
        <p:spPr>
          <a:xfrm>
            <a:off x="6030704" y="2927061"/>
            <a:ext cx="256032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rPr>
              <a:t>Tree based mapping canvas</a:t>
            </a:r>
            <a:endParaRPr lang="en-US" sz="1250" dirty="0"/>
          </a:p>
        </p:txBody>
      </p:sp>
      <p:sp>
        <p:nvSpPr>
          <p:cNvPr id="52" name="Text 27">
            <a:extLst>
              <a:ext uri="{FF2B5EF4-FFF2-40B4-BE49-F238E27FC236}">
                <a16:creationId xmlns:a16="http://schemas.microsoft.com/office/drawing/2014/main" id="{B15687FE-9941-563A-5F48-C06810014F28}"/>
              </a:ext>
            </a:extLst>
          </p:cNvPr>
          <p:cNvSpPr/>
          <p:nvPr/>
        </p:nvSpPr>
        <p:spPr>
          <a:xfrm>
            <a:off x="6035039" y="3201900"/>
            <a:ext cx="306324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rPr>
              <a:t>Webapp IDE (Electron) Windows, Mac, Linux</a:t>
            </a:r>
            <a:endParaRPr lang="en-US" sz="1250" dirty="0"/>
          </a:p>
        </p:txBody>
      </p:sp>
      <p:pic>
        <p:nvPicPr>
          <p:cNvPr id="53" name="Image 0" descr="preencoded.png">
            <a:extLst>
              <a:ext uri="{FF2B5EF4-FFF2-40B4-BE49-F238E27FC236}">
                <a16:creationId xmlns:a16="http://schemas.microsoft.com/office/drawing/2014/main" id="{576984BB-FD0C-FCF1-2A03-1503A05B6F20}"/>
              </a:ext>
            </a:extLst>
          </p:cNvPr>
          <p:cNvPicPr>
            <a:picLocks noChangeAspect="1"/>
          </p:cNvPicPr>
          <p:nvPr/>
        </p:nvPicPr>
        <p:blipFill>
          <a:blip r:embed="rId3"/>
          <a:stretch>
            <a:fillRect/>
          </a:stretch>
        </p:blipFill>
        <p:spPr>
          <a:xfrm>
            <a:off x="3406183" y="3173050"/>
            <a:ext cx="237744" cy="237744"/>
          </a:xfrm>
          <a:prstGeom prst="rect">
            <a:avLst/>
          </a:prstGeom>
        </p:spPr>
      </p:pic>
      <p:sp>
        <p:nvSpPr>
          <p:cNvPr id="54" name="Text 10">
            <a:extLst>
              <a:ext uri="{FF2B5EF4-FFF2-40B4-BE49-F238E27FC236}">
                <a16:creationId xmlns:a16="http://schemas.microsoft.com/office/drawing/2014/main" id="{8F4EB31A-52D8-DD54-F753-CE58C8DEE63D}"/>
              </a:ext>
            </a:extLst>
          </p:cNvPr>
          <p:cNvSpPr/>
          <p:nvPr/>
        </p:nvSpPr>
        <p:spPr>
          <a:xfrm>
            <a:off x="3847764" y="3175174"/>
            <a:ext cx="4114800" cy="292608"/>
          </a:xfrm>
          <a:prstGeom prst="rect">
            <a:avLst/>
          </a:prstGeom>
          <a:noFill/>
          <a:ln/>
        </p:spPr>
        <p:txBody>
          <a:bodyPr wrap="square" lIns="0" tIns="0" rIns="0" bIns="0" rtlCol="0" anchor="ctr"/>
          <a:lstStyle/>
          <a:p>
            <a:pPr marL="0" indent="0">
              <a:buNone/>
            </a:pPr>
            <a:r>
              <a:rPr lang="en-US" sz="1250" dirty="0"/>
              <a:t>High throughput </a:t>
            </a:r>
          </a:p>
        </p:txBody>
      </p:sp>
      <p:sp>
        <p:nvSpPr>
          <p:cNvPr id="55" name="Text 10">
            <a:extLst>
              <a:ext uri="{FF2B5EF4-FFF2-40B4-BE49-F238E27FC236}">
                <a16:creationId xmlns:a16="http://schemas.microsoft.com/office/drawing/2014/main" id="{1D95C0F1-905F-0BFB-0A05-88F0DB5C2C27}"/>
              </a:ext>
            </a:extLst>
          </p:cNvPr>
          <p:cNvSpPr/>
          <p:nvPr/>
        </p:nvSpPr>
        <p:spPr>
          <a:xfrm>
            <a:off x="3840768" y="3538830"/>
            <a:ext cx="4114800" cy="292608"/>
          </a:xfrm>
          <a:prstGeom prst="rect">
            <a:avLst/>
          </a:prstGeom>
          <a:noFill/>
          <a:ln/>
        </p:spPr>
        <p:txBody>
          <a:bodyPr wrap="square" lIns="0" tIns="0" rIns="0" bIns="0" rtlCol="0" anchor="ctr"/>
          <a:lstStyle/>
          <a:p>
            <a:pPr marL="0" indent="0">
              <a:buNone/>
            </a:pPr>
            <a:r>
              <a:rPr lang="en-US" sz="1250" dirty="0"/>
              <a:t>Back pressure</a:t>
            </a:r>
          </a:p>
        </p:txBody>
      </p:sp>
      <p:pic>
        <p:nvPicPr>
          <p:cNvPr id="56" name="Image 0" descr="preencoded.png">
            <a:extLst>
              <a:ext uri="{FF2B5EF4-FFF2-40B4-BE49-F238E27FC236}">
                <a16:creationId xmlns:a16="http://schemas.microsoft.com/office/drawing/2014/main" id="{C2F1A950-DCF1-917A-DA8D-3C50913B5979}"/>
              </a:ext>
            </a:extLst>
          </p:cNvPr>
          <p:cNvPicPr>
            <a:picLocks noChangeAspect="1"/>
          </p:cNvPicPr>
          <p:nvPr/>
        </p:nvPicPr>
        <p:blipFill>
          <a:blip r:embed="rId3"/>
          <a:stretch>
            <a:fillRect/>
          </a:stretch>
        </p:blipFill>
        <p:spPr>
          <a:xfrm>
            <a:off x="3406247" y="3518418"/>
            <a:ext cx="237744" cy="237744"/>
          </a:xfrm>
          <a:prstGeom prst="rect">
            <a:avLst/>
          </a:prstGeom>
        </p:spPr>
      </p:pic>
      <p:pic>
        <p:nvPicPr>
          <p:cNvPr id="57" name="Image 0" descr="preencoded.png">
            <a:extLst>
              <a:ext uri="{FF2B5EF4-FFF2-40B4-BE49-F238E27FC236}">
                <a16:creationId xmlns:a16="http://schemas.microsoft.com/office/drawing/2014/main" id="{01DC9452-C526-E49C-5C74-DBDFEA7EC85B}"/>
              </a:ext>
            </a:extLst>
          </p:cNvPr>
          <p:cNvPicPr>
            <a:picLocks noChangeAspect="1"/>
          </p:cNvPicPr>
          <p:nvPr/>
        </p:nvPicPr>
        <p:blipFill>
          <a:blip r:embed="rId3"/>
          <a:stretch>
            <a:fillRect/>
          </a:stretch>
        </p:blipFill>
        <p:spPr>
          <a:xfrm>
            <a:off x="3416780" y="3846064"/>
            <a:ext cx="237744" cy="237744"/>
          </a:xfrm>
          <a:prstGeom prst="rect">
            <a:avLst/>
          </a:prstGeom>
        </p:spPr>
      </p:pic>
      <p:sp>
        <p:nvSpPr>
          <p:cNvPr id="58" name="Text 10">
            <a:extLst>
              <a:ext uri="{FF2B5EF4-FFF2-40B4-BE49-F238E27FC236}">
                <a16:creationId xmlns:a16="http://schemas.microsoft.com/office/drawing/2014/main" id="{940C4687-1B4B-DD74-B79F-8439CD37FF11}"/>
              </a:ext>
            </a:extLst>
          </p:cNvPr>
          <p:cNvSpPr/>
          <p:nvPr/>
        </p:nvSpPr>
        <p:spPr>
          <a:xfrm>
            <a:off x="3831580" y="3838083"/>
            <a:ext cx="4114800" cy="292608"/>
          </a:xfrm>
          <a:prstGeom prst="rect">
            <a:avLst/>
          </a:prstGeom>
          <a:noFill/>
          <a:ln/>
        </p:spPr>
        <p:txBody>
          <a:bodyPr wrap="square" lIns="0" tIns="0" rIns="0" bIns="0" rtlCol="0" anchor="ctr"/>
          <a:lstStyle/>
          <a:p>
            <a:pPr marL="0" indent="0">
              <a:buNone/>
            </a:pPr>
            <a:r>
              <a:rPr lang="en-US" sz="1250" dirty="0"/>
              <a:t>Piped I/O multiple SDK</a:t>
            </a:r>
          </a:p>
        </p:txBody>
      </p:sp>
      <p:sp>
        <p:nvSpPr>
          <p:cNvPr id="59" name="Text 28">
            <a:extLst>
              <a:ext uri="{FF2B5EF4-FFF2-40B4-BE49-F238E27FC236}">
                <a16:creationId xmlns:a16="http://schemas.microsoft.com/office/drawing/2014/main" id="{E5296562-2BDB-99AF-415B-CEF7E2F52B38}"/>
              </a:ext>
            </a:extLst>
          </p:cNvPr>
          <p:cNvSpPr/>
          <p:nvPr/>
        </p:nvSpPr>
        <p:spPr>
          <a:xfrm>
            <a:off x="5818172" y="4161916"/>
            <a:ext cx="274320" cy="274320"/>
          </a:xfrm>
          <a:prstGeom prst="rect">
            <a:avLst/>
          </a:prstGeom>
          <a:noFill/>
          <a:ln/>
        </p:spPr>
        <p:txBody>
          <a:bodyPr wrap="square" lIns="0" tIns="0" rIns="0" bIns="0" rtlCol="0" anchor="ctr"/>
          <a:lstStyle/>
          <a:p>
            <a:pPr marL="0" indent="0">
              <a:buNone/>
            </a:pPr>
            <a:r>
              <a:rPr lang="en-US" sz="1200" dirty="0">
                <a:solidFill>
                  <a:srgbClr val="9AA0A6"/>
                </a:solidFill>
                <a:latin typeface="Inter Tight" pitchFamily="34" charset="0"/>
                <a:ea typeface="Inter Tight" pitchFamily="34" charset="-122"/>
                <a:cs typeface="Inter Tight" pitchFamily="34" charset="-120"/>
              </a:rPr>
              <a:t>→</a:t>
            </a:r>
            <a:endParaRPr lang="en-US" sz="1200" dirty="0"/>
          </a:p>
        </p:txBody>
      </p:sp>
      <p:sp>
        <p:nvSpPr>
          <p:cNvPr id="60" name="Text 29">
            <a:extLst>
              <a:ext uri="{FF2B5EF4-FFF2-40B4-BE49-F238E27FC236}">
                <a16:creationId xmlns:a16="http://schemas.microsoft.com/office/drawing/2014/main" id="{72316EC5-117C-FD17-055E-C79281AD8AB4}"/>
              </a:ext>
            </a:extLst>
          </p:cNvPr>
          <p:cNvSpPr/>
          <p:nvPr/>
        </p:nvSpPr>
        <p:spPr>
          <a:xfrm>
            <a:off x="6059720" y="4170645"/>
            <a:ext cx="2862801"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rPr>
              <a:t>Open-M(iddleware) – UTLXe as workhorse</a:t>
            </a:r>
            <a:endParaRPr lang="en-US" sz="1250" dirty="0"/>
          </a:p>
        </p:txBody>
      </p:sp>
      <p:pic>
        <p:nvPicPr>
          <p:cNvPr id="61" name="Image 0" descr="preencoded.png">
            <a:extLst>
              <a:ext uri="{FF2B5EF4-FFF2-40B4-BE49-F238E27FC236}">
                <a16:creationId xmlns:a16="http://schemas.microsoft.com/office/drawing/2014/main" id="{9671DA6D-1FEC-7076-7F88-D1C19D068994}"/>
              </a:ext>
            </a:extLst>
          </p:cNvPr>
          <p:cNvPicPr>
            <a:picLocks noChangeAspect="1"/>
          </p:cNvPicPr>
          <p:nvPr/>
        </p:nvPicPr>
        <p:blipFill>
          <a:blip r:embed="rId3"/>
          <a:stretch>
            <a:fillRect/>
          </a:stretch>
        </p:blipFill>
        <p:spPr>
          <a:xfrm>
            <a:off x="3415432" y="4144120"/>
            <a:ext cx="237744" cy="237744"/>
          </a:xfrm>
          <a:prstGeom prst="rect">
            <a:avLst/>
          </a:prstGeom>
        </p:spPr>
      </p:pic>
      <p:sp>
        <p:nvSpPr>
          <p:cNvPr id="62" name="Text 10">
            <a:extLst>
              <a:ext uri="{FF2B5EF4-FFF2-40B4-BE49-F238E27FC236}">
                <a16:creationId xmlns:a16="http://schemas.microsoft.com/office/drawing/2014/main" id="{ABE36911-A871-92D4-7D6F-017825DC057B}"/>
              </a:ext>
            </a:extLst>
          </p:cNvPr>
          <p:cNvSpPr/>
          <p:nvPr/>
        </p:nvSpPr>
        <p:spPr>
          <a:xfrm>
            <a:off x="3830232" y="4136139"/>
            <a:ext cx="4114800" cy="292608"/>
          </a:xfrm>
          <a:prstGeom prst="rect">
            <a:avLst/>
          </a:prstGeom>
          <a:noFill/>
          <a:ln/>
        </p:spPr>
        <p:txBody>
          <a:bodyPr wrap="square" lIns="0" tIns="0" rIns="0" bIns="0" rtlCol="0" anchor="ctr"/>
          <a:lstStyle/>
          <a:p>
            <a:pPr marL="0" indent="0">
              <a:buNone/>
            </a:pPr>
            <a:r>
              <a:rPr lang="en-US" sz="1250" dirty="0"/>
              <a:t>C# SDK + BizTalk solution </a:t>
            </a:r>
          </a:p>
        </p:txBody>
      </p:sp>
      <p:sp>
        <p:nvSpPr>
          <p:cNvPr id="67" name="Text 22">
            <a:extLst>
              <a:ext uri="{FF2B5EF4-FFF2-40B4-BE49-F238E27FC236}">
                <a16:creationId xmlns:a16="http://schemas.microsoft.com/office/drawing/2014/main" id="{99020E41-6A1C-FF93-E5E5-ADB6E832657F}"/>
              </a:ext>
            </a:extLst>
          </p:cNvPr>
          <p:cNvSpPr/>
          <p:nvPr/>
        </p:nvSpPr>
        <p:spPr>
          <a:xfrm>
            <a:off x="5795153" y="3434525"/>
            <a:ext cx="274320" cy="274320"/>
          </a:xfrm>
          <a:prstGeom prst="rect">
            <a:avLst/>
          </a:prstGeom>
          <a:noFill/>
          <a:ln/>
        </p:spPr>
        <p:txBody>
          <a:bodyPr wrap="square" lIns="0" tIns="0" rIns="0" bIns="0" rtlCol="0" anchor="ctr"/>
          <a:lstStyle/>
          <a:p>
            <a:pPr marL="0" indent="0">
              <a:buNone/>
            </a:pPr>
            <a:r>
              <a:rPr lang="en-US" sz="1200" dirty="0">
                <a:solidFill>
                  <a:srgbClr val="9AA0A6"/>
                </a:solidFill>
                <a:latin typeface="Inter Tight" pitchFamily="34" charset="0"/>
                <a:ea typeface="Inter Tight" pitchFamily="34" charset="-122"/>
                <a:cs typeface="Inter Tight" pitchFamily="34" charset="-120"/>
              </a:rPr>
              <a:t>→</a:t>
            </a:r>
            <a:endParaRPr lang="en-US" sz="1200" dirty="0"/>
          </a:p>
        </p:txBody>
      </p:sp>
      <p:sp>
        <p:nvSpPr>
          <p:cNvPr id="68" name="Text 23">
            <a:extLst>
              <a:ext uri="{FF2B5EF4-FFF2-40B4-BE49-F238E27FC236}">
                <a16:creationId xmlns:a16="http://schemas.microsoft.com/office/drawing/2014/main" id="{0ECA2FB4-1230-4B5C-87F0-9A38D8556817}"/>
              </a:ext>
            </a:extLst>
          </p:cNvPr>
          <p:cNvSpPr/>
          <p:nvPr/>
        </p:nvSpPr>
        <p:spPr>
          <a:xfrm>
            <a:off x="6059720" y="3411664"/>
            <a:ext cx="2560320" cy="292608"/>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Improved AI support for IDE</a:t>
            </a:r>
            <a:endParaRPr lang="en-US" sz="1250" dirty="0"/>
          </a:p>
        </p:txBody>
      </p:sp>
      <p:pic>
        <p:nvPicPr>
          <p:cNvPr id="69" name="Image 0" descr="preencoded.png">
            <a:extLst>
              <a:ext uri="{FF2B5EF4-FFF2-40B4-BE49-F238E27FC236}">
                <a16:creationId xmlns:a16="http://schemas.microsoft.com/office/drawing/2014/main" id="{9A553283-FE15-8A49-C859-1EC2228A2560}"/>
              </a:ext>
            </a:extLst>
          </p:cNvPr>
          <p:cNvPicPr>
            <a:picLocks noChangeAspect="1"/>
          </p:cNvPicPr>
          <p:nvPr/>
        </p:nvPicPr>
        <p:blipFill>
          <a:blip r:embed="rId3"/>
          <a:stretch>
            <a:fillRect/>
          </a:stretch>
        </p:blipFill>
        <p:spPr>
          <a:xfrm>
            <a:off x="3438360" y="4425992"/>
            <a:ext cx="237744" cy="237744"/>
          </a:xfrm>
          <a:prstGeom prst="rect">
            <a:avLst/>
          </a:prstGeom>
        </p:spPr>
      </p:pic>
      <p:sp>
        <p:nvSpPr>
          <p:cNvPr id="70" name="Text 10">
            <a:extLst>
              <a:ext uri="{FF2B5EF4-FFF2-40B4-BE49-F238E27FC236}">
                <a16:creationId xmlns:a16="http://schemas.microsoft.com/office/drawing/2014/main" id="{10A28499-EE37-1E72-CFF5-3966B61FB622}"/>
              </a:ext>
            </a:extLst>
          </p:cNvPr>
          <p:cNvSpPr/>
          <p:nvPr/>
        </p:nvSpPr>
        <p:spPr>
          <a:xfrm>
            <a:off x="3817733" y="4409505"/>
            <a:ext cx="4114800" cy="292608"/>
          </a:xfrm>
          <a:prstGeom prst="rect">
            <a:avLst/>
          </a:prstGeom>
          <a:noFill/>
          <a:ln/>
        </p:spPr>
        <p:txBody>
          <a:bodyPr wrap="square" lIns="0" tIns="0" rIns="0" bIns="0" rtlCol="0" anchor="ctr"/>
          <a:lstStyle/>
          <a:p>
            <a:pPr marL="0" indent="0">
              <a:buNone/>
            </a:pPr>
            <a:r>
              <a:rPr lang="en-US" sz="1250" dirty="0"/>
              <a:t>DTAP bundle support</a:t>
            </a:r>
          </a:p>
        </p:txBody>
      </p:sp>
      <p:pic>
        <p:nvPicPr>
          <p:cNvPr id="71" name="Image 6" descr="preencoded.png">
            <a:extLst>
              <a:ext uri="{FF2B5EF4-FFF2-40B4-BE49-F238E27FC236}">
                <a16:creationId xmlns:a16="http://schemas.microsoft.com/office/drawing/2014/main" id="{52D06F2E-3983-E29C-64CB-A22EB081379C}"/>
              </a:ext>
            </a:extLst>
          </p:cNvPr>
          <p:cNvPicPr>
            <a:picLocks noChangeAspect="1"/>
          </p:cNvPicPr>
          <p:nvPr/>
        </p:nvPicPr>
        <p:blipFill>
          <a:blip r:embed="rId3"/>
          <a:stretch>
            <a:fillRect/>
          </a:stretch>
        </p:blipFill>
        <p:spPr>
          <a:xfrm>
            <a:off x="523960" y="4467088"/>
            <a:ext cx="237744" cy="237744"/>
          </a:xfrm>
          <a:prstGeom prst="rect">
            <a:avLst/>
          </a:prstGeom>
        </p:spPr>
      </p:pic>
      <p:sp>
        <p:nvSpPr>
          <p:cNvPr id="72" name="Text 16">
            <a:extLst>
              <a:ext uri="{FF2B5EF4-FFF2-40B4-BE49-F238E27FC236}">
                <a16:creationId xmlns:a16="http://schemas.microsoft.com/office/drawing/2014/main" id="{D554B0E6-F2ED-EAE5-8890-478B99B08A39}"/>
              </a:ext>
            </a:extLst>
          </p:cNvPr>
          <p:cNvSpPr/>
          <p:nvPr/>
        </p:nvSpPr>
        <p:spPr>
          <a:xfrm>
            <a:off x="852092" y="4430512"/>
            <a:ext cx="4114800" cy="292608"/>
          </a:xfrm>
          <a:prstGeom prst="rect">
            <a:avLst/>
          </a:prstGeom>
          <a:noFill/>
          <a:ln/>
        </p:spPr>
        <p:txBody>
          <a:bodyPr wrap="square" lIns="0" tIns="0" rIns="0" bIns="0" rtlCol="0" anchor="ctr"/>
          <a:lstStyle/>
          <a:p>
            <a:pPr marL="0" indent="0">
              <a:buNone/>
            </a:pPr>
            <a:r>
              <a:rPr lang="en-US" sz="1250" dirty="0">
                <a:solidFill>
                  <a:srgbClr val="111111"/>
                </a:solidFill>
                <a:latin typeface="Inter Tight" pitchFamily="34" charset="0"/>
                <a:ea typeface="Inter Tight" pitchFamily="34" charset="-122"/>
                <a:cs typeface="Inter Tight" pitchFamily="34" charset="-120"/>
              </a:rPr>
              <a:t>Binary CLI (GRAAL compiled)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12</a:t>
            </a:r>
            <a:endParaRPr lang="en-US" sz="1100" dirty="0"/>
          </a:p>
        </p:txBody>
      </p:sp>
      <p:sp>
        <p:nvSpPr>
          <p:cNvPr id="6" name="Text 4"/>
          <p:cNvSpPr/>
          <p:nvPr/>
        </p:nvSpPr>
        <p:spPr>
          <a:xfrm>
            <a:off x="457200" y="329184"/>
            <a:ext cx="3305596"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03 · utlxe (engine)                  </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Built for production scale</a:t>
            </a:r>
            <a:endParaRPr lang="en-US" sz="3100" dirty="0"/>
          </a:p>
        </p:txBody>
      </p:sp>
      <p:pic>
        <p:nvPicPr>
          <p:cNvPr id="9" name="Image 0" descr="preencoded.png"/>
          <p:cNvPicPr>
            <a:picLocks noChangeAspect="1"/>
          </p:cNvPicPr>
          <p:nvPr/>
        </p:nvPicPr>
        <p:blipFill>
          <a:blip r:embed="rId3"/>
          <a:stretch>
            <a:fillRect/>
          </a:stretch>
        </p:blipFill>
        <p:spPr>
          <a:xfrm>
            <a:off x="566928" y="1591056"/>
            <a:ext cx="237744" cy="237744"/>
          </a:xfrm>
          <a:prstGeom prst="rect">
            <a:avLst/>
          </a:prstGeom>
        </p:spPr>
      </p:pic>
      <p:sp>
        <p:nvSpPr>
          <p:cNvPr id="10" name="Text 7"/>
          <p:cNvSpPr/>
          <p:nvPr/>
        </p:nvSpPr>
        <p:spPr>
          <a:xfrm>
            <a:off x="1078992" y="1463040"/>
            <a:ext cx="4206240" cy="310896"/>
          </a:xfrm>
          <a:prstGeom prst="rect">
            <a:avLst/>
          </a:prstGeom>
          <a:noFill/>
          <a:ln/>
        </p:spPr>
        <p:txBody>
          <a:bodyPr wrap="square" lIns="0" tIns="0" rIns="0" bIns="0" rtlCol="0" anchor="ctr"/>
          <a:lstStyle/>
          <a:p>
            <a:pPr marL="0" indent="0">
              <a:buNone/>
            </a:pPr>
            <a:r>
              <a:rPr lang="en-US" sz="1550" b="1" dirty="0">
                <a:solidFill>
                  <a:srgbClr val="111111"/>
                </a:solidFill>
                <a:latin typeface="Oswald" pitchFamily="34" charset="0"/>
                <a:ea typeface="Oswald" pitchFamily="34" charset="-122"/>
                <a:cs typeface="Oswald" pitchFamily="34" charset="-120"/>
              </a:rPr>
              <a:t>Streaming-native</a:t>
            </a:r>
            <a:endParaRPr lang="en-US" sz="1550" dirty="0"/>
          </a:p>
        </p:txBody>
      </p:sp>
      <p:sp>
        <p:nvSpPr>
          <p:cNvPr id="11" name="Text 8"/>
          <p:cNvSpPr/>
          <p:nvPr/>
        </p:nvSpPr>
        <p:spPr>
          <a:xfrm>
            <a:off x="1078992" y="1764792"/>
            <a:ext cx="4297680" cy="365760"/>
          </a:xfrm>
          <a:prstGeom prst="rect">
            <a:avLst/>
          </a:prstGeom>
          <a:noFill/>
          <a:ln/>
        </p:spPr>
        <p:txBody>
          <a:bodyPr wrap="square" lIns="0" tIns="0" rIns="0" bIns="0" rtlCol="0" anchor="ctr"/>
          <a:lstStyle/>
          <a:p>
            <a:pPr marL="0" indent="0">
              <a:buNone/>
            </a:pPr>
            <a:r>
              <a:rPr lang="en-US" sz="1150" dirty="0">
                <a:solidFill>
                  <a:srgbClr val="4A4A4A"/>
                </a:solidFill>
                <a:latin typeface="Inter Tight" pitchFamily="34" charset="0"/>
                <a:ea typeface="Inter Tight" pitchFamily="34" charset="-122"/>
                <a:cs typeface="Inter Tight" pitchFamily="34" charset="-120"/>
              </a:rPr>
              <a:t>Kafka &amp; Pulsar via a Dapr sidecar</a:t>
            </a:r>
            <a:endParaRPr lang="en-US" sz="1150" dirty="0"/>
          </a:p>
        </p:txBody>
      </p:sp>
      <p:pic>
        <p:nvPicPr>
          <p:cNvPr id="13" name="Image 1" descr="preencoded.png"/>
          <p:cNvPicPr>
            <a:picLocks noChangeAspect="1"/>
          </p:cNvPicPr>
          <p:nvPr/>
        </p:nvPicPr>
        <p:blipFill>
          <a:blip r:embed="rId4"/>
          <a:stretch>
            <a:fillRect/>
          </a:stretch>
        </p:blipFill>
        <p:spPr>
          <a:xfrm>
            <a:off x="566928" y="2304288"/>
            <a:ext cx="237744" cy="237744"/>
          </a:xfrm>
          <a:prstGeom prst="rect">
            <a:avLst/>
          </a:prstGeom>
        </p:spPr>
      </p:pic>
      <p:sp>
        <p:nvSpPr>
          <p:cNvPr id="14" name="Text 10"/>
          <p:cNvSpPr/>
          <p:nvPr/>
        </p:nvSpPr>
        <p:spPr>
          <a:xfrm>
            <a:off x="1078992" y="2176272"/>
            <a:ext cx="4206240" cy="310896"/>
          </a:xfrm>
          <a:prstGeom prst="rect">
            <a:avLst/>
          </a:prstGeom>
          <a:noFill/>
          <a:ln/>
        </p:spPr>
        <p:txBody>
          <a:bodyPr wrap="square" lIns="0" tIns="0" rIns="0" bIns="0" rtlCol="0" anchor="ctr"/>
          <a:lstStyle/>
          <a:p>
            <a:pPr marL="0" indent="0">
              <a:buNone/>
            </a:pPr>
            <a:r>
              <a:rPr lang="en-US" sz="1550" b="1" dirty="0">
                <a:solidFill>
                  <a:srgbClr val="111111"/>
                </a:solidFill>
                <a:latin typeface="Oswald" pitchFamily="34" charset="0"/>
                <a:ea typeface="Oswald" pitchFamily="34" charset="-122"/>
                <a:cs typeface="Oswald" pitchFamily="34" charset="-120"/>
              </a:rPr>
              <a:t>Built to run hot</a:t>
            </a:r>
            <a:endParaRPr lang="en-US" sz="1550" dirty="0"/>
          </a:p>
        </p:txBody>
      </p:sp>
      <p:sp>
        <p:nvSpPr>
          <p:cNvPr id="15" name="Text 11"/>
          <p:cNvSpPr/>
          <p:nvPr/>
        </p:nvSpPr>
        <p:spPr>
          <a:xfrm>
            <a:off x="1078992" y="2478024"/>
            <a:ext cx="4297680" cy="365760"/>
          </a:xfrm>
          <a:prstGeom prst="rect">
            <a:avLst/>
          </a:prstGeom>
          <a:noFill/>
          <a:ln/>
        </p:spPr>
        <p:txBody>
          <a:bodyPr wrap="square" lIns="0" tIns="0" rIns="0" bIns="0" rtlCol="0" anchor="ctr"/>
          <a:lstStyle/>
          <a:p>
            <a:pPr marL="0" indent="0">
              <a:buNone/>
            </a:pPr>
            <a:r>
              <a:rPr lang="en-US" sz="1150" dirty="0">
                <a:solidFill>
                  <a:srgbClr val="4A4A4A"/>
                </a:solidFill>
                <a:latin typeface="Inter Tight" pitchFamily="34" charset="0"/>
                <a:ea typeface="Inter Tight" pitchFamily="34" charset="-122"/>
                <a:cs typeface="Inter Tight" pitchFamily="34" charset="-120"/>
              </a:rPr>
              <a:t>Thread pools, back-pressure, hot reload, KEDA auto-scaling</a:t>
            </a:r>
            <a:endParaRPr lang="en-US" sz="1150" dirty="0"/>
          </a:p>
        </p:txBody>
      </p:sp>
      <p:pic>
        <p:nvPicPr>
          <p:cNvPr id="17" name="Image 2" descr="preencoded.png"/>
          <p:cNvPicPr>
            <a:picLocks noChangeAspect="1"/>
          </p:cNvPicPr>
          <p:nvPr/>
        </p:nvPicPr>
        <p:blipFill>
          <a:blip r:embed="rId5"/>
          <a:stretch>
            <a:fillRect/>
          </a:stretch>
        </p:blipFill>
        <p:spPr>
          <a:xfrm>
            <a:off x="566928" y="3017520"/>
            <a:ext cx="237744" cy="237744"/>
          </a:xfrm>
          <a:prstGeom prst="rect">
            <a:avLst/>
          </a:prstGeom>
        </p:spPr>
      </p:pic>
      <p:sp>
        <p:nvSpPr>
          <p:cNvPr id="18" name="Text 13"/>
          <p:cNvSpPr/>
          <p:nvPr/>
        </p:nvSpPr>
        <p:spPr>
          <a:xfrm>
            <a:off x="1078992" y="2889504"/>
            <a:ext cx="4206240" cy="310896"/>
          </a:xfrm>
          <a:prstGeom prst="rect">
            <a:avLst/>
          </a:prstGeom>
          <a:noFill/>
          <a:ln/>
        </p:spPr>
        <p:txBody>
          <a:bodyPr wrap="square" lIns="0" tIns="0" rIns="0" bIns="0" rtlCol="0" anchor="ctr"/>
          <a:lstStyle/>
          <a:p>
            <a:pPr marL="0" indent="0">
              <a:buNone/>
            </a:pPr>
            <a:r>
              <a:rPr lang="en-US" sz="1550" b="1" dirty="0">
                <a:solidFill>
                  <a:srgbClr val="111111"/>
                </a:solidFill>
                <a:latin typeface="Oswald" pitchFamily="34" charset="0"/>
                <a:ea typeface="Oswald" pitchFamily="34" charset="-122"/>
                <a:cs typeface="Oswald" pitchFamily="34" charset="-120"/>
              </a:rPr>
              <a:t>Observable</a:t>
            </a:r>
            <a:endParaRPr lang="en-US" sz="1550" dirty="0"/>
          </a:p>
        </p:txBody>
      </p:sp>
      <p:sp>
        <p:nvSpPr>
          <p:cNvPr id="19" name="Text 14"/>
          <p:cNvSpPr/>
          <p:nvPr/>
        </p:nvSpPr>
        <p:spPr>
          <a:xfrm>
            <a:off x="1078992" y="3191256"/>
            <a:ext cx="4297680" cy="365760"/>
          </a:xfrm>
          <a:prstGeom prst="rect">
            <a:avLst/>
          </a:prstGeom>
          <a:noFill/>
          <a:ln/>
        </p:spPr>
        <p:txBody>
          <a:bodyPr wrap="square" lIns="0" tIns="0" rIns="0" bIns="0" rtlCol="0" anchor="ctr"/>
          <a:lstStyle/>
          <a:p>
            <a:pPr marL="0" indent="0">
              <a:buNone/>
            </a:pPr>
            <a:r>
              <a:rPr lang="en-US" sz="1150" dirty="0">
                <a:solidFill>
                  <a:srgbClr val="4A4A4A"/>
                </a:solidFill>
                <a:latin typeface="Inter Tight" pitchFamily="34" charset="0"/>
                <a:ea typeface="Inter Tight" pitchFamily="34" charset="-122"/>
                <a:cs typeface="Inter Tight" pitchFamily="34" charset="-120"/>
              </a:rPr>
              <a:t>Prometheus metrics and health probes out of the box</a:t>
            </a:r>
            <a:endParaRPr lang="en-US" sz="1150" dirty="0"/>
          </a:p>
        </p:txBody>
      </p:sp>
      <p:pic>
        <p:nvPicPr>
          <p:cNvPr id="21" name="Image 3" descr="preencoded.png"/>
          <p:cNvPicPr>
            <a:picLocks noChangeAspect="1"/>
          </p:cNvPicPr>
          <p:nvPr/>
        </p:nvPicPr>
        <p:blipFill>
          <a:blip r:embed="rId6"/>
          <a:stretch>
            <a:fillRect/>
          </a:stretch>
        </p:blipFill>
        <p:spPr>
          <a:xfrm>
            <a:off x="566928" y="3730752"/>
            <a:ext cx="237744" cy="237744"/>
          </a:xfrm>
          <a:prstGeom prst="rect">
            <a:avLst/>
          </a:prstGeom>
        </p:spPr>
      </p:pic>
      <p:sp>
        <p:nvSpPr>
          <p:cNvPr id="22" name="Text 16"/>
          <p:cNvSpPr/>
          <p:nvPr/>
        </p:nvSpPr>
        <p:spPr>
          <a:xfrm>
            <a:off x="1078992" y="3602736"/>
            <a:ext cx="4206240" cy="310896"/>
          </a:xfrm>
          <a:prstGeom prst="rect">
            <a:avLst/>
          </a:prstGeom>
          <a:noFill/>
          <a:ln/>
        </p:spPr>
        <p:txBody>
          <a:bodyPr wrap="square" lIns="0" tIns="0" rIns="0" bIns="0" rtlCol="0" anchor="ctr"/>
          <a:lstStyle/>
          <a:p>
            <a:pPr marL="0" indent="0">
              <a:buNone/>
            </a:pPr>
            <a:r>
              <a:rPr lang="en-US" sz="1550" b="1" dirty="0">
                <a:solidFill>
                  <a:srgbClr val="111111"/>
                </a:solidFill>
                <a:latin typeface="Oswald" pitchFamily="34" charset="0"/>
                <a:ea typeface="Oswald" pitchFamily="34" charset="-122"/>
                <a:cs typeface="Oswald" pitchFamily="34" charset="-120"/>
              </a:rPr>
              <a:t>Any language</a:t>
            </a:r>
            <a:endParaRPr lang="en-US" sz="1550" dirty="0"/>
          </a:p>
        </p:txBody>
      </p:sp>
      <p:sp>
        <p:nvSpPr>
          <p:cNvPr id="23" name="Text 17"/>
          <p:cNvSpPr/>
          <p:nvPr/>
        </p:nvSpPr>
        <p:spPr>
          <a:xfrm>
            <a:off x="1078992" y="3904488"/>
            <a:ext cx="4297680" cy="365760"/>
          </a:xfrm>
          <a:prstGeom prst="rect">
            <a:avLst/>
          </a:prstGeom>
          <a:noFill/>
          <a:ln/>
        </p:spPr>
        <p:txBody>
          <a:bodyPr wrap="square" lIns="0" tIns="0" rIns="0" bIns="0" rtlCol="0" anchor="ctr"/>
          <a:lstStyle/>
          <a:p>
            <a:pPr marL="0" indent="0">
              <a:buNone/>
            </a:pPr>
            <a:r>
              <a:rPr lang="en-US" sz="1150" dirty="0">
                <a:solidFill>
                  <a:srgbClr val="4A4A4A"/>
                </a:solidFill>
                <a:latin typeface="Inter Tight" pitchFamily="34" charset="0"/>
                <a:ea typeface="Inter Tight" pitchFamily="34" charset="-122"/>
                <a:cs typeface="Inter Tight" pitchFamily="34" charset="-120"/>
              </a:rPr>
              <a:t>Talks Protobuf over piped I/O — C#, Python, Go, Java, Node…</a:t>
            </a:r>
            <a:endParaRPr lang="en-US" sz="1150" dirty="0"/>
          </a:p>
        </p:txBody>
      </p:sp>
      <p:sp>
        <p:nvSpPr>
          <p:cNvPr id="24" name="Shape 18"/>
          <p:cNvSpPr/>
          <p:nvPr/>
        </p:nvSpPr>
        <p:spPr>
          <a:xfrm>
            <a:off x="5577840" y="1481328"/>
            <a:ext cx="3108960" cy="292608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25" name="Shape 19"/>
          <p:cNvSpPr/>
          <p:nvPr/>
        </p:nvSpPr>
        <p:spPr>
          <a:xfrm>
            <a:off x="5577840" y="1481328"/>
            <a:ext cx="3108960" cy="64008"/>
          </a:xfrm>
          <a:prstGeom prst="rect">
            <a:avLst/>
          </a:prstGeom>
          <a:solidFill>
            <a:srgbClr val="CB0017"/>
          </a:solidFill>
          <a:ln w="12700">
            <a:solidFill>
              <a:srgbClr val="CB0017"/>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5806440" y="1737360"/>
            <a:ext cx="603504" cy="603504"/>
          </a:xfrm>
          <a:prstGeom prst="rect">
            <a:avLst/>
          </a:prstGeom>
        </p:spPr>
      </p:pic>
      <p:sp>
        <p:nvSpPr>
          <p:cNvPr id="27" name="Text 20"/>
          <p:cNvSpPr/>
          <p:nvPr/>
        </p:nvSpPr>
        <p:spPr>
          <a:xfrm>
            <a:off x="5806440" y="2395728"/>
            <a:ext cx="2743200" cy="274320"/>
          </a:xfrm>
          <a:prstGeom prst="rect">
            <a:avLst/>
          </a:prstGeom>
          <a:noFill/>
          <a:ln/>
        </p:spPr>
        <p:txBody>
          <a:bodyPr wrap="square" lIns="0" tIns="0" rIns="0" bIns="0" rtlCol="0" anchor="ctr"/>
          <a:lstStyle/>
          <a:p>
            <a:pPr marL="0" indent="0">
              <a:buNone/>
            </a:pPr>
            <a:r>
              <a:rPr lang="en-US" sz="1100" b="1" kern="0" spc="150" dirty="0">
                <a:solidFill>
                  <a:srgbClr val="CB0017"/>
                </a:solidFill>
                <a:latin typeface="Oswald" pitchFamily="34" charset="0"/>
                <a:ea typeface="Oswald" pitchFamily="34" charset="-122"/>
                <a:cs typeface="Oswald" pitchFamily="34" charset="-120"/>
              </a:rPr>
              <a:t>ON AZURE MARKETPLACE</a:t>
            </a:r>
            <a:endParaRPr lang="en-US" sz="1100" dirty="0"/>
          </a:p>
        </p:txBody>
      </p:sp>
      <p:sp>
        <p:nvSpPr>
          <p:cNvPr id="28" name="Text 21"/>
          <p:cNvSpPr/>
          <p:nvPr/>
        </p:nvSpPr>
        <p:spPr>
          <a:xfrm>
            <a:off x="5806440" y="2670048"/>
            <a:ext cx="2743200" cy="457200"/>
          </a:xfrm>
          <a:prstGeom prst="rect">
            <a:avLst/>
          </a:prstGeom>
          <a:noFill/>
          <a:ln/>
        </p:spPr>
        <p:txBody>
          <a:bodyPr wrap="square" lIns="0" tIns="0" rIns="0" bIns="0" rtlCol="0" anchor="ctr"/>
          <a:lstStyle/>
          <a:p>
            <a:pPr marL="0" indent="0">
              <a:buNone/>
            </a:pPr>
            <a:r>
              <a:rPr lang="en-US" sz="2200" b="1" dirty="0">
                <a:solidFill>
                  <a:srgbClr val="111111"/>
                </a:solidFill>
                <a:latin typeface="Oswald" pitchFamily="34" charset="0"/>
                <a:ea typeface="Oswald" pitchFamily="34" charset="-122"/>
                <a:cs typeface="Oswald" pitchFamily="34" charset="-120"/>
              </a:rPr>
              <a:t>One-click deploy</a:t>
            </a:r>
            <a:endParaRPr lang="en-US" sz="2200" dirty="0"/>
          </a:p>
        </p:txBody>
      </p:sp>
      <p:sp>
        <p:nvSpPr>
          <p:cNvPr id="29" name="Text 22"/>
          <p:cNvSpPr/>
          <p:nvPr/>
        </p:nvSpPr>
        <p:spPr>
          <a:xfrm>
            <a:off x="5806440" y="3200400"/>
            <a:ext cx="2697480" cy="1097280"/>
          </a:xfrm>
          <a:prstGeom prst="rect">
            <a:avLst/>
          </a:prstGeom>
          <a:noFill/>
          <a:ln/>
        </p:spPr>
        <p:txBody>
          <a:bodyPr wrap="square" lIns="0" tIns="0" rIns="0" bIns="0" rtlCol="0" anchor="ctr"/>
          <a:lstStyle/>
          <a:p>
            <a:pPr marL="0" indent="0">
              <a:buNone/>
            </a:pPr>
            <a:r>
              <a:rPr lang="en-US" sz="1250" dirty="0">
                <a:solidFill>
                  <a:srgbClr val="4A4A4A"/>
                </a:solidFill>
                <a:latin typeface="Inter Tight" pitchFamily="34" charset="0"/>
                <a:ea typeface="Inter Tight" pitchFamily="34" charset="-122"/>
                <a:cs typeface="Inter Tight" pitchFamily="34" charset="-120"/>
              </a:rPr>
              <a:t>Provision the UTL-X engine as a managed offer in your own Azure tenant — or pull the container image and run it anywhere.</a:t>
            </a:r>
            <a:endParaRPr lang="en-US" sz="1250" dirty="0"/>
          </a:p>
        </p:txBody>
      </p:sp>
      <p:sp>
        <p:nvSpPr>
          <p:cNvPr id="30" name="Text 4">
            <a:extLst>
              <a:ext uri="{FF2B5EF4-FFF2-40B4-BE49-F238E27FC236}">
                <a16:creationId xmlns:a16="http://schemas.microsoft.com/office/drawing/2014/main" id="{AB079994-E957-BBA3-AAE1-65DAF7E33D5A}"/>
              </a:ext>
            </a:extLst>
          </p:cNvPr>
          <p:cNvSpPr/>
          <p:nvPr/>
        </p:nvSpPr>
        <p:spPr>
          <a:xfrm>
            <a:off x="5574199" y="1123175"/>
            <a:ext cx="4030643" cy="274320"/>
          </a:xfrm>
          <a:prstGeom prst="rect">
            <a:avLst/>
          </a:prstGeom>
          <a:noFill/>
          <a:ln/>
        </p:spPr>
        <p:txBody>
          <a:bodyPr wrap="square" lIns="0" tIns="0" rIns="0" bIns="0" rtlCol="0" anchor="ctr"/>
          <a:lstStyle/>
          <a:p>
            <a:r>
              <a:rPr lang="en-US" sz="1200" b="1" kern="0" spc="300" dirty="0">
                <a:solidFill>
                  <a:srgbClr val="CB0017"/>
                </a:solidFill>
                <a:latin typeface="Oswald" pitchFamily="34" charset="0"/>
                <a:ea typeface="Oswald" pitchFamily="34" charset="-122"/>
                <a:cs typeface="Oswald" pitchFamily="34" charset="-120"/>
              </a:rPr>
              <a:t>Sidecar utlxe container offering</a:t>
            </a:r>
          </a:p>
          <a:p>
            <a:r>
              <a:rPr lang="en-US" b="1" dirty="0"/>
              <a:t>UTL-X Transformation Engine</a:t>
            </a:r>
          </a:p>
          <a:p>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1</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03 · utlxe — ON AZURE</a:t>
            </a:r>
            <a:endParaRPr lang="en-US" sz="1200" dirty="0"/>
          </a:p>
        </p:txBody>
      </p:sp>
      <p:sp>
        <p:nvSpPr>
          <p:cNvPr id="7" name="Text 5"/>
          <p:cNvSpPr/>
          <p:nvPr/>
        </p:nvSpPr>
        <p:spPr>
          <a:xfrm>
            <a:off x="457200" y="585216"/>
            <a:ext cx="7863840" cy="731520"/>
          </a:xfrm>
          <a:prstGeom prst="rect">
            <a:avLst/>
          </a:prstGeom>
          <a:noFill/>
          <a:ln/>
        </p:spPr>
        <p:txBody>
          <a:bodyPr wrap="square" lIns="0" tIns="0" rIns="0" bIns="0" rtlCol="0" anchor="ctr"/>
          <a:lstStyle/>
          <a:p>
            <a:pPr marL="0" indent="0">
              <a:buNone/>
            </a:pPr>
            <a:r>
              <a:rPr lang="en-US" sz="3000" b="1" kern="0" spc="-30" dirty="0">
                <a:solidFill>
                  <a:srgbClr val="111111"/>
                </a:solidFill>
                <a:latin typeface="Oswald" pitchFamily="34" charset="0"/>
                <a:ea typeface="Oswald" pitchFamily="34" charset="-122"/>
                <a:cs typeface="Oswald" pitchFamily="34" charset="-120"/>
              </a:rPr>
              <a:t>What the Marketplace provisions</a:t>
            </a:r>
            <a:endParaRPr lang="en-US" sz="3000" dirty="0"/>
          </a:p>
        </p:txBody>
      </p:sp>
      <p:sp>
        <p:nvSpPr>
          <p:cNvPr id="8" name="Text 6"/>
          <p:cNvSpPr/>
          <p:nvPr/>
        </p:nvSpPr>
        <p:spPr>
          <a:xfrm>
            <a:off x="457200" y="1325880"/>
            <a:ext cx="4937760" cy="274320"/>
          </a:xfrm>
          <a:prstGeom prst="rect">
            <a:avLst/>
          </a:prstGeom>
          <a:noFill/>
          <a:ln/>
        </p:spPr>
        <p:txBody>
          <a:bodyPr wrap="square" lIns="0" tIns="0" rIns="0" bIns="0" rtlCol="0" anchor="ctr"/>
          <a:lstStyle/>
          <a:p>
            <a:pPr marL="0" indent="0">
              <a:buNone/>
            </a:pPr>
            <a:r>
              <a:rPr lang="en-US" sz="1200" b="1" kern="0" spc="150" dirty="0">
                <a:solidFill>
                  <a:srgbClr val="CB0017"/>
                </a:solidFill>
                <a:latin typeface="Oswald" pitchFamily="34" charset="0"/>
                <a:ea typeface="Oswald" pitchFamily="34" charset="-122"/>
                <a:cs typeface="Oswald" pitchFamily="34" charset="-120"/>
              </a:rPr>
              <a:t>PROVISIONED AUTOMATICALLY — THE ENGINE</a:t>
            </a:r>
            <a:endParaRPr lang="en-US" sz="1200" dirty="0"/>
          </a:p>
        </p:txBody>
      </p:sp>
      <p:sp>
        <p:nvSpPr>
          <p:cNvPr id="9" name="Shape 7"/>
          <p:cNvSpPr/>
          <p:nvPr/>
        </p:nvSpPr>
        <p:spPr>
          <a:xfrm>
            <a:off x="457200" y="1691640"/>
            <a:ext cx="2487168" cy="877824"/>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0" name="Shape 8"/>
          <p:cNvSpPr/>
          <p:nvPr/>
        </p:nvSpPr>
        <p:spPr>
          <a:xfrm>
            <a:off x="457200" y="1691640"/>
            <a:ext cx="73152" cy="877824"/>
          </a:xfrm>
          <a:prstGeom prst="rect">
            <a:avLst/>
          </a:prstGeom>
          <a:solidFill>
            <a:srgbClr val="CB0017"/>
          </a:solidFill>
          <a:ln w="12700">
            <a:solidFill>
              <a:srgbClr val="CB0017"/>
            </a:solidFill>
            <a:prstDash val="solid"/>
          </a:ln>
        </p:spPr>
        <p:txBody>
          <a:bodyPr/>
          <a:lstStyle/>
          <a:p>
            <a:endParaRPr lang="en-US"/>
          </a:p>
        </p:txBody>
      </p:sp>
      <p:sp>
        <p:nvSpPr>
          <p:cNvPr id="11" name="Shape 9"/>
          <p:cNvSpPr/>
          <p:nvPr/>
        </p:nvSpPr>
        <p:spPr>
          <a:xfrm>
            <a:off x="621792" y="1847088"/>
            <a:ext cx="420624" cy="420624"/>
          </a:xfrm>
          <a:prstGeom prst="ellipse">
            <a:avLst/>
          </a:prstGeom>
          <a:solidFill>
            <a:srgbClr val="CB0017"/>
          </a:solidFill>
          <a:ln w="12700">
            <a:solidFill>
              <a:srgbClr val="CB0017"/>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735360" y="1960656"/>
            <a:ext cx="193487" cy="193487"/>
          </a:xfrm>
          <a:prstGeom prst="rect">
            <a:avLst/>
          </a:prstGeom>
        </p:spPr>
      </p:pic>
      <p:sp>
        <p:nvSpPr>
          <p:cNvPr id="13" name="Text 10"/>
          <p:cNvSpPr/>
          <p:nvPr/>
        </p:nvSpPr>
        <p:spPr>
          <a:xfrm>
            <a:off x="1133856" y="1810512"/>
            <a:ext cx="1737360" cy="292608"/>
          </a:xfrm>
          <a:prstGeom prst="rect">
            <a:avLst/>
          </a:prstGeom>
          <a:noFill/>
          <a:ln/>
        </p:spPr>
        <p:txBody>
          <a:bodyPr wrap="square" lIns="0" tIns="0" rIns="0" bIns="0" rtlCol="0" anchor="ctr"/>
          <a:lstStyle/>
          <a:p>
            <a:pPr marL="0" indent="0">
              <a:buNone/>
            </a:pPr>
            <a:r>
              <a:rPr lang="en-US" sz="1350" b="1" dirty="0">
                <a:solidFill>
                  <a:srgbClr val="111111"/>
                </a:solidFill>
                <a:latin typeface="Oswald" pitchFamily="34" charset="0"/>
                <a:ea typeface="Oswald" pitchFamily="34" charset="-122"/>
                <a:cs typeface="Oswald" pitchFamily="34" charset="-120"/>
              </a:rPr>
              <a:t>UTLXe engine</a:t>
            </a:r>
            <a:endParaRPr lang="en-US" sz="1350" dirty="0"/>
          </a:p>
        </p:txBody>
      </p:sp>
      <p:sp>
        <p:nvSpPr>
          <p:cNvPr id="14" name="Text 11"/>
          <p:cNvSpPr/>
          <p:nvPr/>
        </p:nvSpPr>
        <p:spPr>
          <a:xfrm>
            <a:off x="1133856" y="2103120"/>
            <a:ext cx="1737360" cy="411480"/>
          </a:xfrm>
          <a:prstGeom prst="rect">
            <a:avLst/>
          </a:prstGeom>
          <a:noFill/>
          <a:ln/>
        </p:spPr>
        <p:txBody>
          <a:bodyPr wrap="square" lIns="0" tIns="0" rIns="0" bIns="0" rtlCol="0" anchor="ctr"/>
          <a:lstStyle/>
          <a:p>
            <a:pPr marL="0" indent="0">
              <a:buNone/>
            </a:pPr>
            <a:r>
              <a:rPr lang="en-US" sz="950" dirty="0">
                <a:solidFill>
                  <a:srgbClr val="4A4A4A"/>
                </a:solidFill>
                <a:latin typeface="Inter Tight" pitchFamily="34" charset="0"/>
                <a:ea typeface="Inter Tight" pitchFamily="34" charset="-122"/>
                <a:cs typeface="Inter Tight" pitchFamily="34" charset="-120"/>
              </a:rPr>
              <a:t>the transformation runtime</a:t>
            </a:r>
            <a:endParaRPr lang="en-US" sz="950" dirty="0"/>
          </a:p>
        </p:txBody>
      </p:sp>
      <p:sp>
        <p:nvSpPr>
          <p:cNvPr id="15" name="Shape 12"/>
          <p:cNvSpPr/>
          <p:nvPr/>
        </p:nvSpPr>
        <p:spPr>
          <a:xfrm>
            <a:off x="3017520" y="1691640"/>
            <a:ext cx="2487168" cy="877824"/>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6" name="Shape 13"/>
          <p:cNvSpPr/>
          <p:nvPr/>
        </p:nvSpPr>
        <p:spPr>
          <a:xfrm>
            <a:off x="3017520" y="1691640"/>
            <a:ext cx="73152" cy="877824"/>
          </a:xfrm>
          <a:prstGeom prst="rect">
            <a:avLst/>
          </a:prstGeom>
          <a:solidFill>
            <a:srgbClr val="CB0017"/>
          </a:solidFill>
          <a:ln w="12700">
            <a:solidFill>
              <a:srgbClr val="CB0017"/>
            </a:solidFill>
            <a:prstDash val="solid"/>
          </a:ln>
        </p:spPr>
        <p:txBody>
          <a:bodyPr/>
          <a:lstStyle/>
          <a:p>
            <a:endParaRPr lang="en-US"/>
          </a:p>
        </p:txBody>
      </p:sp>
      <p:sp>
        <p:nvSpPr>
          <p:cNvPr id="17" name="Shape 14"/>
          <p:cNvSpPr/>
          <p:nvPr/>
        </p:nvSpPr>
        <p:spPr>
          <a:xfrm>
            <a:off x="3182112" y="1847088"/>
            <a:ext cx="420624" cy="420624"/>
          </a:xfrm>
          <a:prstGeom prst="ellipse">
            <a:avLst/>
          </a:prstGeom>
          <a:solidFill>
            <a:srgbClr val="CB0017"/>
          </a:solidFill>
          <a:ln w="12700">
            <a:solidFill>
              <a:srgbClr val="CB0017"/>
            </a:solidFill>
            <a:prstDash val="solid"/>
          </a:ln>
        </p:spPr>
        <p:txBody>
          <a:bodyPr/>
          <a:lstStyle/>
          <a:p>
            <a:endParaRPr lang="en-US"/>
          </a:p>
        </p:txBody>
      </p:sp>
      <p:pic>
        <p:nvPicPr>
          <p:cNvPr id="18" name="Image 1" descr="preencoded.png"/>
          <p:cNvPicPr>
            <a:picLocks noChangeAspect="1"/>
          </p:cNvPicPr>
          <p:nvPr/>
        </p:nvPicPr>
        <p:blipFill>
          <a:blip r:embed="rId4"/>
          <a:stretch>
            <a:fillRect/>
          </a:stretch>
        </p:blipFill>
        <p:spPr>
          <a:xfrm>
            <a:off x="3295680" y="1960656"/>
            <a:ext cx="193487" cy="193487"/>
          </a:xfrm>
          <a:prstGeom prst="rect">
            <a:avLst/>
          </a:prstGeom>
        </p:spPr>
      </p:pic>
      <p:sp>
        <p:nvSpPr>
          <p:cNvPr id="19" name="Text 15"/>
          <p:cNvSpPr/>
          <p:nvPr/>
        </p:nvSpPr>
        <p:spPr>
          <a:xfrm>
            <a:off x="3694176" y="1810512"/>
            <a:ext cx="1737360" cy="292608"/>
          </a:xfrm>
          <a:prstGeom prst="rect">
            <a:avLst/>
          </a:prstGeom>
          <a:noFill/>
          <a:ln/>
        </p:spPr>
        <p:txBody>
          <a:bodyPr wrap="square" lIns="0" tIns="0" rIns="0" bIns="0" rtlCol="0" anchor="ctr"/>
          <a:lstStyle/>
          <a:p>
            <a:pPr marL="0" indent="0">
              <a:buNone/>
            </a:pPr>
            <a:r>
              <a:rPr lang="en-US" sz="1350" b="1" dirty="0">
                <a:solidFill>
                  <a:srgbClr val="111111"/>
                </a:solidFill>
                <a:latin typeface="Oswald" pitchFamily="34" charset="0"/>
                <a:ea typeface="Oswald" pitchFamily="34" charset="-122"/>
                <a:cs typeface="Oswald" pitchFamily="34" charset="-120"/>
              </a:rPr>
              <a:t>Dapr sidecar</a:t>
            </a:r>
            <a:endParaRPr lang="en-US" sz="1350" dirty="0"/>
          </a:p>
        </p:txBody>
      </p:sp>
      <p:sp>
        <p:nvSpPr>
          <p:cNvPr id="20" name="Text 16"/>
          <p:cNvSpPr/>
          <p:nvPr/>
        </p:nvSpPr>
        <p:spPr>
          <a:xfrm>
            <a:off x="3694176" y="2103120"/>
            <a:ext cx="1737360" cy="411480"/>
          </a:xfrm>
          <a:prstGeom prst="rect">
            <a:avLst/>
          </a:prstGeom>
          <a:noFill/>
          <a:ln/>
        </p:spPr>
        <p:txBody>
          <a:bodyPr wrap="square" lIns="0" tIns="0" rIns="0" bIns="0" rtlCol="0" anchor="ctr"/>
          <a:lstStyle/>
          <a:p>
            <a:pPr marL="0" indent="0">
              <a:buNone/>
            </a:pPr>
            <a:r>
              <a:rPr lang="en-US" sz="950" dirty="0">
                <a:solidFill>
                  <a:srgbClr val="4A4A4A"/>
                </a:solidFill>
                <a:latin typeface="Inter Tight" pitchFamily="34" charset="0"/>
                <a:ea typeface="Inter Tight" pitchFamily="34" charset="-122"/>
                <a:cs typeface="Inter Tight" pitchFamily="34" charset="-120"/>
              </a:rPr>
              <a:t>Service Bus / Event Hub — no custom networking</a:t>
            </a:r>
            <a:endParaRPr lang="en-US" sz="950" dirty="0"/>
          </a:p>
        </p:txBody>
      </p:sp>
      <p:sp>
        <p:nvSpPr>
          <p:cNvPr id="21" name="Shape 17"/>
          <p:cNvSpPr/>
          <p:nvPr/>
        </p:nvSpPr>
        <p:spPr>
          <a:xfrm>
            <a:off x="457200" y="2679192"/>
            <a:ext cx="2487168" cy="877824"/>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22" name="Shape 18"/>
          <p:cNvSpPr/>
          <p:nvPr/>
        </p:nvSpPr>
        <p:spPr>
          <a:xfrm>
            <a:off x="457200" y="2679192"/>
            <a:ext cx="73152" cy="877824"/>
          </a:xfrm>
          <a:prstGeom prst="rect">
            <a:avLst/>
          </a:prstGeom>
          <a:solidFill>
            <a:srgbClr val="CB0017"/>
          </a:solidFill>
          <a:ln w="12700">
            <a:solidFill>
              <a:srgbClr val="CB0017"/>
            </a:solidFill>
            <a:prstDash val="solid"/>
          </a:ln>
        </p:spPr>
        <p:txBody>
          <a:bodyPr/>
          <a:lstStyle/>
          <a:p>
            <a:endParaRPr lang="en-US"/>
          </a:p>
        </p:txBody>
      </p:sp>
      <p:sp>
        <p:nvSpPr>
          <p:cNvPr id="23" name="Shape 19"/>
          <p:cNvSpPr/>
          <p:nvPr/>
        </p:nvSpPr>
        <p:spPr>
          <a:xfrm>
            <a:off x="621792" y="2834640"/>
            <a:ext cx="420624" cy="420624"/>
          </a:xfrm>
          <a:prstGeom prst="ellipse">
            <a:avLst/>
          </a:prstGeom>
          <a:solidFill>
            <a:srgbClr val="CB0017"/>
          </a:solidFill>
          <a:ln w="12700">
            <a:solidFill>
              <a:srgbClr val="CB0017"/>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735360" y="2948208"/>
            <a:ext cx="193487" cy="193487"/>
          </a:xfrm>
          <a:prstGeom prst="rect">
            <a:avLst/>
          </a:prstGeom>
        </p:spPr>
      </p:pic>
      <p:sp>
        <p:nvSpPr>
          <p:cNvPr id="25" name="Text 20"/>
          <p:cNvSpPr/>
          <p:nvPr/>
        </p:nvSpPr>
        <p:spPr>
          <a:xfrm>
            <a:off x="1133856" y="2798064"/>
            <a:ext cx="1737360" cy="292608"/>
          </a:xfrm>
          <a:prstGeom prst="rect">
            <a:avLst/>
          </a:prstGeom>
          <a:noFill/>
          <a:ln/>
        </p:spPr>
        <p:txBody>
          <a:bodyPr wrap="square" lIns="0" tIns="0" rIns="0" bIns="0" rtlCol="0" anchor="ctr"/>
          <a:lstStyle/>
          <a:p>
            <a:pPr marL="0" indent="0">
              <a:buNone/>
            </a:pPr>
            <a:r>
              <a:rPr lang="en-US" sz="1350" b="1" dirty="0">
                <a:solidFill>
                  <a:srgbClr val="111111"/>
                </a:solidFill>
                <a:latin typeface="Oswald" pitchFamily="34" charset="0"/>
                <a:ea typeface="Oswald" pitchFamily="34" charset="-122"/>
                <a:cs typeface="Oswald" pitchFamily="34" charset="-120"/>
              </a:rPr>
              <a:t>Admin Web UI</a:t>
            </a:r>
            <a:endParaRPr lang="en-US" sz="1350" dirty="0"/>
          </a:p>
        </p:txBody>
      </p:sp>
      <p:sp>
        <p:nvSpPr>
          <p:cNvPr id="26" name="Text 21"/>
          <p:cNvSpPr/>
          <p:nvPr/>
        </p:nvSpPr>
        <p:spPr>
          <a:xfrm>
            <a:off x="1133856" y="3090672"/>
            <a:ext cx="1737360" cy="411480"/>
          </a:xfrm>
          <a:prstGeom prst="rect">
            <a:avLst/>
          </a:prstGeom>
          <a:noFill/>
          <a:ln/>
        </p:spPr>
        <p:txBody>
          <a:bodyPr wrap="square" lIns="0" tIns="0" rIns="0" bIns="0" rtlCol="0" anchor="ctr"/>
          <a:lstStyle/>
          <a:p>
            <a:pPr marL="0" indent="0">
              <a:buNone/>
            </a:pPr>
            <a:r>
              <a:rPr lang="en-US" sz="950" dirty="0">
                <a:solidFill>
                  <a:srgbClr val="4A4A4A"/>
                </a:solidFill>
                <a:latin typeface="Inter Tight" pitchFamily="34" charset="0"/>
                <a:ea typeface="Inter Tight" pitchFamily="34" charset="-122"/>
                <a:cs typeface="Inter Tight" pitchFamily="34" charset="-120"/>
              </a:rPr>
              <a:t>upload · test · monitor  (optional)</a:t>
            </a:r>
            <a:endParaRPr lang="en-US" sz="950" dirty="0"/>
          </a:p>
        </p:txBody>
      </p:sp>
      <p:sp>
        <p:nvSpPr>
          <p:cNvPr id="27" name="Shape 22"/>
          <p:cNvSpPr/>
          <p:nvPr/>
        </p:nvSpPr>
        <p:spPr>
          <a:xfrm>
            <a:off x="3017520" y="2679192"/>
            <a:ext cx="2487168" cy="877824"/>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28" name="Shape 23"/>
          <p:cNvSpPr/>
          <p:nvPr/>
        </p:nvSpPr>
        <p:spPr>
          <a:xfrm>
            <a:off x="3017520" y="2679192"/>
            <a:ext cx="73152" cy="877824"/>
          </a:xfrm>
          <a:prstGeom prst="rect">
            <a:avLst/>
          </a:prstGeom>
          <a:solidFill>
            <a:srgbClr val="CB0017"/>
          </a:solidFill>
          <a:ln w="12700">
            <a:solidFill>
              <a:srgbClr val="CB0017"/>
            </a:solidFill>
            <a:prstDash val="solid"/>
          </a:ln>
        </p:spPr>
        <p:txBody>
          <a:bodyPr/>
          <a:lstStyle/>
          <a:p>
            <a:endParaRPr lang="en-US"/>
          </a:p>
        </p:txBody>
      </p:sp>
      <p:sp>
        <p:nvSpPr>
          <p:cNvPr id="29" name="Shape 24"/>
          <p:cNvSpPr/>
          <p:nvPr/>
        </p:nvSpPr>
        <p:spPr>
          <a:xfrm>
            <a:off x="3182112" y="2834640"/>
            <a:ext cx="420624" cy="420624"/>
          </a:xfrm>
          <a:prstGeom prst="ellipse">
            <a:avLst/>
          </a:prstGeom>
          <a:solidFill>
            <a:srgbClr val="CB0017"/>
          </a:solidFill>
          <a:ln w="12700">
            <a:solidFill>
              <a:srgbClr val="CB0017"/>
            </a:solidFill>
            <a:prstDash val="solid"/>
          </a:ln>
        </p:spPr>
        <p:txBody>
          <a:bodyPr/>
          <a:lstStyle/>
          <a:p>
            <a:endParaRPr lang="en-US"/>
          </a:p>
        </p:txBody>
      </p:sp>
      <p:pic>
        <p:nvPicPr>
          <p:cNvPr id="30" name="Image 3" descr="preencoded.png"/>
          <p:cNvPicPr>
            <a:picLocks noChangeAspect="1"/>
          </p:cNvPicPr>
          <p:nvPr/>
        </p:nvPicPr>
        <p:blipFill>
          <a:blip r:embed="rId6"/>
          <a:stretch>
            <a:fillRect/>
          </a:stretch>
        </p:blipFill>
        <p:spPr>
          <a:xfrm>
            <a:off x="3295680" y="2948208"/>
            <a:ext cx="193487" cy="193487"/>
          </a:xfrm>
          <a:prstGeom prst="rect">
            <a:avLst/>
          </a:prstGeom>
        </p:spPr>
      </p:pic>
      <p:sp>
        <p:nvSpPr>
          <p:cNvPr id="31" name="Text 25"/>
          <p:cNvSpPr/>
          <p:nvPr/>
        </p:nvSpPr>
        <p:spPr>
          <a:xfrm>
            <a:off x="3694176" y="2798064"/>
            <a:ext cx="1737360" cy="292608"/>
          </a:xfrm>
          <a:prstGeom prst="rect">
            <a:avLst/>
          </a:prstGeom>
          <a:noFill/>
          <a:ln/>
        </p:spPr>
        <p:txBody>
          <a:bodyPr wrap="square" lIns="0" tIns="0" rIns="0" bIns="0" rtlCol="0" anchor="ctr"/>
          <a:lstStyle/>
          <a:p>
            <a:pPr marL="0" indent="0">
              <a:buNone/>
            </a:pPr>
            <a:r>
              <a:rPr lang="en-US" sz="1350" b="1" dirty="0">
                <a:solidFill>
                  <a:srgbClr val="111111"/>
                </a:solidFill>
                <a:latin typeface="Oswald" pitchFamily="34" charset="0"/>
                <a:ea typeface="Oswald" pitchFamily="34" charset="-122"/>
                <a:cs typeface="Oswald" pitchFamily="34" charset="-120"/>
              </a:rPr>
              <a:t>Persistent storage</a:t>
            </a:r>
            <a:endParaRPr lang="en-US" sz="1350" dirty="0"/>
          </a:p>
        </p:txBody>
      </p:sp>
      <p:sp>
        <p:nvSpPr>
          <p:cNvPr id="32" name="Text 26"/>
          <p:cNvSpPr/>
          <p:nvPr/>
        </p:nvSpPr>
        <p:spPr>
          <a:xfrm>
            <a:off x="3694176" y="3090672"/>
            <a:ext cx="1737360" cy="411480"/>
          </a:xfrm>
          <a:prstGeom prst="rect">
            <a:avLst/>
          </a:prstGeom>
          <a:noFill/>
          <a:ln/>
        </p:spPr>
        <p:txBody>
          <a:bodyPr wrap="square" lIns="0" tIns="0" rIns="0" bIns="0" rtlCol="0" anchor="ctr"/>
          <a:lstStyle/>
          <a:p>
            <a:pPr marL="0" indent="0">
              <a:buNone/>
            </a:pPr>
            <a:r>
              <a:rPr lang="en-US" sz="950" dirty="0">
                <a:solidFill>
                  <a:srgbClr val="4A4A4A"/>
                </a:solidFill>
                <a:latin typeface="Inter Tight" pitchFamily="34" charset="0"/>
                <a:ea typeface="Inter Tight" pitchFamily="34" charset="-122"/>
                <a:cs typeface="Inter Tight" pitchFamily="34" charset="-120"/>
              </a:rPr>
              <a:t>Azure Files mount  (optional)</a:t>
            </a:r>
            <a:endParaRPr lang="en-US" sz="950" dirty="0"/>
          </a:p>
        </p:txBody>
      </p:sp>
      <p:sp>
        <p:nvSpPr>
          <p:cNvPr id="33" name="Shape 27"/>
          <p:cNvSpPr/>
          <p:nvPr/>
        </p:nvSpPr>
        <p:spPr>
          <a:xfrm>
            <a:off x="457200" y="3666744"/>
            <a:ext cx="2487168" cy="877824"/>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34" name="Shape 28"/>
          <p:cNvSpPr/>
          <p:nvPr/>
        </p:nvSpPr>
        <p:spPr>
          <a:xfrm>
            <a:off x="457200" y="3666744"/>
            <a:ext cx="73152" cy="877824"/>
          </a:xfrm>
          <a:prstGeom prst="rect">
            <a:avLst/>
          </a:prstGeom>
          <a:solidFill>
            <a:srgbClr val="CB0017"/>
          </a:solidFill>
          <a:ln w="12700">
            <a:solidFill>
              <a:srgbClr val="CB0017"/>
            </a:solidFill>
            <a:prstDash val="solid"/>
          </a:ln>
        </p:spPr>
        <p:txBody>
          <a:bodyPr/>
          <a:lstStyle/>
          <a:p>
            <a:endParaRPr lang="en-US"/>
          </a:p>
        </p:txBody>
      </p:sp>
      <p:sp>
        <p:nvSpPr>
          <p:cNvPr id="35" name="Shape 29"/>
          <p:cNvSpPr/>
          <p:nvPr/>
        </p:nvSpPr>
        <p:spPr>
          <a:xfrm>
            <a:off x="621792" y="3822192"/>
            <a:ext cx="420624" cy="420624"/>
          </a:xfrm>
          <a:prstGeom prst="ellipse">
            <a:avLst/>
          </a:prstGeom>
          <a:solidFill>
            <a:srgbClr val="CB0017"/>
          </a:solidFill>
          <a:ln w="12700">
            <a:solidFill>
              <a:srgbClr val="CB0017"/>
            </a:solidFill>
            <a:prstDash val="solid"/>
          </a:ln>
        </p:spPr>
        <p:txBody>
          <a:bodyPr/>
          <a:lstStyle/>
          <a:p>
            <a:endParaRPr lang="en-US"/>
          </a:p>
        </p:txBody>
      </p:sp>
      <p:pic>
        <p:nvPicPr>
          <p:cNvPr id="36" name="Image 4" descr="preencoded.png"/>
          <p:cNvPicPr>
            <a:picLocks noChangeAspect="1"/>
          </p:cNvPicPr>
          <p:nvPr/>
        </p:nvPicPr>
        <p:blipFill>
          <a:blip r:embed="rId7"/>
          <a:stretch>
            <a:fillRect/>
          </a:stretch>
        </p:blipFill>
        <p:spPr>
          <a:xfrm>
            <a:off x="735360" y="3935760"/>
            <a:ext cx="193487" cy="193487"/>
          </a:xfrm>
          <a:prstGeom prst="rect">
            <a:avLst/>
          </a:prstGeom>
        </p:spPr>
      </p:pic>
      <p:sp>
        <p:nvSpPr>
          <p:cNvPr id="37" name="Text 30"/>
          <p:cNvSpPr/>
          <p:nvPr/>
        </p:nvSpPr>
        <p:spPr>
          <a:xfrm>
            <a:off x="1133856" y="3785616"/>
            <a:ext cx="1737360" cy="292608"/>
          </a:xfrm>
          <a:prstGeom prst="rect">
            <a:avLst/>
          </a:prstGeom>
          <a:noFill/>
          <a:ln/>
        </p:spPr>
        <p:txBody>
          <a:bodyPr wrap="square" lIns="0" tIns="0" rIns="0" bIns="0" rtlCol="0" anchor="ctr"/>
          <a:lstStyle/>
          <a:p>
            <a:pPr marL="0" indent="0">
              <a:buNone/>
            </a:pPr>
            <a:r>
              <a:rPr lang="en-US" sz="1350" b="1" dirty="0">
                <a:solidFill>
                  <a:srgbClr val="111111"/>
                </a:solidFill>
                <a:latin typeface="Oswald" pitchFamily="34" charset="0"/>
                <a:ea typeface="Oswald" pitchFamily="34" charset="-122"/>
                <a:cs typeface="Oswald" pitchFamily="34" charset="-120"/>
              </a:rPr>
              <a:t>Health &amp; metrics</a:t>
            </a:r>
            <a:endParaRPr lang="en-US" sz="1350" dirty="0"/>
          </a:p>
        </p:txBody>
      </p:sp>
      <p:sp>
        <p:nvSpPr>
          <p:cNvPr id="38" name="Text 31"/>
          <p:cNvSpPr/>
          <p:nvPr/>
        </p:nvSpPr>
        <p:spPr>
          <a:xfrm>
            <a:off x="1133856" y="4078224"/>
            <a:ext cx="1737360" cy="411480"/>
          </a:xfrm>
          <a:prstGeom prst="rect">
            <a:avLst/>
          </a:prstGeom>
          <a:noFill/>
          <a:ln/>
        </p:spPr>
        <p:txBody>
          <a:bodyPr wrap="square" lIns="0" tIns="0" rIns="0" bIns="0" rtlCol="0" anchor="ctr"/>
          <a:lstStyle/>
          <a:p>
            <a:pPr marL="0" indent="0">
              <a:buNone/>
            </a:pPr>
            <a:r>
              <a:rPr lang="en-US" sz="950" dirty="0">
                <a:solidFill>
                  <a:srgbClr val="4A4A4A"/>
                </a:solidFill>
                <a:latin typeface="Inter Tight" pitchFamily="34" charset="0"/>
                <a:ea typeface="Inter Tight" pitchFamily="34" charset="-122"/>
                <a:cs typeface="Inter Tight" pitchFamily="34" charset="-120"/>
              </a:rPr>
              <a:t>Prometheus → Grafana / Azure Monitor</a:t>
            </a:r>
            <a:endParaRPr lang="en-US" sz="950" dirty="0"/>
          </a:p>
        </p:txBody>
      </p:sp>
      <p:sp>
        <p:nvSpPr>
          <p:cNvPr id="39" name="Shape 32"/>
          <p:cNvSpPr/>
          <p:nvPr/>
        </p:nvSpPr>
        <p:spPr>
          <a:xfrm>
            <a:off x="3017520" y="3666744"/>
            <a:ext cx="2487168" cy="877824"/>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40" name="Shape 33"/>
          <p:cNvSpPr/>
          <p:nvPr/>
        </p:nvSpPr>
        <p:spPr>
          <a:xfrm>
            <a:off x="3017520" y="3666744"/>
            <a:ext cx="73152" cy="877824"/>
          </a:xfrm>
          <a:prstGeom prst="rect">
            <a:avLst/>
          </a:prstGeom>
          <a:solidFill>
            <a:srgbClr val="CB0017"/>
          </a:solidFill>
          <a:ln w="12700">
            <a:solidFill>
              <a:srgbClr val="CB0017"/>
            </a:solidFill>
            <a:prstDash val="solid"/>
          </a:ln>
        </p:spPr>
        <p:txBody>
          <a:bodyPr/>
          <a:lstStyle/>
          <a:p>
            <a:endParaRPr lang="en-US"/>
          </a:p>
        </p:txBody>
      </p:sp>
      <p:sp>
        <p:nvSpPr>
          <p:cNvPr id="41" name="Shape 34"/>
          <p:cNvSpPr/>
          <p:nvPr/>
        </p:nvSpPr>
        <p:spPr>
          <a:xfrm>
            <a:off x="3182112" y="3822192"/>
            <a:ext cx="420624" cy="420624"/>
          </a:xfrm>
          <a:prstGeom prst="ellipse">
            <a:avLst/>
          </a:prstGeom>
          <a:solidFill>
            <a:srgbClr val="CB0017"/>
          </a:solidFill>
          <a:ln w="12700">
            <a:solidFill>
              <a:srgbClr val="CB0017"/>
            </a:solidFill>
            <a:prstDash val="solid"/>
          </a:ln>
        </p:spPr>
        <p:txBody>
          <a:bodyPr/>
          <a:lstStyle/>
          <a:p>
            <a:endParaRPr lang="en-US"/>
          </a:p>
        </p:txBody>
      </p:sp>
      <p:pic>
        <p:nvPicPr>
          <p:cNvPr id="42" name="Image 5" descr="preencoded.png"/>
          <p:cNvPicPr>
            <a:picLocks noChangeAspect="1"/>
          </p:cNvPicPr>
          <p:nvPr/>
        </p:nvPicPr>
        <p:blipFill>
          <a:blip r:embed="rId8"/>
          <a:stretch>
            <a:fillRect/>
          </a:stretch>
        </p:blipFill>
        <p:spPr>
          <a:xfrm>
            <a:off x="3295680" y="3935760"/>
            <a:ext cx="193487" cy="193487"/>
          </a:xfrm>
          <a:prstGeom prst="rect">
            <a:avLst/>
          </a:prstGeom>
        </p:spPr>
      </p:pic>
      <p:sp>
        <p:nvSpPr>
          <p:cNvPr id="43" name="Text 35"/>
          <p:cNvSpPr/>
          <p:nvPr/>
        </p:nvSpPr>
        <p:spPr>
          <a:xfrm>
            <a:off x="3694176" y="3785616"/>
            <a:ext cx="1737360" cy="292608"/>
          </a:xfrm>
          <a:prstGeom prst="rect">
            <a:avLst/>
          </a:prstGeom>
          <a:noFill/>
          <a:ln/>
        </p:spPr>
        <p:txBody>
          <a:bodyPr wrap="square" lIns="0" tIns="0" rIns="0" bIns="0" rtlCol="0" anchor="ctr"/>
          <a:lstStyle/>
          <a:p>
            <a:pPr marL="0" indent="0">
              <a:buNone/>
            </a:pPr>
            <a:r>
              <a:rPr lang="en-US" sz="1350" b="1" dirty="0">
                <a:solidFill>
                  <a:srgbClr val="111111"/>
                </a:solidFill>
                <a:latin typeface="Oswald" pitchFamily="34" charset="0"/>
                <a:ea typeface="Oswald" pitchFamily="34" charset="-122"/>
                <a:cs typeface="Oswald" pitchFamily="34" charset="-120"/>
              </a:rPr>
              <a:t>Distributed tracing</a:t>
            </a:r>
            <a:endParaRPr lang="en-US" sz="1350" dirty="0"/>
          </a:p>
        </p:txBody>
      </p:sp>
      <p:sp>
        <p:nvSpPr>
          <p:cNvPr id="44" name="Text 36"/>
          <p:cNvSpPr/>
          <p:nvPr/>
        </p:nvSpPr>
        <p:spPr>
          <a:xfrm>
            <a:off x="3694176" y="4078224"/>
            <a:ext cx="1737360" cy="411480"/>
          </a:xfrm>
          <a:prstGeom prst="rect">
            <a:avLst/>
          </a:prstGeom>
          <a:noFill/>
          <a:ln/>
        </p:spPr>
        <p:txBody>
          <a:bodyPr wrap="square" lIns="0" tIns="0" rIns="0" bIns="0" rtlCol="0" anchor="ctr"/>
          <a:lstStyle/>
          <a:p>
            <a:pPr marL="0" indent="0">
              <a:buNone/>
            </a:pPr>
            <a:r>
              <a:rPr lang="en-US" sz="950" dirty="0">
                <a:solidFill>
                  <a:srgbClr val="4A4A4A"/>
                </a:solidFill>
                <a:latin typeface="Inter Tight" pitchFamily="34" charset="0"/>
                <a:ea typeface="Inter Tight" pitchFamily="34" charset="-122"/>
                <a:cs typeface="Inter Tight" pitchFamily="34" charset="-120"/>
              </a:rPr>
              <a:t>OpenTelemetry → App Insights  (optional)</a:t>
            </a:r>
            <a:endParaRPr lang="en-US" sz="950" dirty="0"/>
          </a:p>
        </p:txBody>
      </p:sp>
      <p:sp>
        <p:nvSpPr>
          <p:cNvPr id="45" name="Text 37"/>
          <p:cNvSpPr/>
          <p:nvPr/>
        </p:nvSpPr>
        <p:spPr>
          <a:xfrm>
            <a:off x="5669280" y="1325880"/>
            <a:ext cx="3017520" cy="274320"/>
          </a:xfrm>
          <a:prstGeom prst="rect">
            <a:avLst/>
          </a:prstGeom>
          <a:noFill/>
          <a:ln/>
        </p:spPr>
        <p:txBody>
          <a:bodyPr wrap="square" lIns="0" tIns="0" rIns="0" bIns="0" rtlCol="0" anchor="ctr"/>
          <a:lstStyle/>
          <a:p>
            <a:pPr marL="0" indent="0">
              <a:buNone/>
            </a:pPr>
            <a:r>
              <a:rPr lang="en-US" sz="1200" b="1" kern="0" spc="150" dirty="0">
                <a:solidFill>
                  <a:srgbClr val="CB0017"/>
                </a:solidFill>
                <a:latin typeface="Oswald" pitchFamily="34" charset="0"/>
                <a:ea typeface="Oswald" pitchFamily="34" charset="-122"/>
                <a:cs typeface="Oswald" pitchFamily="34" charset="-120"/>
              </a:rPr>
              <a:t>AZURE RESOURCES CREATED</a:t>
            </a:r>
            <a:endParaRPr lang="en-US" sz="1200" dirty="0"/>
          </a:p>
        </p:txBody>
      </p:sp>
      <p:sp>
        <p:nvSpPr>
          <p:cNvPr id="46" name="Shape 38"/>
          <p:cNvSpPr/>
          <p:nvPr/>
        </p:nvSpPr>
        <p:spPr>
          <a:xfrm>
            <a:off x="5669280" y="1691640"/>
            <a:ext cx="3017520" cy="2852928"/>
          </a:xfrm>
          <a:prstGeom prst="rect">
            <a:avLst/>
          </a:prstGeom>
          <a:solidFill>
            <a:srgbClr val="151515"/>
          </a:solidFill>
          <a:ln w="12700">
            <a:solidFill>
              <a:srgbClr val="151515"/>
            </a:solidFill>
            <a:prstDash val="solid"/>
          </a:ln>
          <a:effectLst>
            <a:outerShdw blurRad="88900" dist="38100" dir="8100000" algn="bl" rotWithShape="0">
              <a:srgbClr val="000000">
                <a:alpha val="10000"/>
              </a:srgbClr>
            </a:outerShdw>
          </a:effectLst>
        </p:spPr>
        <p:txBody>
          <a:bodyPr/>
          <a:lstStyle/>
          <a:p>
            <a:endParaRPr lang="en-US"/>
          </a:p>
        </p:txBody>
      </p:sp>
      <p:sp>
        <p:nvSpPr>
          <p:cNvPr id="47" name="Text 39"/>
          <p:cNvSpPr/>
          <p:nvPr/>
        </p:nvSpPr>
        <p:spPr>
          <a:xfrm>
            <a:off x="5852160" y="1892808"/>
            <a:ext cx="274320" cy="274320"/>
          </a:xfrm>
          <a:prstGeom prst="rect">
            <a:avLst/>
          </a:prstGeom>
          <a:noFill/>
          <a:ln/>
        </p:spPr>
        <p:txBody>
          <a:bodyPr wrap="square" lIns="0" tIns="0" rIns="0" bIns="0" rtlCol="0" anchor="t"/>
          <a:lstStyle/>
          <a:p>
            <a:pPr marL="0" indent="0">
              <a:buNone/>
            </a:pPr>
            <a:r>
              <a:rPr lang="en-US" sz="1100" dirty="0">
                <a:solidFill>
                  <a:srgbClr val="FF8A8A"/>
                </a:solidFill>
                <a:latin typeface="Inter Tight" pitchFamily="34" charset="0"/>
                <a:ea typeface="Inter Tight" pitchFamily="34" charset="-122"/>
                <a:cs typeface="Inter Tight" pitchFamily="34" charset="-120"/>
              </a:rPr>
              <a:t>▪</a:t>
            </a:r>
            <a:endParaRPr lang="en-US" sz="1100" dirty="0"/>
          </a:p>
        </p:txBody>
      </p:sp>
      <p:sp>
        <p:nvSpPr>
          <p:cNvPr id="48" name="Text 40"/>
          <p:cNvSpPr/>
          <p:nvPr/>
        </p:nvSpPr>
        <p:spPr>
          <a:xfrm>
            <a:off x="6089904" y="1874520"/>
            <a:ext cx="2450592" cy="457200"/>
          </a:xfrm>
          <a:prstGeom prst="rect">
            <a:avLst/>
          </a:prstGeom>
          <a:noFill/>
          <a:ln/>
        </p:spPr>
        <p:txBody>
          <a:bodyPr wrap="square" lIns="0" tIns="0" rIns="0" bIns="0" rtlCol="0" anchor="t"/>
          <a:lstStyle/>
          <a:p>
            <a:pPr marL="0" indent="0">
              <a:lnSpc>
                <a:spcPct val="100000"/>
              </a:lnSpc>
              <a:buNone/>
            </a:pPr>
            <a:r>
              <a:rPr lang="en-US" sz="1100" b="1" dirty="0">
                <a:solidFill>
                  <a:srgbClr val="FFFFFF"/>
                </a:solidFill>
                <a:latin typeface="Inter Tight" pitchFamily="34" charset="0"/>
                <a:ea typeface="Inter Tight" pitchFamily="34" charset="-122"/>
                <a:cs typeface="Inter Tight" pitchFamily="34" charset="-120"/>
              </a:rPr>
              <a:t>Container App Environment</a:t>
            </a:r>
            <a:endParaRPr lang="en-US" sz="1100" dirty="0"/>
          </a:p>
          <a:p>
            <a:pPr marL="0" indent="0">
              <a:lnSpc>
                <a:spcPct val="100000"/>
              </a:lnSpc>
              <a:buNone/>
            </a:pPr>
            <a:r>
              <a:rPr lang="en-US" sz="1100" dirty="0">
                <a:solidFill>
                  <a:srgbClr val="B8C0C7"/>
                </a:solidFill>
                <a:latin typeface="Inter Tight" pitchFamily="34" charset="0"/>
                <a:ea typeface="Inter Tight" pitchFamily="34" charset="-122"/>
                <a:cs typeface="Inter Tight" pitchFamily="34" charset="-120"/>
              </a:rPr>
              <a:t>optional VNet integration</a:t>
            </a:r>
            <a:endParaRPr lang="en-US" sz="1100" dirty="0"/>
          </a:p>
        </p:txBody>
      </p:sp>
      <p:sp>
        <p:nvSpPr>
          <p:cNvPr id="49" name="Text 41"/>
          <p:cNvSpPr/>
          <p:nvPr/>
        </p:nvSpPr>
        <p:spPr>
          <a:xfrm>
            <a:off x="5852160" y="2404872"/>
            <a:ext cx="274320" cy="274320"/>
          </a:xfrm>
          <a:prstGeom prst="rect">
            <a:avLst/>
          </a:prstGeom>
          <a:noFill/>
          <a:ln/>
        </p:spPr>
        <p:txBody>
          <a:bodyPr wrap="square" lIns="0" tIns="0" rIns="0" bIns="0" rtlCol="0" anchor="t"/>
          <a:lstStyle/>
          <a:p>
            <a:pPr marL="0" indent="0">
              <a:buNone/>
            </a:pPr>
            <a:r>
              <a:rPr lang="en-US" sz="1100" dirty="0">
                <a:solidFill>
                  <a:srgbClr val="FF8A8A"/>
                </a:solidFill>
                <a:latin typeface="Inter Tight" pitchFamily="34" charset="0"/>
                <a:ea typeface="Inter Tight" pitchFamily="34" charset="-122"/>
                <a:cs typeface="Inter Tight" pitchFamily="34" charset="-120"/>
              </a:rPr>
              <a:t>▪</a:t>
            </a:r>
            <a:endParaRPr lang="en-US" sz="1100" dirty="0"/>
          </a:p>
        </p:txBody>
      </p:sp>
      <p:sp>
        <p:nvSpPr>
          <p:cNvPr id="50" name="Text 42"/>
          <p:cNvSpPr/>
          <p:nvPr/>
        </p:nvSpPr>
        <p:spPr>
          <a:xfrm>
            <a:off x="6089904" y="2386584"/>
            <a:ext cx="2450592" cy="457200"/>
          </a:xfrm>
          <a:prstGeom prst="rect">
            <a:avLst/>
          </a:prstGeom>
          <a:noFill/>
          <a:ln/>
        </p:spPr>
        <p:txBody>
          <a:bodyPr wrap="square" lIns="0" tIns="0" rIns="0" bIns="0" rtlCol="0" anchor="t"/>
          <a:lstStyle/>
          <a:p>
            <a:pPr marL="0" indent="0">
              <a:lnSpc>
                <a:spcPct val="100000"/>
              </a:lnSpc>
              <a:buNone/>
            </a:pPr>
            <a:r>
              <a:rPr lang="en-US" sz="1100" b="1" dirty="0">
                <a:solidFill>
                  <a:srgbClr val="FFFFFF"/>
                </a:solidFill>
                <a:latin typeface="Inter Tight" pitchFamily="34" charset="0"/>
                <a:ea typeface="Inter Tight" pitchFamily="34" charset="-122"/>
                <a:cs typeface="Inter Tight" pitchFamily="34" charset="-120"/>
              </a:rPr>
              <a:t>Container App</a:t>
            </a:r>
            <a:endParaRPr lang="en-US" sz="1100" dirty="0"/>
          </a:p>
          <a:p>
            <a:pPr marL="0" indent="0">
              <a:lnSpc>
                <a:spcPct val="100000"/>
              </a:lnSpc>
              <a:buNone/>
            </a:pPr>
            <a:r>
              <a:rPr lang="en-US" sz="1100" dirty="0">
                <a:solidFill>
                  <a:srgbClr val="B8C0C7"/>
                </a:solidFill>
                <a:latin typeface="Inter Tight" pitchFamily="34" charset="0"/>
                <a:ea typeface="Inter Tight" pitchFamily="34" charset="-122"/>
                <a:cs typeface="Inter Tight" pitchFamily="34" charset="-120"/>
              </a:rPr>
              <a:t>engine + Web UI + Dapr</a:t>
            </a:r>
            <a:endParaRPr lang="en-US" sz="1100" dirty="0"/>
          </a:p>
        </p:txBody>
      </p:sp>
      <p:sp>
        <p:nvSpPr>
          <p:cNvPr id="51" name="Text 43"/>
          <p:cNvSpPr/>
          <p:nvPr/>
        </p:nvSpPr>
        <p:spPr>
          <a:xfrm>
            <a:off x="5852160" y="2916936"/>
            <a:ext cx="274320" cy="274320"/>
          </a:xfrm>
          <a:prstGeom prst="rect">
            <a:avLst/>
          </a:prstGeom>
          <a:noFill/>
          <a:ln/>
        </p:spPr>
        <p:txBody>
          <a:bodyPr wrap="square" lIns="0" tIns="0" rIns="0" bIns="0" rtlCol="0" anchor="t"/>
          <a:lstStyle/>
          <a:p>
            <a:pPr marL="0" indent="0">
              <a:buNone/>
            </a:pPr>
            <a:r>
              <a:rPr lang="en-US" sz="1100" dirty="0">
                <a:solidFill>
                  <a:srgbClr val="FF8A8A"/>
                </a:solidFill>
                <a:latin typeface="Inter Tight" pitchFamily="34" charset="0"/>
                <a:ea typeface="Inter Tight" pitchFamily="34" charset="-122"/>
                <a:cs typeface="Inter Tight" pitchFamily="34" charset="-120"/>
              </a:rPr>
              <a:t>▪</a:t>
            </a:r>
            <a:endParaRPr lang="en-US" sz="1100" dirty="0"/>
          </a:p>
        </p:txBody>
      </p:sp>
      <p:sp>
        <p:nvSpPr>
          <p:cNvPr id="52" name="Text 44"/>
          <p:cNvSpPr/>
          <p:nvPr/>
        </p:nvSpPr>
        <p:spPr>
          <a:xfrm>
            <a:off x="6089904" y="2898648"/>
            <a:ext cx="2450592" cy="457200"/>
          </a:xfrm>
          <a:prstGeom prst="rect">
            <a:avLst/>
          </a:prstGeom>
          <a:noFill/>
          <a:ln/>
        </p:spPr>
        <p:txBody>
          <a:bodyPr wrap="square" lIns="0" tIns="0" rIns="0" bIns="0" rtlCol="0" anchor="t"/>
          <a:lstStyle/>
          <a:p>
            <a:pPr marL="0" indent="0">
              <a:lnSpc>
                <a:spcPct val="100000"/>
              </a:lnSpc>
              <a:buNone/>
            </a:pPr>
            <a:r>
              <a:rPr lang="en-US" sz="1100" b="1" dirty="0">
                <a:solidFill>
                  <a:srgbClr val="FFFFFF"/>
                </a:solidFill>
                <a:latin typeface="Inter Tight" pitchFamily="34" charset="0"/>
                <a:ea typeface="Inter Tight" pitchFamily="34" charset="-122"/>
                <a:cs typeface="Inter Tight" pitchFamily="34" charset="-120"/>
              </a:rPr>
              <a:t>Azure Files</a:t>
            </a:r>
            <a:endParaRPr lang="en-US" sz="1100" dirty="0"/>
          </a:p>
          <a:p>
            <a:pPr marL="0" indent="0">
              <a:lnSpc>
                <a:spcPct val="100000"/>
              </a:lnSpc>
              <a:buNone/>
            </a:pPr>
            <a:r>
              <a:rPr lang="en-US" sz="1100" dirty="0">
                <a:solidFill>
                  <a:srgbClr val="B8C0C7"/>
                </a:solidFill>
                <a:latin typeface="Inter Tight" pitchFamily="34" charset="0"/>
                <a:ea typeface="Inter Tight" pitchFamily="34" charset="-122"/>
                <a:cs typeface="Inter Tight" pitchFamily="34" charset="-120"/>
              </a:rPr>
              <a:t>persistent rules (if enabled)</a:t>
            </a:r>
            <a:endParaRPr lang="en-US" sz="1100" dirty="0"/>
          </a:p>
        </p:txBody>
      </p:sp>
      <p:sp>
        <p:nvSpPr>
          <p:cNvPr id="53" name="Text 45"/>
          <p:cNvSpPr/>
          <p:nvPr/>
        </p:nvSpPr>
        <p:spPr>
          <a:xfrm>
            <a:off x="5852160" y="3429000"/>
            <a:ext cx="274320" cy="274320"/>
          </a:xfrm>
          <a:prstGeom prst="rect">
            <a:avLst/>
          </a:prstGeom>
          <a:noFill/>
          <a:ln/>
        </p:spPr>
        <p:txBody>
          <a:bodyPr wrap="square" lIns="0" tIns="0" rIns="0" bIns="0" rtlCol="0" anchor="t"/>
          <a:lstStyle/>
          <a:p>
            <a:pPr marL="0" indent="0">
              <a:buNone/>
            </a:pPr>
            <a:r>
              <a:rPr lang="en-US" sz="1100" dirty="0">
                <a:solidFill>
                  <a:srgbClr val="FF8A8A"/>
                </a:solidFill>
                <a:latin typeface="Inter Tight" pitchFamily="34" charset="0"/>
                <a:ea typeface="Inter Tight" pitchFamily="34" charset="-122"/>
                <a:cs typeface="Inter Tight" pitchFamily="34" charset="-120"/>
              </a:rPr>
              <a:t>▪</a:t>
            </a:r>
            <a:endParaRPr lang="en-US" sz="1100" dirty="0"/>
          </a:p>
        </p:txBody>
      </p:sp>
      <p:sp>
        <p:nvSpPr>
          <p:cNvPr id="54" name="Text 46"/>
          <p:cNvSpPr/>
          <p:nvPr/>
        </p:nvSpPr>
        <p:spPr>
          <a:xfrm>
            <a:off x="6089904" y="3410712"/>
            <a:ext cx="2450592" cy="457200"/>
          </a:xfrm>
          <a:prstGeom prst="rect">
            <a:avLst/>
          </a:prstGeom>
          <a:noFill/>
          <a:ln/>
        </p:spPr>
        <p:txBody>
          <a:bodyPr wrap="square" lIns="0" tIns="0" rIns="0" bIns="0" rtlCol="0" anchor="t"/>
          <a:lstStyle/>
          <a:p>
            <a:pPr marL="0" indent="0">
              <a:lnSpc>
                <a:spcPct val="100000"/>
              </a:lnSpc>
              <a:buNone/>
            </a:pPr>
            <a:r>
              <a:rPr lang="en-US" sz="1100" b="1" dirty="0">
                <a:solidFill>
                  <a:srgbClr val="FFFFFF"/>
                </a:solidFill>
                <a:latin typeface="Inter Tight" pitchFamily="34" charset="0"/>
                <a:ea typeface="Inter Tight" pitchFamily="34" charset="-122"/>
                <a:cs typeface="Inter Tight" pitchFamily="34" charset="-120"/>
              </a:rPr>
              <a:t>Log Analytics</a:t>
            </a:r>
            <a:endParaRPr lang="en-US" sz="1100" dirty="0"/>
          </a:p>
          <a:p>
            <a:pPr marL="0" indent="0">
              <a:lnSpc>
                <a:spcPct val="100000"/>
              </a:lnSpc>
              <a:buNone/>
            </a:pPr>
            <a:r>
              <a:rPr lang="en-US" sz="1100" dirty="0">
                <a:solidFill>
                  <a:srgbClr val="B8C0C7"/>
                </a:solidFill>
                <a:latin typeface="Inter Tight" pitchFamily="34" charset="0"/>
                <a:ea typeface="Inter Tight" pitchFamily="34" charset="-122"/>
                <a:cs typeface="Inter Tight" pitchFamily="34" charset="-120"/>
              </a:rPr>
              <a:t>logs &amp; metrics</a:t>
            </a:r>
            <a:endParaRPr lang="en-US" sz="1100" dirty="0"/>
          </a:p>
        </p:txBody>
      </p:sp>
      <p:sp>
        <p:nvSpPr>
          <p:cNvPr id="55" name="Text 47"/>
          <p:cNvSpPr/>
          <p:nvPr/>
        </p:nvSpPr>
        <p:spPr>
          <a:xfrm>
            <a:off x="5852160" y="3941064"/>
            <a:ext cx="274320" cy="274320"/>
          </a:xfrm>
          <a:prstGeom prst="rect">
            <a:avLst/>
          </a:prstGeom>
          <a:noFill/>
          <a:ln/>
        </p:spPr>
        <p:txBody>
          <a:bodyPr wrap="square" lIns="0" tIns="0" rIns="0" bIns="0" rtlCol="0" anchor="t"/>
          <a:lstStyle/>
          <a:p>
            <a:pPr marL="0" indent="0">
              <a:buNone/>
            </a:pPr>
            <a:r>
              <a:rPr lang="en-US" sz="1100" dirty="0">
                <a:solidFill>
                  <a:srgbClr val="FF8A8A"/>
                </a:solidFill>
                <a:latin typeface="Inter Tight" pitchFamily="34" charset="0"/>
                <a:ea typeface="Inter Tight" pitchFamily="34" charset="-122"/>
                <a:cs typeface="Inter Tight" pitchFamily="34" charset="-120"/>
              </a:rPr>
              <a:t>▪</a:t>
            </a:r>
            <a:endParaRPr lang="en-US" sz="1100" dirty="0"/>
          </a:p>
        </p:txBody>
      </p:sp>
      <p:sp>
        <p:nvSpPr>
          <p:cNvPr id="56" name="Text 48"/>
          <p:cNvSpPr/>
          <p:nvPr/>
        </p:nvSpPr>
        <p:spPr>
          <a:xfrm>
            <a:off x="6089904" y="3922776"/>
            <a:ext cx="2450592" cy="457200"/>
          </a:xfrm>
          <a:prstGeom prst="rect">
            <a:avLst/>
          </a:prstGeom>
          <a:noFill/>
          <a:ln/>
        </p:spPr>
        <p:txBody>
          <a:bodyPr wrap="square" lIns="0" tIns="0" rIns="0" bIns="0" rtlCol="0" anchor="t"/>
          <a:lstStyle/>
          <a:p>
            <a:pPr marL="0" indent="0">
              <a:lnSpc>
                <a:spcPct val="100000"/>
              </a:lnSpc>
              <a:buNone/>
            </a:pPr>
            <a:r>
              <a:rPr lang="en-US" sz="1100" b="1" dirty="0">
                <a:solidFill>
                  <a:srgbClr val="FFFFFF"/>
                </a:solidFill>
                <a:latin typeface="Inter Tight" pitchFamily="34" charset="0"/>
                <a:ea typeface="Inter Tight" pitchFamily="34" charset="-122"/>
                <a:cs typeface="Inter Tight" pitchFamily="34" charset="-120"/>
              </a:rPr>
              <a:t>Managed Identity</a:t>
            </a:r>
            <a:endParaRPr lang="en-US" sz="1100" dirty="0"/>
          </a:p>
          <a:p>
            <a:pPr marL="0" indent="0">
              <a:lnSpc>
                <a:spcPct val="100000"/>
              </a:lnSpc>
              <a:buNone/>
            </a:pPr>
            <a:r>
              <a:rPr lang="en-US" sz="1100" dirty="0">
                <a:solidFill>
                  <a:srgbClr val="B8C0C7"/>
                </a:solidFill>
                <a:latin typeface="Inter Tight" pitchFamily="34" charset="0"/>
                <a:ea typeface="Inter Tight" pitchFamily="34" charset="-122"/>
                <a:cs typeface="Inter Tight" pitchFamily="34" charset="-120"/>
              </a:rPr>
              <a:t>secretless auth to Azure</a:t>
            </a:r>
            <a:endParaRPr lang="en-US" sz="1100" dirty="0"/>
          </a:p>
        </p:txBody>
      </p:sp>
      <p:sp>
        <p:nvSpPr>
          <p:cNvPr id="57" name="Shape 49"/>
          <p:cNvSpPr/>
          <p:nvPr/>
        </p:nvSpPr>
        <p:spPr>
          <a:xfrm>
            <a:off x="457200" y="4572000"/>
            <a:ext cx="8229600" cy="0"/>
          </a:xfrm>
          <a:prstGeom prst="rect">
            <a:avLst/>
          </a:prstGeom>
          <a:noFill/>
          <a:ln w="12700">
            <a:solidFill>
              <a:srgbClr val="E6E6E6"/>
            </a:solidFill>
            <a:prstDash val="solid"/>
          </a:ln>
        </p:spPr>
        <p:txBody>
          <a:bodyPr/>
          <a:lstStyle/>
          <a:p>
            <a:endParaRPr lang="en-US"/>
          </a:p>
        </p:txBody>
      </p:sp>
      <p:sp>
        <p:nvSpPr>
          <p:cNvPr id="58" name="Text 50"/>
          <p:cNvSpPr/>
          <p:nvPr/>
        </p:nvSpPr>
        <p:spPr>
          <a:xfrm>
            <a:off x="457200" y="4590288"/>
            <a:ext cx="8229600" cy="274320"/>
          </a:xfrm>
          <a:prstGeom prst="rect">
            <a:avLst/>
          </a:prstGeom>
          <a:noFill/>
          <a:ln/>
        </p:spPr>
        <p:txBody>
          <a:bodyPr wrap="square" lIns="0" tIns="0" rIns="0" bIns="0" rtlCol="0" anchor="ctr"/>
          <a:lstStyle/>
          <a:p>
            <a:pPr marL="0" indent="0">
              <a:buNone/>
            </a:pPr>
            <a:r>
              <a:rPr lang="en-US" sz="1150" b="1" i="1" dirty="0">
                <a:solidFill>
                  <a:srgbClr val="111111"/>
                </a:solidFill>
                <a:latin typeface="Inter Tight" pitchFamily="34" charset="0"/>
                <a:ea typeface="Inter Tight" pitchFamily="34" charset="-122"/>
                <a:cs typeface="Inter Tight" pitchFamily="34" charset="-120"/>
              </a:rPr>
              <a:t>≈ 5 minutes from Marketplace to a running engine.</a:t>
            </a:r>
            <a:r>
              <a:rPr lang="en-US" sz="1150" i="1" dirty="0">
                <a:solidFill>
                  <a:srgbClr val="4A4A4A"/>
                </a:solidFill>
                <a:latin typeface="Inter Tight" pitchFamily="34" charset="0"/>
                <a:ea typeface="Inter Tight" pitchFamily="34" charset="-122"/>
                <a:cs typeface="Inter Tight" pitchFamily="34" charset="-120"/>
              </a:rPr>
              <a:t>   Items marked (optional) are simple toggles in the deploy wizard.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2</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03 · utlxe — ON AZURE</a:t>
            </a:r>
            <a:endParaRPr lang="en-US" sz="1200" dirty="0"/>
          </a:p>
        </p:txBody>
      </p:sp>
      <p:sp>
        <p:nvSpPr>
          <p:cNvPr id="7" name="Text 5"/>
          <p:cNvSpPr/>
          <p:nvPr/>
        </p:nvSpPr>
        <p:spPr>
          <a:xfrm>
            <a:off x="457200" y="585216"/>
            <a:ext cx="7863840" cy="731520"/>
          </a:xfrm>
          <a:prstGeom prst="rect">
            <a:avLst/>
          </a:prstGeom>
          <a:noFill/>
          <a:ln/>
        </p:spPr>
        <p:txBody>
          <a:bodyPr wrap="square" lIns="0" tIns="0" rIns="0" bIns="0" rtlCol="0" anchor="ctr"/>
          <a:lstStyle/>
          <a:p>
            <a:pPr marL="0" indent="0">
              <a:buNone/>
            </a:pPr>
            <a:r>
              <a:rPr lang="en-US" sz="3000" b="1" kern="0" spc="-30" dirty="0">
                <a:solidFill>
                  <a:srgbClr val="111111"/>
                </a:solidFill>
                <a:latin typeface="Oswald" pitchFamily="34" charset="0"/>
                <a:ea typeface="Oswald" pitchFamily="34" charset="-122"/>
                <a:cs typeface="Oswald" pitchFamily="34" charset="-120"/>
              </a:rPr>
              <a:t>Production-ready on day one</a:t>
            </a:r>
            <a:endParaRPr lang="en-US" sz="3000" dirty="0"/>
          </a:p>
        </p:txBody>
      </p:sp>
      <p:sp>
        <p:nvSpPr>
          <p:cNvPr id="8" name="Shape 6"/>
          <p:cNvSpPr/>
          <p:nvPr/>
        </p:nvSpPr>
        <p:spPr>
          <a:xfrm>
            <a:off x="457200" y="1463040"/>
            <a:ext cx="4114800" cy="1627632"/>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9" name="Shape 7"/>
          <p:cNvSpPr/>
          <p:nvPr/>
        </p:nvSpPr>
        <p:spPr>
          <a:xfrm>
            <a:off x="457200" y="1463040"/>
            <a:ext cx="4114800" cy="64008"/>
          </a:xfrm>
          <a:prstGeom prst="rect">
            <a:avLst/>
          </a:prstGeom>
          <a:solidFill>
            <a:srgbClr val="CB0017"/>
          </a:solidFill>
          <a:ln w="12700">
            <a:solidFill>
              <a:srgbClr val="CB0017"/>
            </a:solidFill>
            <a:prstDash val="solid"/>
          </a:ln>
        </p:spPr>
        <p:txBody>
          <a:bodyPr/>
          <a:lstStyle/>
          <a:p>
            <a:endParaRPr lang="en-US"/>
          </a:p>
        </p:txBody>
      </p:sp>
      <p:sp>
        <p:nvSpPr>
          <p:cNvPr id="10" name="Shape 8"/>
          <p:cNvSpPr/>
          <p:nvPr/>
        </p:nvSpPr>
        <p:spPr>
          <a:xfrm>
            <a:off x="658368" y="1682496"/>
            <a:ext cx="457200" cy="457200"/>
          </a:xfrm>
          <a:prstGeom prst="ellipse">
            <a:avLst/>
          </a:prstGeom>
          <a:solidFill>
            <a:srgbClr val="CB0017"/>
          </a:solidFill>
          <a:ln w="12700">
            <a:solidFill>
              <a:srgbClr val="CB0017"/>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781812" y="1805940"/>
            <a:ext cx="210312" cy="210312"/>
          </a:xfrm>
          <a:prstGeom prst="rect">
            <a:avLst/>
          </a:prstGeom>
        </p:spPr>
      </p:pic>
      <p:sp>
        <p:nvSpPr>
          <p:cNvPr id="12" name="Text 9"/>
          <p:cNvSpPr/>
          <p:nvPr/>
        </p:nvSpPr>
        <p:spPr>
          <a:xfrm>
            <a:off x="1234440" y="1700784"/>
            <a:ext cx="3200400" cy="365760"/>
          </a:xfrm>
          <a:prstGeom prst="rect">
            <a:avLst/>
          </a:prstGeom>
          <a:noFill/>
          <a:ln/>
        </p:spPr>
        <p:txBody>
          <a:bodyPr wrap="square" lIns="0" tIns="0" rIns="0" bIns="0" rtlCol="0" anchor="ctr"/>
          <a:lstStyle/>
          <a:p>
            <a:pPr marL="0" indent="0">
              <a:buNone/>
            </a:pPr>
            <a:r>
              <a:rPr lang="en-US" sz="1500" b="1" kern="0" spc="100" dirty="0">
                <a:solidFill>
                  <a:srgbClr val="111111"/>
                </a:solidFill>
                <a:latin typeface="Oswald" pitchFamily="34" charset="0"/>
                <a:ea typeface="Oswald" pitchFamily="34" charset="-122"/>
                <a:cs typeface="Oswald" pitchFamily="34" charset="-120"/>
              </a:rPr>
              <a:t>MANAGE — ADMIN WEB UI</a:t>
            </a:r>
            <a:endParaRPr lang="en-US" sz="1500" dirty="0"/>
          </a:p>
        </p:txBody>
      </p:sp>
      <p:sp>
        <p:nvSpPr>
          <p:cNvPr id="13" name="Text 10"/>
          <p:cNvSpPr/>
          <p:nvPr/>
        </p:nvSpPr>
        <p:spPr>
          <a:xfrm>
            <a:off x="749808" y="2176272"/>
            <a:ext cx="3611880" cy="841248"/>
          </a:xfrm>
          <a:prstGeom prst="rect">
            <a:avLst/>
          </a:prstGeom>
          <a:noFill/>
          <a:ln/>
        </p:spPr>
        <p:txBody>
          <a:bodyPr wrap="square" lIns="0" tIns="0" rIns="0" bIns="0" rtlCol="0" anchor="t"/>
          <a:lstStyle/>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Dashboard: status, throughput, error rate</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Upload: paste .utlx, .zip / .utlar, validate</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Schemas: XSD · JSON Schema · Avro</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Per-transformation Dapr sync</a:t>
            </a:r>
            <a:endParaRPr lang="en-US" sz="1050" dirty="0"/>
          </a:p>
        </p:txBody>
      </p:sp>
      <p:sp>
        <p:nvSpPr>
          <p:cNvPr id="14" name="Shape 11"/>
          <p:cNvSpPr/>
          <p:nvPr/>
        </p:nvSpPr>
        <p:spPr>
          <a:xfrm>
            <a:off x="4572000" y="1463040"/>
            <a:ext cx="4114800" cy="1627632"/>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5" name="Shape 12"/>
          <p:cNvSpPr/>
          <p:nvPr/>
        </p:nvSpPr>
        <p:spPr>
          <a:xfrm>
            <a:off x="4572000" y="1463040"/>
            <a:ext cx="4114800" cy="64008"/>
          </a:xfrm>
          <a:prstGeom prst="rect">
            <a:avLst/>
          </a:prstGeom>
          <a:solidFill>
            <a:srgbClr val="CB0017"/>
          </a:solidFill>
          <a:ln w="12700">
            <a:solidFill>
              <a:srgbClr val="CB0017"/>
            </a:solidFill>
            <a:prstDash val="solid"/>
          </a:ln>
        </p:spPr>
        <p:txBody>
          <a:bodyPr/>
          <a:lstStyle/>
          <a:p>
            <a:endParaRPr lang="en-US"/>
          </a:p>
        </p:txBody>
      </p:sp>
      <p:sp>
        <p:nvSpPr>
          <p:cNvPr id="16" name="Shape 13"/>
          <p:cNvSpPr/>
          <p:nvPr/>
        </p:nvSpPr>
        <p:spPr>
          <a:xfrm>
            <a:off x="4773168" y="1682496"/>
            <a:ext cx="457200" cy="457200"/>
          </a:xfrm>
          <a:prstGeom prst="ellipse">
            <a:avLst/>
          </a:prstGeom>
          <a:solidFill>
            <a:srgbClr val="CB0017"/>
          </a:solidFill>
          <a:ln w="12700">
            <a:solidFill>
              <a:srgbClr val="CB0017"/>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4896612" y="1805940"/>
            <a:ext cx="210312" cy="210312"/>
          </a:xfrm>
          <a:prstGeom prst="rect">
            <a:avLst/>
          </a:prstGeom>
        </p:spPr>
      </p:pic>
      <p:sp>
        <p:nvSpPr>
          <p:cNvPr id="18" name="Text 14"/>
          <p:cNvSpPr/>
          <p:nvPr/>
        </p:nvSpPr>
        <p:spPr>
          <a:xfrm>
            <a:off x="5349240" y="1700784"/>
            <a:ext cx="3200400" cy="365760"/>
          </a:xfrm>
          <a:prstGeom prst="rect">
            <a:avLst/>
          </a:prstGeom>
          <a:noFill/>
          <a:ln/>
        </p:spPr>
        <p:txBody>
          <a:bodyPr wrap="square" lIns="0" tIns="0" rIns="0" bIns="0" rtlCol="0" anchor="ctr"/>
          <a:lstStyle/>
          <a:p>
            <a:pPr marL="0" indent="0">
              <a:buNone/>
            </a:pPr>
            <a:r>
              <a:rPr lang="en-US" sz="1500" b="1" kern="0" spc="100" dirty="0">
                <a:solidFill>
                  <a:srgbClr val="111111"/>
                </a:solidFill>
                <a:latin typeface="Oswald" pitchFamily="34" charset="0"/>
                <a:ea typeface="Oswald" pitchFamily="34" charset="-122"/>
                <a:cs typeface="Oswald" pitchFamily="34" charset="-120"/>
              </a:rPr>
              <a:t>OBSERVE</a:t>
            </a:r>
            <a:endParaRPr lang="en-US" sz="1500" dirty="0"/>
          </a:p>
        </p:txBody>
      </p:sp>
      <p:sp>
        <p:nvSpPr>
          <p:cNvPr id="19" name="Text 15"/>
          <p:cNvSpPr/>
          <p:nvPr/>
        </p:nvSpPr>
        <p:spPr>
          <a:xfrm>
            <a:off x="4864608" y="2176272"/>
            <a:ext cx="3611880" cy="841248"/>
          </a:xfrm>
          <a:prstGeom prst="rect">
            <a:avLst/>
          </a:prstGeom>
          <a:noFill/>
          <a:ln/>
        </p:spPr>
        <p:txBody>
          <a:bodyPr wrap="square" lIns="0" tIns="0" rIns="0" bIns="0" rtlCol="0" anchor="t"/>
          <a:lstStyle/>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Prometheus metrics + health endpoints</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OpenTelemetry → end-to-end traces</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Lands in Azure Application Insights</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One env var to switch tracing on</a:t>
            </a:r>
            <a:endParaRPr lang="en-US" sz="1050" dirty="0"/>
          </a:p>
        </p:txBody>
      </p:sp>
      <p:sp>
        <p:nvSpPr>
          <p:cNvPr id="20" name="Shape 16"/>
          <p:cNvSpPr/>
          <p:nvPr/>
        </p:nvSpPr>
        <p:spPr>
          <a:xfrm>
            <a:off x="457200" y="3246120"/>
            <a:ext cx="4114800" cy="1627632"/>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21" name="Shape 17"/>
          <p:cNvSpPr/>
          <p:nvPr/>
        </p:nvSpPr>
        <p:spPr>
          <a:xfrm>
            <a:off x="457200" y="3246120"/>
            <a:ext cx="4114800" cy="64008"/>
          </a:xfrm>
          <a:prstGeom prst="rect">
            <a:avLst/>
          </a:prstGeom>
          <a:solidFill>
            <a:srgbClr val="CB0017"/>
          </a:solidFill>
          <a:ln w="12700">
            <a:solidFill>
              <a:srgbClr val="CB0017"/>
            </a:solidFill>
            <a:prstDash val="solid"/>
          </a:ln>
        </p:spPr>
        <p:txBody>
          <a:bodyPr/>
          <a:lstStyle/>
          <a:p>
            <a:endParaRPr lang="en-US"/>
          </a:p>
        </p:txBody>
      </p:sp>
      <p:sp>
        <p:nvSpPr>
          <p:cNvPr id="22" name="Shape 18"/>
          <p:cNvSpPr/>
          <p:nvPr/>
        </p:nvSpPr>
        <p:spPr>
          <a:xfrm>
            <a:off x="658368" y="3465576"/>
            <a:ext cx="457200" cy="457200"/>
          </a:xfrm>
          <a:prstGeom prst="ellipse">
            <a:avLst/>
          </a:prstGeom>
          <a:solidFill>
            <a:srgbClr val="CB0017"/>
          </a:solidFill>
          <a:ln w="12700">
            <a:solidFill>
              <a:srgbClr val="CB0017"/>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781812" y="3589020"/>
            <a:ext cx="210312" cy="210312"/>
          </a:xfrm>
          <a:prstGeom prst="rect">
            <a:avLst/>
          </a:prstGeom>
        </p:spPr>
      </p:pic>
      <p:sp>
        <p:nvSpPr>
          <p:cNvPr id="24" name="Text 19"/>
          <p:cNvSpPr/>
          <p:nvPr/>
        </p:nvSpPr>
        <p:spPr>
          <a:xfrm>
            <a:off x="1234440" y="3483864"/>
            <a:ext cx="3200400" cy="365760"/>
          </a:xfrm>
          <a:prstGeom prst="rect">
            <a:avLst/>
          </a:prstGeom>
          <a:noFill/>
          <a:ln/>
        </p:spPr>
        <p:txBody>
          <a:bodyPr wrap="square" lIns="0" tIns="0" rIns="0" bIns="0" rtlCol="0" anchor="ctr"/>
          <a:lstStyle/>
          <a:p>
            <a:pPr marL="0" indent="0">
              <a:buNone/>
            </a:pPr>
            <a:r>
              <a:rPr lang="en-US" sz="1500" b="1" kern="0" spc="100" dirty="0">
                <a:solidFill>
                  <a:srgbClr val="111111"/>
                </a:solidFill>
                <a:latin typeface="Oswald" pitchFamily="34" charset="0"/>
                <a:ea typeface="Oswald" pitchFamily="34" charset="-122"/>
                <a:cs typeface="Oswald" pitchFamily="34" charset="-120"/>
              </a:rPr>
              <a:t>SECURE &amp; ISOLATE</a:t>
            </a:r>
            <a:endParaRPr lang="en-US" sz="1500" dirty="0"/>
          </a:p>
        </p:txBody>
      </p:sp>
      <p:sp>
        <p:nvSpPr>
          <p:cNvPr id="25" name="Text 20"/>
          <p:cNvSpPr/>
          <p:nvPr/>
        </p:nvSpPr>
        <p:spPr>
          <a:xfrm>
            <a:off x="749808" y="3959352"/>
            <a:ext cx="3611880" cy="841248"/>
          </a:xfrm>
          <a:prstGeom prst="rect">
            <a:avLst/>
          </a:prstGeom>
          <a:noFill/>
          <a:ln/>
        </p:spPr>
        <p:txBody>
          <a:bodyPr wrap="square" lIns="0" tIns="0" rIns="0" bIns="0" rtlCol="0" anchor="t"/>
          <a:lstStyle/>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Data plane (8085) vs Admin (8081) ports</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Admin stays internal to your VNet</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Managed Identity — secretless access</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Both ports live; no mode switch</a:t>
            </a:r>
            <a:endParaRPr lang="en-US" sz="1050" dirty="0"/>
          </a:p>
        </p:txBody>
      </p:sp>
      <p:sp>
        <p:nvSpPr>
          <p:cNvPr id="26" name="Shape 21"/>
          <p:cNvSpPr/>
          <p:nvPr/>
        </p:nvSpPr>
        <p:spPr>
          <a:xfrm>
            <a:off x="4572000" y="3246120"/>
            <a:ext cx="4114800" cy="1627632"/>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27" name="Shape 22"/>
          <p:cNvSpPr/>
          <p:nvPr/>
        </p:nvSpPr>
        <p:spPr>
          <a:xfrm>
            <a:off x="4572000" y="3246120"/>
            <a:ext cx="4114800" cy="64008"/>
          </a:xfrm>
          <a:prstGeom prst="rect">
            <a:avLst/>
          </a:prstGeom>
          <a:solidFill>
            <a:srgbClr val="CB0017"/>
          </a:solidFill>
          <a:ln w="12700">
            <a:solidFill>
              <a:srgbClr val="CB0017"/>
            </a:solidFill>
            <a:prstDash val="solid"/>
          </a:ln>
        </p:spPr>
        <p:txBody>
          <a:bodyPr/>
          <a:lstStyle/>
          <a:p>
            <a:endParaRPr lang="en-US"/>
          </a:p>
        </p:txBody>
      </p:sp>
      <p:sp>
        <p:nvSpPr>
          <p:cNvPr id="28" name="Shape 23"/>
          <p:cNvSpPr/>
          <p:nvPr/>
        </p:nvSpPr>
        <p:spPr>
          <a:xfrm>
            <a:off x="4773168" y="3465576"/>
            <a:ext cx="457200" cy="457200"/>
          </a:xfrm>
          <a:prstGeom prst="ellipse">
            <a:avLst/>
          </a:prstGeom>
          <a:solidFill>
            <a:srgbClr val="CB0017"/>
          </a:solidFill>
          <a:ln w="12700">
            <a:solidFill>
              <a:srgbClr val="CB0017"/>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4896612" y="3589020"/>
            <a:ext cx="210312" cy="210312"/>
          </a:xfrm>
          <a:prstGeom prst="rect">
            <a:avLst/>
          </a:prstGeom>
        </p:spPr>
      </p:pic>
      <p:sp>
        <p:nvSpPr>
          <p:cNvPr id="30" name="Text 24"/>
          <p:cNvSpPr/>
          <p:nvPr/>
        </p:nvSpPr>
        <p:spPr>
          <a:xfrm>
            <a:off x="5349240" y="3483864"/>
            <a:ext cx="3200400" cy="365760"/>
          </a:xfrm>
          <a:prstGeom prst="rect">
            <a:avLst/>
          </a:prstGeom>
          <a:noFill/>
          <a:ln/>
        </p:spPr>
        <p:txBody>
          <a:bodyPr wrap="square" lIns="0" tIns="0" rIns="0" bIns="0" rtlCol="0" anchor="ctr"/>
          <a:lstStyle/>
          <a:p>
            <a:pPr marL="0" indent="0">
              <a:buNone/>
            </a:pPr>
            <a:r>
              <a:rPr lang="en-US" sz="1500" b="1" kern="0" spc="100" dirty="0">
                <a:solidFill>
                  <a:srgbClr val="111111"/>
                </a:solidFill>
                <a:latin typeface="Oswald" pitchFamily="34" charset="0"/>
                <a:ea typeface="Oswald" pitchFamily="34" charset="-122"/>
                <a:cs typeface="Oswald" pitchFamily="34" charset="-120"/>
              </a:rPr>
              <a:t>SCALE &amp; PAY</a:t>
            </a:r>
            <a:endParaRPr lang="en-US" sz="1500" dirty="0"/>
          </a:p>
        </p:txBody>
      </p:sp>
      <p:sp>
        <p:nvSpPr>
          <p:cNvPr id="31" name="Text 25"/>
          <p:cNvSpPr/>
          <p:nvPr/>
        </p:nvSpPr>
        <p:spPr>
          <a:xfrm>
            <a:off x="4864608" y="3959352"/>
            <a:ext cx="3611880" cy="841248"/>
          </a:xfrm>
          <a:prstGeom prst="rect">
            <a:avLst/>
          </a:prstGeom>
          <a:noFill/>
          <a:ln/>
        </p:spPr>
        <p:txBody>
          <a:bodyPr wrap="square" lIns="0" tIns="0" rIns="0" bIns="0" rtlCol="0" anchor="t"/>
          <a:lstStyle/>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Pay per container (CPU+RAM), not per message</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Scale out horizontally — no shared state</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Scale to zero when idle</a:t>
            </a:r>
            <a:endParaRPr lang="en-US" sz="1050" dirty="0"/>
          </a:p>
          <a:p>
            <a:pPr marL="152400" indent="-152400">
              <a:lnSpc>
                <a:spcPct val="102000"/>
              </a:lnSpc>
              <a:buSzPct val="100000"/>
              <a:buChar char="•"/>
            </a:pPr>
            <a:r>
              <a:rPr lang="en-US" sz="1050" dirty="0">
                <a:solidFill>
                  <a:srgbClr val="4A4A4A"/>
                </a:solidFill>
                <a:latin typeface="Inter Tight" pitchFamily="34" charset="0"/>
                <a:ea typeface="Inter Tight" pitchFamily="34" charset="-122"/>
                <a:cs typeface="Inter Tight" pitchFamily="34" charset="-120"/>
              </a:rPr>
              <a:t>No license fees · no per-message charges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457200" y="365760"/>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TAKE THE BOOKS WITH YOU</a:t>
            </a:r>
            <a:endParaRPr lang="en-US" sz="1200" dirty="0"/>
          </a:p>
        </p:txBody>
      </p:sp>
      <p:sp>
        <p:nvSpPr>
          <p:cNvPr id="6" name="Text 4"/>
          <p:cNvSpPr/>
          <p:nvPr/>
        </p:nvSpPr>
        <p:spPr>
          <a:xfrm>
            <a:off x="457200" y="621792"/>
            <a:ext cx="8229600" cy="640080"/>
          </a:xfrm>
          <a:prstGeom prst="rect">
            <a:avLst/>
          </a:prstGeom>
          <a:noFill/>
          <a:ln/>
        </p:spPr>
        <p:txBody>
          <a:bodyPr wrap="square" lIns="0" tIns="0" rIns="0" bIns="0" rtlCol="0" anchor="ctr"/>
          <a:lstStyle/>
          <a:p>
            <a:pPr marL="0" indent="0">
              <a:buNone/>
            </a:pPr>
            <a:r>
              <a:rPr lang="en-US" sz="3300" b="1" kern="0" spc="-30" dirty="0">
                <a:solidFill>
                  <a:srgbClr val="111111"/>
                </a:solidFill>
                <a:latin typeface="Oswald" pitchFamily="34" charset="0"/>
                <a:ea typeface="Oswald" pitchFamily="34" charset="-122"/>
                <a:cs typeface="Oswald" pitchFamily="34" charset="-120"/>
              </a:rPr>
              <a:t>Read the full story</a:t>
            </a:r>
            <a:endParaRPr lang="en-US" sz="3300" dirty="0"/>
          </a:p>
        </p:txBody>
      </p:sp>
      <p:sp>
        <p:nvSpPr>
          <p:cNvPr id="7" name="Text 5"/>
          <p:cNvSpPr/>
          <p:nvPr/>
        </p:nvSpPr>
        <p:spPr>
          <a:xfrm>
            <a:off x="457200" y="1280160"/>
            <a:ext cx="8229600" cy="320040"/>
          </a:xfrm>
          <a:prstGeom prst="rect">
            <a:avLst/>
          </a:prstGeom>
          <a:noFill/>
          <a:ln/>
        </p:spPr>
        <p:txBody>
          <a:bodyPr wrap="square" lIns="0" tIns="0" rIns="0" bIns="0" rtlCol="0" anchor="ctr"/>
          <a:lstStyle/>
          <a:p>
            <a:pPr marL="0" indent="0">
              <a:buNone/>
            </a:pPr>
            <a:r>
              <a:rPr lang="en-US" sz="1400" dirty="0">
                <a:solidFill>
                  <a:srgbClr val="4A4A4A"/>
                </a:solidFill>
                <a:latin typeface="Inter Tight" pitchFamily="34" charset="0"/>
                <a:ea typeface="Inter Tight" pitchFamily="34" charset="-122"/>
                <a:cs typeface="Inter Tight" pitchFamily="34" charset="-120"/>
              </a:rPr>
              <a:t>Two companion guides — free PDFs, no sign-up. Scan and keep them.</a:t>
            </a:r>
            <a:endParaRPr lang="en-US" sz="1400" dirty="0"/>
          </a:p>
        </p:txBody>
      </p:sp>
      <p:sp>
        <p:nvSpPr>
          <p:cNvPr id="8" name="Shape 6"/>
          <p:cNvSpPr/>
          <p:nvPr/>
        </p:nvSpPr>
        <p:spPr>
          <a:xfrm>
            <a:off x="457200" y="1719072"/>
            <a:ext cx="3931920" cy="292608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9" name="Shape 7"/>
          <p:cNvSpPr/>
          <p:nvPr/>
        </p:nvSpPr>
        <p:spPr>
          <a:xfrm>
            <a:off x="457200" y="1719072"/>
            <a:ext cx="3931920" cy="73152"/>
          </a:xfrm>
          <a:prstGeom prst="rect">
            <a:avLst/>
          </a:prstGeom>
          <a:solidFill>
            <a:srgbClr val="CB0017"/>
          </a:solidFill>
          <a:ln w="12700">
            <a:solidFill>
              <a:srgbClr val="CB0017"/>
            </a:solidFill>
            <a:prstDash val="solid"/>
          </a:ln>
        </p:spPr>
        <p:txBody>
          <a:bodyPr/>
          <a:lstStyle/>
          <a:p>
            <a:endParaRPr lang="en-US"/>
          </a:p>
        </p:txBody>
      </p:sp>
      <p:sp>
        <p:nvSpPr>
          <p:cNvPr id="10" name="Shape 8"/>
          <p:cNvSpPr/>
          <p:nvPr/>
        </p:nvSpPr>
        <p:spPr>
          <a:xfrm>
            <a:off x="694944" y="1956816"/>
            <a:ext cx="402336" cy="402336"/>
          </a:xfrm>
          <a:prstGeom prst="ellipse">
            <a:avLst/>
          </a:prstGeom>
          <a:solidFill>
            <a:srgbClr val="CB0017"/>
          </a:solidFill>
          <a:ln w="12700">
            <a:solidFill>
              <a:srgbClr val="CB0017"/>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786384" y="2057400"/>
            <a:ext cx="219456" cy="219456"/>
          </a:xfrm>
          <a:prstGeom prst="rect">
            <a:avLst/>
          </a:prstGeom>
        </p:spPr>
      </p:pic>
      <p:sp>
        <p:nvSpPr>
          <p:cNvPr id="12" name="Text 9"/>
          <p:cNvSpPr/>
          <p:nvPr/>
        </p:nvSpPr>
        <p:spPr>
          <a:xfrm>
            <a:off x="1188720" y="1956816"/>
            <a:ext cx="3017520" cy="365760"/>
          </a:xfrm>
          <a:prstGeom prst="rect">
            <a:avLst/>
          </a:prstGeom>
          <a:noFill/>
          <a:ln/>
        </p:spPr>
        <p:txBody>
          <a:bodyPr wrap="square" lIns="0" tIns="0" rIns="0" bIns="0" rtlCol="0" anchor="ctr"/>
          <a:lstStyle/>
          <a:p>
            <a:pPr marL="0" indent="0">
              <a:buNone/>
            </a:pPr>
            <a:r>
              <a:rPr lang="en-US" sz="1250" b="1" kern="0" spc="150" dirty="0">
                <a:solidFill>
                  <a:srgbClr val="CB0017"/>
                </a:solidFill>
                <a:latin typeface="Oswald" pitchFamily="34" charset="0"/>
                <a:ea typeface="Oswald" pitchFamily="34" charset="-122"/>
                <a:cs typeface="Oswald" pitchFamily="34" charset="-120"/>
              </a:rPr>
              <a:t>THE LANGUAGE</a:t>
            </a:r>
            <a:endParaRPr lang="en-US" sz="1250" dirty="0"/>
          </a:p>
        </p:txBody>
      </p:sp>
      <p:sp>
        <p:nvSpPr>
          <p:cNvPr id="13" name="Text 10"/>
          <p:cNvSpPr/>
          <p:nvPr/>
        </p:nvSpPr>
        <p:spPr>
          <a:xfrm>
            <a:off x="713232" y="2468880"/>
            <a:ext cx="1664208" cy="1005840"/>
          </a:xfrm>
          <a:prstGeom prst="rect">
            <a:avLst/>
          </a:prstGeom>
          <a:noFill/>
          <a:ln/>
        </p:spPr>
        <p:txBody>
          <a:bodyPr wrap="square" lIns="0" tIns="0" rIns="0" bIns="0" rtlCol="0" anchor="ctr"/>
          <a:lstStyle/>
          <a:p>
            <a:pPr marL="0" indent="0">
              <a:lnSpc>
                <a:spcPct val="95000"/>
              </a:lnSpc>
              <a:buNone/>
            </a:pPr>
            <a:r>
              <a:rPr lang="en-US" sz="1700" b="1" dirty="0">
                <a:solidFill>
                  <a:srgbClr val="111111"/>
                </a:solidFill>
                <a:latin typeface="Oswald" pitchFamily="34" charset="0"/>
                <a:ea typeface="Oswald" pitchFamily="34" charset="-122"/>
                <a:cs typeface="Oswald" pitchFamily="34" charset="-120"/>
              </a:rPr>
              <a:t>UTL-X: One Language, All Formats</a:t>
            </a:r>
            <a:endParaRPr lang="en-US" sz="1700" dirty="0"/>
          </a:p>
        </p:txBody>
      </p:sp>
      <p:sp>
        <p:nvSpPr>
          <p:cNvPr id="14" name="Text 11"/>
          <p:cNvSpPr/>
          <p:nvPr/>
        </p:nvSpPr>
        <p:spPr>
          <a:xfrm>
            <a:off x="713232" y="3547872"/>
            <a:ext cx="1664208" cy="960120"/>
          </a:xfrm>
          <a:prstGeom prst="rect">
            <a:avLst/>
          </a:prstGeom>
          <a:noFill/>
          <a:ln/>
        </p:spPr>
        <p:txBody>
          <a:bodyPr wrap="square" lIns="0" tIns="0" rIns="0" bIns="0" rtlCol="0" anchor="ctr"/>
          <a:lstStyle/>
          <a:p>
            <a:pPr marL="0" indent="0">
              <a:lnSpc>
                <a:spcPct val="105000"/>
              </a:lnSpc>
              <a:buNone/>
            </a:pPr>
            <a:r>
              <a:rPr lang="en-US" sz="1050" dirty="0">
                <a:solidFill>
                  <a:srgbClr val="4A4A4A"/>
                </a:solidFill>
                <a:latin typeface="Inter Tight" pitchFamily="34" charset="0"/>
                <a:ea typeface="Inter Tight" pitchFamily="34" charset="-122"/>
                <a:cs typeface="Inter Tight" pitchFamily="34" charset="-120"/>
              </a:rPr>
              <a:t>The complete language spec, standard library and multi-format system.</a:t>
            </a:r>
            <a:endParaRPr lang="en-US" sz="1050" dirty="0"/>
          </a:p>
        </p:txBody>
      </p:sp>
      <p:sp>
        <p:nvSpPr>
          <p:cNvPr id="15" name="Shape 12"/>
          <p:cNvSpPr/>
          <p:nvPr/>
        </p:nvSpPr>
        <p:spPr>
          <a:xfrm>
            <a:off x="2514600" y="2468880"/>
            <a:ext cx="1746504" cy="1746504"/>
          </a:xfrm>
          <a:prstGeom prst="rect">
            <a:avLst/>
          </a:prstGeom>
          <a:solidFill>
            <a:srgbClr val="FFFFFF"/>
          </a:solidFill>
          <a:ln w="12700">
            <a:solidFill>
              <a:srgbClr val="E6E6E6"/>
            </a:solidFill>
            <a:prstDash val="solid"/>
          </a:ln>
        </p:spPr>
        <p:txBody>
          <a:bodyPr/>
          <a:lstStyle/>
          <a:p>
            <a:endParaRPr lang="en-US"/>
          </a:p>
        </p:txBody>
      </p:sp>
      <p:pic>
        <p:nvPicPr>
          <p:cNvPr id="16" name="Image 1" descr="qr-book1.png"/>
          <p:cNvPicPr>
            <a:picLocks noChangeAspect="1"/>
          </p:cNvPicPr>
          <p:nvPr/>
        </p:nvPicPr>
        <p:blipFill>
          <a:blip r:embed="rId4"/>
          <a:stretch>
            <a:fillRect/>
          </a:stretch>
        </p:blipFill>
        <p:spPr>
          <a:xfrm>
            <a:off x="2587752" y="2542032"/>
            <a:ext cx="1600200" cy="1600200"/>
          </a:xfrm>
          <a:prstGeom prst="rect">
            <a:avLst/>
          </a:prstGeom>
        </p:spPr>
      </p:pic>
      <p:sp>
        <p:nvSpPr>
          <p:cNvPr id="17" name="Text 13"/>
          <p:cNvSpPr/>
          <p:nvPr/>
        </p:nvSpPr>
        <p:spPr>
          <a:xfrm>
            <a:off x="2514600" y="4187952"/>
            <a:ext cx="1746504" cy="274320"/>
          </a:xfrm>
          <a:prstGeom prst="rect">
            <a:avLst/>
          </a:prstGeom>
          <a:noFill/>
          <a:ln/>
        </p:spPr>
        <p:txBody>
          <a:bodyPr wrap="square" lIns="0" tIns="0" rIns="0" bIns="0" rtlCol="0" anchor="ctr"/>
          <a:lstStyle/>
          <a:p>
            <a:pPr marL="0" indent="0" algn="ctr">
              <a:buNone/>
            </a:pPr>
            <a:r>
              <a:rPr lang="en-US" sz="1100" b="1" kern="0" spc="100" dirty="0">
                <a:solidFill>
                  <a:srgbClr val="111111"/>
                </a:solidFill>
                <a:latin typeface="Oswald" pitchFamily="34" charset="0"/>
                <a:ea typeface="Oswald" pitchFamily="34" charset="-122"/>
                <a:cs typeface="Oswald" pitchFamily="34" charset="-120"/>
              </a:rPr>
              <a:t>Scan to read</a:t>
            </a:r>
            <a:endParaRPr lang="en-US" sz="1100" dirty="0"/>
          </a:p>
        </p:txBody>
      </p:sp>
      <p:sp>
        <p:nvSpPr>
          <p:cNvPr id="18" name="Shape 14"/>
          <p:cNvSpPr/>
          <p:nvPr/>
        </p:nvSpPr>
        <p:spPr>
          <a:xfrm>
            <a:off x="4754880" y="1719072"/>
            <a:ext cx="3931920" cy="292608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9" name="Shape 15"/>
          <p:cNvSpPr/>
          <p:nvPr/>
        </p:nvSpPr>
        <p:spPr>
          <a:xfrm>
            <a:off x="4754880" y="1719072"/>
            <a:ext cx="3931920" cy="73152"/>
          </a:xfrm>
          <a:prstGeom prst="rect">
            <a:avLst/>
          </a:prstGeom>
          <a:solidFill>
            <a:srgbClr val="CB0017"/>
          </a:solidFill>
          <a:ln w="12700">
            <a:solidFill>
              <a:srgbClr val="CB0017"/>
            </a:solidFill>
            <a:prstDash val="solid"/>
          </a:ln>
        </p:spPr>
        <p:txBody>
          <a:bodyPr/>
          <a:lstStyle/>
          <a:p>
            <a:endParaRPr lang="en-US"/>
          </a:p>
        </p:txBody>
      </p:sp>
      <p:sp>
        <p:nvSpPr>
          <p:cNvPr id="20" name="Shape 16"/>
          <p:cNvSpPr/>
          <p:nvPr/>
        </p:nvSpPr>
        <p:spPr>
          <a:xfrm>
            <a:off x="4992624" y="1956816"/>
            <a:ext cx="402336" cy="402336"/>
          </a:xfrm>
          <a:prstGeom prst="ellipse">
            <a:avLst/>
          </a:prstGeom>
          <a:solidFill>
            <a:srgbClr val="CB0017"/>
          </a:solidFill>
          <a:ln w="12700">
            <a:solidFill>
              <a:srgbClr val="CB0017"/>
            </a:solidFill>
            <a:prstDash val="solid"/>
          </a:ln>
        </p:spPr>
        <p:txBody>
          <a:bodyPr/>
          <a:lstStyle/>
          <a:p>
            <a:endParaRPr lang="en-US"/>
          </a:p>
        </p:txBody>
      </p:sp>
      <p:pic>
        <p:nvPicPr>
          <p:cNvPr id="21" name="Image 2" descr="preencoded.png"/>
          <p:cNvPicPr>
            <a:picLocks noChangeAspect="1"/>
          </p:cNvPicPr>
          <p:nvPr/>
        </p:nvPicPr>
        <p:blipFill>
          <a:blip r:embed="rId3"/>
          <a:stretch>
            <a:fillRect/>
          </a:stretch>
        </p:blipFill>
        <p:spPr>
          <a:xfrm>
            <a:off x="5084064" y="2057400"/>
            <a:ext cx="219456" cy="219456"/>
          </a:xfrm>
          <a:prstGeom prst="rect">
            <a:avLst/>
          </a:prstGeom>
        </p:spPr>
      </p:pic>
      <p:sp>
        <p:nvSpPr>
          <p:cNvPr id="22" name="Text 17"/>
          <p:cNvSpPr/>
          <p:nvPr/>
        </p:nvSpPr>
        <p:spPr>
          <a:xfrm>
            <a:off x="5486400" y="1956816"/>
            <a:ext cx="3017520" cy="365760"/>
          </a:xfrm>
          <a:prstGeom prst="rect">
            <a:avLst/>
          </a:prstGeom>
          <a:noFill/>
          <a:ln/>
        </p:spPr>
        <p:txBody>
          <a:bodyPr wrap="square" lIns="0" tIns="0" rIns="0" bIns="0" rtlCol="0" anchor="ctr"/>
          <a:lstStyle/>
          <a:p>
            <a:pPr marL="0" indent="0">
              <a:buNone/>
            </a:pPr>
            <a:r>
              <a:rPr lang="en-US" sz="1250" b="1" kern="0" spc="150" dirty="0">
                <a:solidFill>
                  <a:srgbClr val="CB0017"/>
                </a:solidFill>
                <a:latin typeface="Oswald" pitchFamily="34" charset="0"/>
                <a:ea typeface="Oswald" pitchFamily="34" charset="-122"/>
                <a:cs typeface="Oswald" pitchFamily="34" charset="-120"/>
              </a:rPr>
              <a:t>ON AZURE</a:t>
            </a:r>
            <a:endParaRPr lang="en-US" sz="1250" dirty="0"/>
          </a:p>
        </p:txBody>
      </p:sp>
      <p:sp>
        <p:nvSpPr>
          <p:cNvPr id="23" name="Text 18"/>
          <p:cNvSpPr/>
          <p:nvPr/>
        </p:nvSpPr>
        <p:spPr>
          <a:xfrm>
            <a:off x="5010912" y="2468880"/>
            <a:ext cx="1664208" cy="1005840"/>
          </a:xfrm>
          <a:prstGeom prst="rect">
            <a:avLst/>
          </a:prstGeom>
          <a:noFill/>
          <a:ln/>
        </p:spPr>
        <p:txBody>
          <a:bodyPr wrap="square" lIns="0" tIns="0" rIns="0" bIns="0" rtlCol="0" anchor="ctr"/>
          <a:lstStyle/>
          <a:p>
            <a:pPr marL="0" indent="0">
              <a:lnSpc>
                <a:spcPct val="95000"/>
              </a:lnSpc>
              <a:buNone/>
            </a:pPr>
            <a:r>
              <a:rPr lang="en-US" sz="1700" b="1" dirty="0">
                <a:solidFill>
                  <a:srgbClr val="111111"/>
                </a:solidFill>
                <a:latin typeface="Oswald" pitchFamily="34" charset="0"/>
                <a:ea typeface="Oswald" pitchFamily="34" charset="-122"/>
                <a:cs typeface="Oswald" pitchFamily="34" charset="-120"/>
              </a:rPr>
              <a:t>UTLXe on Azure</a:t>
            </a:r>
            <a:endParaRPr lang="en-US" sz="1700" dirty="0"/>
          </a:p>
        </p:txBody>
      </p:sp>
      <p:sp>
        <p:nvSpPr>
          <p:cNvPr id="24" name="Text 19"/>
          <p:cNvSpPr/>
          <p:nvPr/>
        </p:nvSpPr>
        <p:spPr>
          <a:xfrm>
            <a:off x="5010912" y="3547872"/>
            <a:ext cx="1664208" cy="960120"/>
          </a:xfrm>
          <a:prstGeom prst="rect">
            <a:avLst/>
          </a:prstGeom>
          <a:noFill/>
          <a:ln/>
        </p:spPr>
        <p:txBody>
          <a:bodyPr wrap="square" lIns="0" tIns="0" rIns="0" bIns="0" rtlCol="0" anchor="ctr"/>
          <a:lstStyle/>
          <a:p>
            <a:pPr marL="0" indent="0">
              <a:lnSpc>
                <a:spcPct val="105000"/>
              </a:lnSpc>
              <a:buNone/>
            </a:pPr>
            <a:r>
              <a:rPr lang="en-US" sz="1050" dirty="0">
                <a:solidFill>
                  <a:srgbClr val="4A4A4A"/>
                </a:solidFill>
                <a:latin typeface="Inter Tight" pitchFamily="34" charset="0"/>
                <a:ea typeface="Inter Tight" pitchFamily="34" charset="-122"/>
                <a:cs typeface="Inter Tight" pitchFamily="34" charset="-120"/>
              </a:rPr>
              <a:t>Deploy &amp; operate the engine on Azure Container Apps — first deploy to production.</a:t>
            </a:r>
            <a:endParaRPr lang="en-US" sz="1050" dirty="0"/>
          </a:p>
        </p:txBody>
      </p:sp>
      <p:sp>
        <p:nvSpPr>
          <p:cNvPr id="25" name="Shape 20"/>
          <p:cNvSpPr/>
          <p:nvPr/>
        </p:nvSpPr>
        <p:spPr>
          <a:xfrm>
            <a:off x="6812280" y="2468880"/>
            <a:ext cx="1746504" cy="1746504"/>
          </a:xfrm>
          <a:prstGeom prst="rect">
            <a:avLst/>
          </a:prstGeom>
          <a:solidFill>
            <a:srgbClr val="FFFFFF"/>
          </a:solidFill>
          <a:ln w="12700">
            <a:solidFill>
              <a:srgbClr val="E6E6E6"/>
            </a:solidFill>
            <a:prstDash val="solid"/>
          </a:ln>
        </p:spPr>
        <p:txBody>
          <a:bodyPr/>
          <a:lstStyle/>
          <a:p>
            <a:endParaRPr lang="en-US"/>
          </a:p>
        </p:txBody>
      </p:sp>
      <p:pic>
        <p:nvPicPr>
          <p:cNvPr id="26" name="Image 3" descr="qr-book2.png"/>
          <p:cNvPicPr>
            <a:picLocks noChangeAspect="1"/>
          </p:cNvPicPr>
          <p:nvPr/>
        </p:nvPicPr>
        <p:blipFill>
          <a:blip r:embed="rId5"/>
          <a:stretch>
            <a:fillRect/>
          </a:stretch>
        </p:blipFill>
        <p:spPr>
          <a:xfrm>
            <a:off x="6885432" y="2542032"/>
            <a:ext cx="1600200" cy="1600200"/>
          </a:xfrm>
          <a:prstGeom prst="rect">
            <a:avLst/>
          </a:prstGeom>
        </p:spPr>
      </p:pic>
      <p:sp>
        <p:nvSpPr>
          <p:cNvPr id="27" name="Text 21"/>
          <p:cNvSpPr/>
          <p:nvPr/>
        </p:nvSpPr>
        <p:spPr>
          <a:xfrm>
            <a:off x="6812280" y="4187952"/>
            <a:ext cx="1746504" cy="274320"/>
          </a:xfrm>
          <a:prstGeom prst="rect">
            <a:avLst/>
          </a:prstGeom>
          <a:noFill/>
          <a:ln/>
        </p:spPr>
        <p:txBody>
          <a:bodyPr wrap="square" lIns="0" tIns="0" rIns="0" bIns="0" rtlCol="0" anchor="ctr"/>
          <a:lstStyle/>
          <a:p>
            <a:pPr marL="0" indent="0" algn="ctr">
              <a:buNone/>
            </a:pPr>
            <a:r>
              <a:rPr lang="en-US" sz="1100" b="1" kern="0" spc="100" dirty="0">
                <a:solidFill>
                  <a:srgbClr val="111111"/>
                </a:solidFill>
                <a:latin typeface="Oswald" pitchFamily="34" charset="0"/>
                <a:ea typeface="Oswald" pitchFamily="34" charset="-122"/>
                <a:cs typeface="Oswald" pitchFamily="34" charset="-120"/>
              </a:rPr>
              <a:t>Scan to read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384048" y="4828032"/>
            <a:ext cx="1280160" cy="256032"/>
          </a:xfrm>
          <a:prstGeom prst="rect">
            <a:avLst/>
          </a:prstGeom>
          <a:noFill/>
          <a:ln/>
        </p:spPr>
        <p:txBody>
          <a:bodyPr wrap="square" lIns="0" tIns="0" rIns="0" bIns="0" rtlCol="0" anchor="ctr"/>
          <a:lstStyle/>
          <a:p>
            <a:pPr marL="0" indent="0">
              <a:buNone/>
            </a:pPr>
            <a:r>
              <a:rPr lang="en-US" sz="1100" b="1" dirty="0">
                <a:solidFill>
                  <a:srgbClr val="111111"/>
                </a:solidFill>
                <a:latin typeface="Oswald" pitchFamily="34" charset="0"/>
                <a:ea typeface="Oswald" pitchFamily="34" charset="-122"/>
                <a:cs typeface="Oswald" pitchFamily="34" charset="-120"/>
              </a:rPr>
              <a:t>UTL</a:t>
            </a:r>
            <a:r>
              <a:rPr lang="en-US" sz="1100" b="1" dirty="0">
                <a:solidFill>
                  <a:srgbClr val="CB0017"/>
                </a:solidFill>
                <a:latin typeface="Oswald" pitchFamily="34" charset="0"/>
                <a:ea typeface="Oswald" pitchFamily="34" charset="-122"/>
                <a:cs typeface="Oswald" pitchFamily="34" charset="-120"/>
              </a:rPr>
              <a:t>·X</a:t>
            </a:r>
            <a:endParaRPr lang="en-US" sz="1100" dirty="0"/>
          </a:p>
        </p:txBody>
      </p:sp>
      <p:sp>
        <p:nvSpPr>
          <p:cNvPr id="4" name="Text 2"/>
          <p:cNvSpPr/>
          <p:nvPr/>
        </p:nvSpPr>
        <p:spPr>
          <a:xfrm>
            <a:off x="6583680" y="4846320"/>
            <a:ext cx="228600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sp>
        <p:nvSpPr>
          <p:cNvPr id="5" name="Text 3"/>
          <p:cNvSpPr/>
          <p:nvPr/>
        </p:nvSpPr>
        <p:spPr>
          <a:xfrm>
            <a:off x="8732520" y="292608"/>
            <a:ext cx="274320" cy="274320"/>
          </a:xfrm>
          <a:prstGeom prst="rect">
            <a:avLst/>
          </a:prstGeom>
          <a:noFill/>
          <a:ln/>
        </p:spPr>
        <p:txBody>
          <a:bodyPr wrap="square" lIns="0" tIns="0" rIns="0" bIns="0" rtlCol="0" anchor="ctr"/>
          <a:lstStyle/>
          <a:p>
            <a:pPr marL="0" indent="0" algn="r">
              <a:buNone/>
            </a:pPr>
            <a:r>
              <a:rPr lang="en-US" sz="1100" dirty="0">
                <a:solidFill>
                  <a:srgbClr val="E6E6E6"/>
                </a:solidFill>
                <a:latin typeface="Oswald" pitchFamily="34" charset="0"/>
                <a:ea typeface="Oswald" pitchFamily="34" charset="-122"/>
                <a:cs typeface="Oswald" pitchFamily="34" charset="-120"/>
              </a:rPr>
              <a:t>15</a:t>
            </a:r>
            <a:endParaRPr lang="en-US" sz="1100" dirty="0"/>
          </a:p>
        </p:txBody>
      </p:sp>
      <p:sp>
        <p:nvSpPr>
          <p:cNvPr id="6" name="Text 4"/>
          <p:cNvSpPr/>
          <p:nvPr/>
        </p:nvSpPr>
        <p:spPr>
          <a:xfrm>
            <a:off x="457200" y="329184"/>
            <a:ext cx="8229600" cy="274320"/>
          </a:xfrm>
          <a:prstGeom prst="rect">
            <a:avLst/>
          </a:prstGeom>
          <a:noFill/>
          <a:ln/>
        </p:spPr>
        <p:txBody>
          <a:bodyPr wrap="square" lIns="0" tIns="0" rIns="0" bIns="0" rtlCol="0" anchor="ctr"/>
          <a:lstStyle/>
          <a:p>
            <a:pPr marL="0" indent="0">
              <a:buNone/>
            </a:pPr>
            <a:r>
              <a:rPr lang="en-US" sz="1200" b="1" kern="0" spc="300" dirty="0">
                <a:solidFill>
                  <a:srgbClr val="CB0017"/>
                </a:solidFill>
                <a:latin typeface="Oswald" pitchFamily="34" charset="0"/>
                <a:ea typeface="Oswald" pitchFamily="34" charset="-122"/>
                <a:cs typeface="Oswald" pitchFamily="34" charset="-120"/>
              </a:rPr>
              <a:t>GET STARTED</a:t>
            </a:r>
            <a:endParaRPr lang="en-US" sz="1200" dirty="0"/>
          </a:p>
        </p:txBody>
      </p:sp>
      <p:sp>
        <p:nvSpPr>
          <p:cNvPr id="7" name="Text 5"/>
          <p:cNvSpPr/>
          <p:nvPr/>
        </p:nvSpPr>
        <p:spPr>
          <a:xfrm>
            <a:off x="457200" y="585216"/>
            <a:ext cx="7406640" cy="777240"/>
          </a:xfrm>
          <a:prstGeom prst="rect">
            <a:avLst/>
          </a:prstGeom>
          <a:noFill/>
          <a:ln/>
        </p:spPr>
        <p:txBody>
          <a:bodyPr wrap="square" lIns="0" tIns="0" rIns="0" bIns="0" rtlCol="0" anchor="ctr"/>
          <a:lstStyle/>
          <a:p>
            <a:pPr marL="0" indent="0">
              <a:buNone/>
            </a:pPr>
            <a:r>
              <a:rPr lang="en-US" sz="3100" b="1" kern="0" spc="-30" dirty="0">
                <a:solidFill>
                  <a:srgbClr val="111111"/>
                </a:solidFill>
                <a:latin typeface="Oswald" pitchFamily="34" charset="0"/>
                <a:ea typeface="Oswald" pitchFamily="34" charset="-122"/>
                <a:cs typeface="Oswald" pitchFamily="34" charset="-120"/>
              </a:rPr>
              <a:t>Find UTL-X online</a:t>
            </a:r>
            <a:endParaRPr lang="en-US" sz="3100" dirty="0"/>
          </a:p>
        </p:txBody>
      </p:sp>
      <p:sp>
        <p:nvSpPr>
          <p:cNvPr id="8" name="Shape 6"/>
          <p:cNvSpPr/>
          <p:nvPr/>
        </p:nvSpPr>
        <p:spPr>
          <a:xfrm>
            <a:off x="457200" y="1481328"/>
            <a:ext cx="2743200" cy="246888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9" name="Shape 7"/>
          <p:cNvSpPr/>
          <p:nvPr/>
        </p:nvSpPr>
        <p:spPr>
          <a:xfrm>
            <a:off x="457200" y="1481328"/>
            <a:ext cx="2743200" cy="64008"/>
          </a:xfrm>
          <a:prstGeom prst="rect">
            <a:avLst/>
          </a:prstGeom>
          <a:solidFill>
            <a:srgbClr val="CB0017"/>
          </a:solidFill>
          <a:ln w="12700">
            <a:solidFill>
              <a:srgbClr val="CB0017"/>
            </a:solidFill>
            <a:prstDash val="solid"/>
          </a:ln>
        </p:spPr>
        <p:txBody>
          <a:bodyPr/>
          <a:lstStyle/>
          <a:p>
            <a:endParaRPr lang="en-US"/>
          </a:p>
        </p:txBody>
      </p:sp>
      <p:sp>
        <p:nvSpPr>
          <p:cNvPr id="10" name="Text 8"/>
          <p:cNvSpPr/>
          <p:nvPr/>
        </p:nvSpPr>
        <p:spPr>
          <a:xfrm>
            <a:off x="658368" y="1682496"/>
            <a:ext cx="914400" cy="365760"/>
          </a:xfrm>
          <a:prstGeom prst="rect">
            <a:avLst/>
          </a:prstGeom>
          <a:noFill/>
          <a:ln/>
        </p:spPr>
        <p:txBody>
          <a:bodyPr wrap="square" lIns="0" tIns="0" rIns="0" bIns="0" rtlCol="0" anchor="ctr"/>
          <a:lstStyle/>
          <a:p>
            <a:pPr marL="0" indent="0">
              <a:buNone/>
            </a:pPr>
            <a:r>
              <a:rPr lang="en-US" sz="1600" b="1" kern="0" spc="200" dirty="0">
                <a:solidFill>
                  <a:srgbClr val="CB0017"/>
                </a:solidFill>
                <a:latin typeface="Oswald" pitchFamily="34" charset="0"/>
                <a:ea typeface="Oswald" pitchFamily="34" charset="-122"/>
                <a:cs typeface="Oswald" pitchFamily="34" charset="-120"/>
              </a:rPr>
              <a:t>01</a:t>
            </a:r>
            <a:endParaRPr lang="en-US" sz="1600" dirty="0"/>
          </a:p>
        </p:txBody>
      </p:sp>
      <p:sp>
        <p:nvSpPr>
          <p:cNvPr id="11" name="Text 9"/>
          <p:cNvSpPr/>
          <p:nvPr/>
        </p:nvSpPr>
        <p:spPr>
          <a:xfrm>
            <a:off x="658368" y="2084832"/>
            <a:ext cx="2340864" cy="256032"/>
          </a:xfrm>
          <a:prstGeom prst="rect">
            <a:avLst/>
          </a:prstGeom>
          <a:noFill/>
          <a:ln/>
        </p:spPr>
        <p:txBody>
          <a:bodyPr wrap="square" lIns="0" tIns="0" rIns="0" bIns="0" rtlCol="0" anchor="ctr"/>
          <a:lstStyle/>
          <a:p>
            <a:pPr marL="0" indent="0">
              <a:buNone/>
            </a:pPr>
            <a:r>
              <a:rPr lang="en-US" sz="1000" b="1" kern="0" spc="150" dirty="0">
                <a:solidFill>
                  <a:srgbClr val="CB0017"/>
                </a:solidFill>
                <a:latin typeface="Oswald" pitchFamily="34" charset="0"/>
                <a:ea typeface="Oswald" pitchFamily="34" charset="-122"/>
                <a:cs typeface="Oswald" pitchFamily="34" charset="-120"/>
              </a:rPr>
              <a:t>MAIN WEBSITE</a:t>
            </a:r>
            <a:endParaRPr lang="en-US" sz="1000" dirty="0"/>
          </a:p>
        </p:txBody>
      </p:sp>
      <p:sp>
        <p:nvSpPr>
          <p:cNvPr id="12" name="Text 10"/>
          <p:cNvSpPr/>
          <p:nvPr/>
        </p:nvSpPr>
        <p:spPr>
          <a:xfrm>
            <a:off x="658368" y="2359152"/>
            <a:ext cx="2340864" cy="548640"/>
          </a:xfrm>
          <a:prstGeom prst="rect">
            <a:avLst/>
          </a:prstGeom>
          <a:noFill/>
          <a:ln/>
        </p:spPr>
        <p:txBody>
          <a:bodyPr wrap="square" lIns="0" tIns="0" rIns="0" bIns="0" rtlCol="0" anchor="ctr"/>
          <a:lstStyle/>
          <a:p>
            <a:pPr marL="0" indent="0">
              <a:buNone/>
            </a:pPr>
            <a:r>
              <a:rPr lang="en-US" sz="2100" b="1" dirty="0">
                <a:solidFill>
                  <a:srgbClr val="111111"/>
                </a:solidFill>
                <a:latin typeface="Oswald" pitchFamily="34" charset="0"/>
                <a:ea typeface="Oswald" pitchFamily="34" charset="-122"/>
                <a:cs typeface="Oswald" pitchFamily="34" charset="-120"/>
              </a:rPr>
              <a:t>utlx.dev</a:t>
            </a:r>
            <a:endParaRPr lang="en-US" sz="2100" dirty="0"/>
          </a:p>
        </p:txBody>
      </p:sp>
      <p:sp>
        <p:nvSpPr>
          <p:cNvPr id="13" name="Text 11"/>
          <p:cNvSpPr/>
          <p:nvPr/>
        </p:nvSpPr>
        <p:spPr>
          <a:xfrm>
            <a:off x="658368" y="2962656"/>
            <a:ext cx="2340864" cy="731520"/>
          </a:xfrm>
          <a:prstGeom prst="rect">
            <a:avLst/>
          </a:prstGeom>
          <a:noFill/>
          <a:ln/>
        </p:spPr>
        <p:txBody>
          <a:bodyPr wrap="square" lIns="0" tIns="0" rIns="0" bIns="0" rtlCol="0" anchor="ctr"/>
          <a:lstStyle/>
          <a:p>
            <a:pPr marL="0" indent="0">
              <a:buNone/>
            </a:pPr>
            <a:r>
              <a:rPr lang="en-US" sz="1150" dirty="0">
                <a:solidFill>
                  <a:srgbClr val="4A4A4A"/>
                </a:solidFill>
                <a:latin typeface="Inter Tight" pitchFamily="34" charset="0"/>
                <a:ea typeface="Inter Tight" pitchFamily="34" charset="-122"/>
                <a:cs typeface="Inter Tight" pitchFamily="34" charset="-120"/>
              </a:rPr>
              <a:t>Downloads, products &amp; install guide</a:t>
            </a:r>
            <a:endParaRPr lang="en-US" sz="1150" dirty="0"/>
          </a:p>
          <a:p>
            <a:pPr marL="0" indent="0">
              <a:buNone/>
            </a:pPr>
            <a:r>
              <a:rPr lang="en-US" sz="1150" dirty="0">
                <a:solidFill>
                  <a:srgbClr val="4A4A4A"/>
                </a:solidFill>
                <a:latin typeface="Inter Tight" pitchFamily="34" charset="0"/>
                <a:ea typeface="Inter Tight" pitchFamily="34" charset="-122"/>
                <a:cs typeface="Inter Tight" pitchFamily="34" charset="-120"/>
              </a:rPr>
              <a:t>CLI · IDE · Engine</a:t>
            </a:r>
            <a:endParaRPr lang="en-US" sz="1150" dirty="0"/>
          </a:p>
        </p:txBody>
      </p:sp>
      <p:sp>
        <p:nvSpPr>
          <p:cNvPr id="14" name="Shape 12"/>
          <p:cNvSpPr/>
          <p:nvPr/>
        </p:nvSpPr>
        <p:spPr>
          <a:xfrm>
            <a:off x="3200400" y="1481328"/>
            <a:ext cx="2743200" cy="246888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5" name="Shape 13"/>
          <p:cNvSpPr/>
          <p:nvPr/>
        </p:nvSpPr>
        <p:spPr>
          <a:xfrm>
            <a:off x="3200400" y="1481328"/>
            <a:ext cx="2743200" cy="64008"/>
          </a:xfrm>
          <a:prstGeom prst="rect">
            <a:avLst/>
          </a:prstGeom>
          <a:solidFill>
            <a:srgbClr val="CB0017"/>
          </a:solidFill>
          <a:ln w="12700">
            <a:solidFill>
              <a:srgbClr val="CB0017"/>
            </a:solidFill>
            <a:prstDash val="solid"/>
          </a:ln>
        </p:spPr>
        <p:txBody>
          <a:bodyPr/>
          <a:lstStyle/>
          <a:p>
            <a:endParaRPr lang="en-US"/>
          </a:p>
        </p:txBody>
      </p:sp>
      <p:sp>
        <p:nvSpPr>
          <p:cNvPr id="16" name="Text 14"/>
          <p:cNvSpPr/>
          <p:nvPr/>
        </p:nvSpPr>
        <p:spPr>
          <a:xfrm>
            <a:off x="3401568" y="1682496"/>
            <a:ext cx="914400" cy="365760"/>
          </a:xfrm>
          <a:prstGeom prst="rect">
            <a:avLst/>
          </a:prstGeom>
          <a:noFill/>
          <a:ln/>
        </p:spPr>
        <p:txBody>
          <a:bodyPr wrap="square" lIns="0" tIns="0" rIns="0" bIns="0" rtlCol="0" anchor="ctr"/>
          <a:lstStyle/>
          <a:p>
            <a:pPr marL="0" indent="0">
              <a:buNone/>
            </a:pPr>
            <a:r>
              <a:rPr lang="en-US" sz="1600" b="1" kern="0" spc="200" dirty="0">
                <a:solidFill>
                  <a:srgbClr val="CB0017"/>
                </a:solidFill>
                <a:latin typeface="Oswald" pitchFamily="34" charset="0"/>
                <a:ea typeface="Oswald" pitchFamily="34" charset="-122"/>
                <a:cs typeface="Oswald" pitchFamily="34" charset="-120"/>
              </a:rPr>
              <a:t>02</a:t>
            </a:r>
            <a:endParaRPr lang="en-US" sz="1600" dirty="0"/>
          </a:p>
        </p:txBody>
      </p:sp>
      <p:sp>
        <p:nvSpPr>
          <p:cNvPr id="17" name="Text 15"/>
          <p:cNvSpPr/>
          <p:nvPr/>
        </p:nvSpPr>
        <p:spPr>
          <a:xfrm>
            <a:off x="3401568" y="2084832"/>
            <a:ext cx="2340864" cy="256032"/>
          </a:xfrm>
          <a:prstGeom prst="rect">
            <a:avLst/>
          </a:prstGeom>
          <a:noFill/>
          <a:ln/>
        </p:spPr>
        <p:txBody>
          <a:bodyPr wrap="square" lIns="0" tIns="0" rIns="0" bIns="0" rtlCol="0" anchor="ctr"/>
          <a:lstStyle/>
          <a:p>
            <a:pPr marL="0" indent="0">
              <a:buNone/>
            </a:pPr>
            <a:r>
              <a:rPr lang="en-US" sz="1000" b="1" kern="0" spc="150" dirty="0">
                <a:solidFill>
                  <a:srgbClr val="CB0017"/>
                </a:solidFill>
                <a:latin typeface="Oswald" pitchFamily="34" charset="0"/>
                <a:ea typeface="Oswald" pitchFamily="34" charset="-122"/>
                <a:cs typeface="Oswald" pitchFamily="34" charset="-120"/>
              </a:rPr>
              <a:t>LANGUAGE REFERENCE</a:t>
            </a:r>
            <a:endParaRPr lang="en-US" sz="1000" dirty="0"/>
          </a:p>
        </p:txBody>
      </p:sp>
      <p:sp>
        <p:nvSpPr>
          <p:cNvPr id="18" name="Text 16"/>
          <p:cNvSpPr/>
          <p:nvPr/>
        </p:nvSpPr>
        <p:spPr>
          <a:xfrm>
            <a:off x="3401568" y="2359152"/>
            <a:ext cx="2340864" cy="548640"/>
          </a:xfrm>
          <a:prstGeom prst="rect">
            <a:avLst/>
          </a:prstGeom>
          <a:noFill/>
          <a:ln/>
        </p:spPr>
        <p:txBody>
          <a:bodyPr wrap="square" lIns="0" tIns="0" rIns="0" bIns="0" rtlCol="0" anchor="ctr"/>
          <a:lstStyle/>
          <a:p>
            <a:pPr marL="0" indent="0">
              <a:buNone/>
            </a:pPr>
            <a:r>
              <a:rPr lang="en-US" sz="2100" b="1" dirty="0">
                <a:solidFill>
                  <a:srgbClr val="111111"/>
                </a:solidFill>
                <a:latin typeface="Oswald" pitchFamily="34" charset="0"/>
                <a:ea typeface="Oswald" pitchFamily="34" charset="-122"/>
                <a:cs typeface="Oswald" pitchFamily="34" charset="-120"/>
              </a:rPr>
              <a:t>utlx-lang.org</a:t>
            </a:r>
            <a:endParaRPr lang="en-US" sz="2100" dirty="0"/>
          </a:p>
        </p:txBody>
      </p:sp>
      <p:sp>
        <p:nvSpPr>
          <p:cNvPr id="19" name="Text 17"/>
          <p:cNvSpPr/>
          <p:nvPr/>
        </p:nvSpPr>
        <p:spPr>
          <a:xfrm>
            <a:off x="3401568" y="2962656"/>
            <a:ext cx="2340864" cy="731520"/>
          </a:xfrm>
          <a:prstGeom prst="rect">
            <a:avLst/>
          </a:prstGeom>
          <a:noFill/>
          <a:ln/>
        </p:spPr>
        <p:txBody>
          <a:bodyPr wrap="square" lIns="0" tIns="0" rIns="0" bIns="0" rtlCol="0" anchor="ctr"/>
          <a:lstStyle/>
          <a:p>
            <a:pPr marL="0" indent="0">
              <a:buNone/>
            </a:pPr>
            <a:r>
              <a:rPr lang="en-US" sz="1150" dirty="0">
                <a:solidFill>
                  <a:srgbClr val="4A4A4A"/>
                </a:solidFill>
                <a:latin typeface="Inter Tight" pitchFamily="34" charset="0"/>
                <a:ea typeface="Inter Tight" pitchFamily="34" charset="-122"/>
                <a:cs typeface="Inter Tight" pitchFamily="34" charset="-120"/>
              </a:rPr>
              <a:t>Complete language specification</a:t>
            </a:r>
            <a:endParaRPr lang="en-US" sz="1150" dirty="0"/>
          </a:p>
          <a:p>
            <a:pPr marL="0" indent="0">
              <a:buNone/>
            </a:pPr>
            <a:r>
              <a:rPr lang="en-US" sz="1150" dirty="0">
                <a:solidFill>
                  <a:srgbClr val="4A4A4A"/>
                </a:solidFill>
                <a:latin typeface="Inter Tight" pitchFamily="34" charset="0"/>
                <a:ea typeface="Inter Tight" pitchFamily="34" charset="-122"/>
                <a:cs typeface="Inter Tight" pitchFamily="34" charset="-120"/>
              </a:rPr>
              <a:t>650+ stdlib functions</a:t>
            </a:r>
            <a:endParaRPr lang="en-US" sz="1150" dirty="0"/>
          </a:p>
        </p:txBody>
      </p:sp>
      <p:sp>
        <p:nvSpPr>
          <p:cNvPr id="20" name="Shape 18"/>
          <p:cNvSpPr/>
          <p:nvPr/>
        </p:nvSpPr>
        <p:spPr>
          <a:xfrm>
            <a:off x="5943600" y="1481328"/>
            <a:ext cx="2743200" cy="246888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21" name="Shape 19"/>
          <p:cNvSpPr/>
          <p:nvPr/>
        </p:nvSpPr>
        <p:spPr>
          <a:xfrm>
            <a:off x="5943600" y="1481328"/>
            <a:ext cx="2743200" cy="64008"/>
          </a:xfrm>
          <a:prstGeom prst="rect">
            <a:avLst/>
          </a:prstGeom>
          <a:solidFill>
            <a:srgbClr val="CB0017"/>
          </a:solidFill>
          <a:ln w="12700">
            <a:solidFill>
              <a:srgbClr val="CB0017"/>
            </a:solidFill>
            <a:prstDash val="solid"/>
          </a:ln>
        </p:spPr>
        <p:txBody>
          <a:bodyPr/>
          <a:lstStyle/>
          <a:p>
            <a:endParaRPr lang="en-US"/>
          </a:p>
        </p:txBody>
      </p:sp>
      <p:sp>
        <p:nvSpPr>
          <p:cNvPr id="22" name="Text 20"/>
          <p:cNvSpPr/>
          <p:nvPr/>
        </p:nvSpPr>
        <p:spPr>
          <a:xfrm>
            <a:off x="6144768" y="1682496"/>
            <a:ext cx="914400" cy="365760"/>
          </a:xfrm>
          <a:prstGeom prst="rect">
            <a:avLst/>
          </a:prstGeom>
          <a:noFill/>
          <a:ln/>
        </p:spPr>
        <p:txBody>
          <a:bodyPr wrap="square" lIns="0" tIns="0" rIns="0" bIns="0" rtlCol="0" anchor="ctr"/>
          <a:lstStyle/>
          <a:p>
            <a:pPr marL="0" indent="0">
              <a:buNone/>
            </a:pPr>
            <a:r>
              <a:rPr lang="en-US" sz="1600" b="1" kern="0" spc="200" dirty="0">
                <a:solidFill>
                  <a:srgbClr val="CB0017"/>
                </a:solidFill>
                <a:latin typeface="Oswald" pitchFamily="34" charset="0"/>
                <a:ea typeface="Oswald" pitchFamily="34" charset="-122"/>
                <a:cs typeface="Oswald" pitchFamily="34" charset="-120"/>
              </a:rPr>
              <a:t>03</a:t>
            </a:r>
            <a:endParaRPr lang="en-US" sz="1600" dirty="0"/>
          </a:p>
        </p:txBody>
      </p:sp>
      <p:sp>
        <p:nvSpPr>
          <p:cNvPr id="23" name="Text 21"/>
          <p:cNvSpPr/>
          <p:nvPr/>
        </p:nvSpPr>
        <p:spPr>
          <a:xfrm>
            <a:off x="6144768" y="2084832"/>
            <a:ext cx="2340864" cy="256032"/>
          </a:xfrm>
          <a:prstGeom prst="rect">
            <a:avLst/>
          </a:prstGeom>
          <a:noFill/>
          <a:ln/>
        </p:spPr>
        <p:txBody>
          <a:bodyPr wrap="square" lIns="0" tIns="0" rIns="0" bIns="0" rtlCol="0" anchor="ctr"/>
          <a:lstStyle/>
          <a:p>
            <a:pPr marL="0" indent="0">
              <a:buNone/>
            </a:pPr>
            <a:r>
              <a:rPr lang="en-US" sz="1000" b="1" kern="0" spc="150" dirty="0">
                <a:solidFill>
                  <a:srgbClr val="CB0017"/>
                </a:solidFill>
                <a:latin typeface="Oswald" pitchFamily="34" charset="0"/>
                <a:ea typeface="Oswald" pitchFamily="34" charset="-122"/>
                <a:cs typeface="Oswald" pitchFamily="34" charset="-120"/>
              </a:rPr>
              <a:t>SOURCE CODE</a:t>
            </a:r>
            <a:endParaRPr lang="en-US" sz="1000" dirty="0"/>
          </a:p>
        </p:txBody>
      </p:sp>
      <p:sp>
        <p:nvSpPr>
          <p:cNvPr id="24" name="Text 22"/>
          <p:cNvSpPr/>
          <p:nvPr/>
        </p:nvSpPr>
        <p:spPr>
          <a:xfrm>
            <a:off x="6144768" y="2359152"/>
            <a:ext cx="2340864" cy="548640"/>
          </a:xfrm>
          <a:prstGeom prst="rect">
            <a:avLst/>
          </a:prstGeom>
          <a:noFill/>
          <a:ln/>
        </p:spPr>
        <p:txBody>
          <a:bodyPr wrap="square" lIns="0" tIns="0" rIns="0" bIns="0" rtlCol="0" anchor="ctr"/>
          <a:lstStyle/>
          <a:p>
            <a:pPr marL="0" indent="0">
              <a:buNone/>
            </a:pPr>
            <a:r>
              <a:rPr lang="en-US" sz="1600" b="1" dirty="0">
                <a:solidFill>
                  <a:srgbClr val="111111"/>
                </a:solidFill>
                <a:latin typeface="Oswald" pitchFamily="34" charset="0"/>
                <a:ea typeface="Oswald" pitchFamily="34" charset="-122"/>
                <a:cs typeface="Oswald" pitchFamily="34" charset="-120"/>
              </a:rPr>
              <a:t>github.com/grauwen/utl-x</a:t>
            </a:r>
            <a:endParaRPr lang="en-US" sz="1600" dirty="0"/>
          </a:p>
        </p:txBody>
      </p:sp>
      <p:sp>
        <p:nvSpPr>
          <p:cNvPr id="25" name="Text 23"/>
          <p:cNvSpPr/>
          <p:nvPr/>
        </p:nvSpPr>
        <p:spPr>
          <a:xfrm>
            <a:off x="6144768" y="2962656"/>
            <a:ext cx="2340864" cy="731520"/>
          </a:xfrm>
          <a:prstGeom prst="rect">
            <a:avLst/>
          </a:prstGeom>
          <a:noFill/>
          <a:ln/>
        </p:spPr>
        <p:txBody>
          <a:bodyPr wrap="square" lIns="0" tIns="0" rIns="0" bIns="0" rtlCol="0" anchor="ctr"/>
          <a:lstStyle/>
          <a:p>
            <a:pPr marL="0" indent="0">
              <a:buNone/>
            </a:pPr>
            <a:r>
              <a:rPr lang="en-US" sz="1150" dirty="0">
                <a:solidFill>
                  <a:srgbClr val="4A4A4A"/>
                </a:solidFill>
                <a:latin typeface="Inter Tight" pitchFamily="34" charset="0"/>
                <a:ea typeface="Inter Tight" pitchFamily="34" charset="-122"/>
                <a:cs typeface="Inter Tight" pitchFamily="34" charset="-120"/>
              </a:rPr>
              <a:t>Open source · AGPL-3.0</a:t>
            </a:r>
            <a:endParaRPr lang="en-US" sz="1150" dirty="0"/>
          </a:p>
          <a:p>
            <a:pPr marL="0" indent="0">
              <a:buNone/>
            </a:pPr>
            <a:r>
              <a:rPr lang="en-US" sz="1150" dirty="0">
                <a:solidFill>
                  <a:srgbClr val="4A4A4A"/>
                </a:solidFill>
                <a:latin typeface="Inter Tight" pitchFamily="34" charset="0"/>
                <a:ea typeface="Inter Tight" pitchFamily="34" charset="-122"/>
                <a:cs typeface="Inter Tight" pitchFamily="34" charset="-120"/>
              </a:rPr>
              <a:t>Releases · Issues · Discussions</a:t>
            </a:r>
            <a:endParaRPr lang="en-US" sz="1150" dirty="0"/>
          </a:p>
        </p:txBody>
      </p:sp>
      <p:sp>
        <p:nvSpPr>
          <p:cNvPr id="26" name="Shape 24"/>
          <p:cNvSpPr/>
          <p:nvPr/>
        </p:nvSpPr>
        <p:spPr>
          <a:xfrm>
            <a:off x="457200" y="4023360"/>
            <a:ext cx="2743200" cy="502920"/>
          </a:xfrm>
          <a:prstGeom prst="rect">
            <a:avLst/>
          </a:prstGeom>
          <a:solidFill>
            <a:srgbClr val="151515"/>
          </a:solidFill>
          <a:ln w="12700">
            <a:solidFill>
              <a:srgbClr val="151515"/>
            </a:solidFill>
            <a:prstDash val="solid"/>
          </a:ln>
        </p:spPr>
        <p:txBody>
          <a:bodyPr/>
          <a:lstStyle/>
          <a:p>
            <a:endParaRPr lang="en-US"/>
          </a:p>
        </p:txBody>
      </p:sp>
      <p:sp>
        <p:nvSpPr>
          <p:cNvPr id="27" name="Text 25"/>
          <p:cNvSpPr/>
          <p:nvPr/>
        </p:nvSpPr>
        <p:spPr>
          <a:xfrm>
            <a:off x="621792" y="4023360"/>
            <a:ext cx="2468880" cy="502920"/>
          </a:xfrm>
          <a:prstGeom prst="rect">
            <a:avLst/>
          </a:prstGeom>
          <a:noFill/>
          <a:ln/>
        </p:spPr>
        <p:txBody>
          <a:bodyPr wrap="square" lIns="0" tIns="0" rIns="0" bIns="0" rtlCol="0" anchor="ctr"/>
          <a:lstStyle/>
          <a:p>
            <a:pPr marL="0" indent="0">
              <a:buNone/>
            </a:pPr>
            <a:r>
              <a:rPr lang="en-US" sz="1100" dirty="0">
                <a:solidFill>
                  <a:srgbClr val="FF8A8A"/>
                </a:solidFill>
                <a:latin typeface="Consolas" pitchFamily="34" charset="0"/>
                <a:ea typeface="Consolas" pitchFamily="34" charset="-122"/>
                <a:cs typeface="Consolas" pitchFamily="34" charset="-120"/>
              </a:rPr>
              <a:t>https://utlx.dev</a:t>
            </a:r>
            <a:endParaRPr lang="en-US" sz="1100" dirty="0"/>
          </a:p>
        </p:txBody>
      </p:sp>
      <p:sp>
        <p:nvSpPr>
          <p:cNvPr id="28" name="Shape 26"/>
          <p:cNvSpPr/>
          <p:nvPr/>
        </p:nvSpPr>
        <p:spPr>
          <a:xfrm>
            <a:off x="3200400" y="4023360"/>
            <a:ext cx="2743200" cy="502920"/>
          </a:xfrm>
          <a:prstGeom prst="rect">
            <a:avLst/>
          </a:prstGeom>
          <a:solidFill>
            <a:srgbClr val="151515"/>
          </a:solidFill>
          <a:ln w="12700">
            <a:solidFill>
              <a:srgbClr val="151515"/>
            </a:solidFill>
            <a:prstDash val="solid"/>
          </a:ln>
        </p:spPr>
        <p:txBody>
          <a:bodyPr/>
          <a:lstStyle/>
          <a:p>
            <a:endParaRPr lang="en-US"/>
          </a:p>
        </p:txBody>
      </p:sp>
      <p:sp>
        <p:nvSpPr>
          <p:cNvPr id="29" name="Text 27"/>
          <p:cNvSpPr/>
          <p:nvPr/>
        </p:nvSpPr>
        <p:spPr>
          <a:xfrm>
            <a:off x="3364992" y="4023360"/>
            <a:ext cx="2468880" cy="502920"/>
          </a:xfrm>
          <a:prstGeom prst="rect">
            <a:avLst/>
          </a:prstGeom>
          <a:noFill/>
          <a:ln/>
        </p:spPr>
        <p:txBody>
          <a:bodyPr wrap="square" lIns="0" tIns="0" rIns="0" bIns="0" rtlCol="0" anchor="ctr"/>
          <a:lstStyle/>
          <a:p>
            <a:pPr marL="0" indent="0">
              <a:buNone/>
            </a:pPr>
            <a:r>
              <a:rPr lang="en-US" sz="1100" dirty="0">
                <a:solidFill>
                  <a:srgbClr val="FF8A8A"/>
                </a:solidFill>
                <a:latin typeface="Consolas" pitchFamily="34" charset="0"/>
                <a:ea typeface="Consolas" pitchFamily="34" charset="-122"/>
                <a:cs typeface="Consolas" pitchFamily="34" charset="-120"/>
              </a:rPr>
              <a:t>https://utlx-lang.org</a:t>
            </a:r>
            <a:endParaRPr lang="en-US" sz="1100" dirty="0"/>
          </a:p>
        </p:txBody>
      </p:sp>
      <p:sp>
        <p:nvSpPr>
          <p:cNvPr id="30" name="Shape 28"/>
          <p:cNvSpPr/>
          <p:nvPr/>
        </p:nvSpPr>
        <p:spPr>
          <a:xfrm>
            <a:off x="5943600" y="4023360"/>
            <a:ext cx="2743200" cy="502920"/>
          </a:xfrm>
          <a:prstGeom prst="rect">
            <a:avLst/>
          </a:prstGeom>
          <a:solidFill>
            <a:srgbClr val="151515"/>
          </a:solidFill>
          <a:ln w="12700">
            <a:solidFill>
              <a:srgbClr val="151515"/>
            </a:solidFill>
            <a:prstDash val="solid"/>
          </a:ln>
        </p:spPr>
        <p:txBody>
          <a:bodyPr/>
          <a:lstStyle/>
          <a:p>
            <a:endParaRPr lang="en-US"/>
          </a:p>
        </p:txBody>
      </p:sp>
      <p:sp>
        <p:nvSpPr>
          <p:cNvPr id="31" name="Text 29"/>
          <p:cNvSpPr/>
          <p:nvPr/>
        </p:nvSpPr>
        <p:spPr>
          <a:xfrm>
            <a:off x="6108192" y="4023360"/>
            <a:ext cx="2468880" cy="502920"/>
          </a:xfrm>
          <a:prstGeom prst="rect">
            <a:avLst/>
          </a:prstGeom>
          <a:noFill/>
          <a:ln/>
        </p:spPr>
        <p:txBody>
          <a:bodyPr wrap="square" lIns="0" tIns="0" rIns="0" bIns="0" rtlCol="0" anchor="ctr"/>
          <a:lstStyle/>
          <a:p>
            <a:pPr marL="0" indent="0">
              <a:buNone/>
            </a:pPr>
            <a:r>
              <a:rPr lang="en-US" sz="950" dirty="0">
                <a:solidFill>
                  <a:srgbClr val="FF8A8A"/>
                </a:solidFill>
                <a:latin typeface="Consolas" pitchFamily="34" charset="0"/>
                <a:ea typeface="Consolas" pitchFamily="34" charset="-122"/>
                <a:cs typeface="Consolas" pitchFamily="34" charset="-120"/>
              </a:rPr>
              <a:t>https://github.com/grauwen/utl-x</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B0017"/>
          </a:solidFill>
          <a:ln w="12700">
            <a:solidFill>
              <a:srgbClr val="CB0017"/>
            </a:solidFill>
            <a:prstDash val="solid"/>
          </a:ln>
        </p:spPr>
        <p:txBody>
          <a:bodyPr/>
          <a:lstStyle/>
          <a:p>
            <a:endParaRPr lang="en-US"/>
          </a:p>
        </p:txBody>
      </p:sp>
      <p:sp>
        <p:nvSpPr>
          <p:cNvPr id="3" name="Text 1"/>
          <p:cNvSpPr/>
          <p:nvPr/>
        </p:nvSpPr>
        <p:spPr>
          <a:xfrm>
            <a:off x="457200" y="384048"/>
            <a:ext cx="4937760" cy="274320"/>
          </a:xfrm>
          <a:prstGeom prst="rect">
            <a:avLst/>
          </a:prstGeom>
          <a:noFill/>
          <a:ln/>
        </p:spPr>
        <p:txBody>
          <a:bodyPr wrap="square" lIns="0" tIns="0" rIns="0" bIns="0" rtlCol="0" anchor="ctr"/>
          <a:lstStyle/>
          <a:p>
            <a:pPr marL="0" indent="0">
              <a:buNone/>
            </a:pPr>
            <a:r>
              <a:rPr lang="en-US" sz="1300" b="1" kern="0" spc="300" dirty="0">
                <a:solidFill>
                  <a:srgbClr val="CB0017"/>
                </a:solidFill>
                <a:latin typeface="Oswald" pitchFamily="34" charset="0"/>
                <a:ea typeface="Oswald" pitchFamily="34" charset="-122"/>
                <a:cs typeface="Oswald" pitchFamily="34" charset="-120"/>
              </a:rPr>
              <a:t>BEFORE YOU GO —</a:t>
            </a:r>
            <a:endParaRPr lang="en-US" sz="1300" dirty="0"/>
          </a:p>
        </p:txBody>
      </p:sp>
      <p:sp>
        <p:nvSpPr>
          <p:cNvPr id="4" name="Text 2"/>
          <p:cNvSpPr/>
          <p:nvPr/>
        </p:nvSpPr>
        <p:spPr>
          <a:xfrm>
            <a:off x="457200" y="786384"/>
            <a:ext cx="3969143" cy="1417320"/>
          </a:xfrm>
          <a:prstGeom prst="rect">
            <a:avLst/>
          </a:prstGeom>
          <a:noFill/>
          <a:ln/>
        </p:spPr>
        <p:txBody>
          <a:bodyPr wrap="square" lIns="0" tIns="0" rIns="0" bIns="0" rtlCol="0" anchor="ctr"/>
          <a:lstStyle/>
          <a:p>
            <a:pPr marL="0" indent="0">
              <a:lnSpc>
                <a:spcPct val="100000"/>
              </a:lnSpc>
              <a:buNone/>
            </a:pPr>
            <a:r>
              <a:rPr lang="en-US" sz="3100" b="1" kern="0" spc="-30" dirty="0">
                <a:solidFill>
                  <a:srgbClr val="111111"/>
                </a:solidFill>
                <a:latin typeface="Oswald" pitchFamily="34" charset="0"/>
                <a:ea typeface="Oswald" pitchFamily="34" charset="-122"/>
                <a:cs typeface="Oswald" pitchFamily="34" charset="-120"/>
              </a:rPr>
              <a:t>Give UTL-X a star.</a:t>
            </a:r>
            <a:endParaRPr lang="en-US" sz="3100" dirty="0"/>
          </a:p>
          <a:p>
            <a:pPr marL="0" indent="0">
              <a:lnSpc>
                <a:spcPct val="100000"/>
              </a:lnSpc>
              <a:buNone/>
            </a:pPr>
            <a:r>
              <a:rPr lang="en-US" sz="3100" b="1" kern="0" spc="-30" dirty="0">
                <a:solidFill>
                  <a:srgbClr val="111111"/>
                </a:solidFill>
                <a:latin typeface="Oswald" pitchFamily="34" charset="0"/>
                <a:ea typeface="Oswald" pitchFamily="34" charset="-122"/>
                <a:cs typeface="Oswald" pitchFamily="34" charset="-120"/>
              </a:rPr>
              <a:t>Make a maintainer's whole week.</a:t>
            </a:r>
            <a:endParaRPr lang="en-US" sz="3100" dirty="0"/>
          </a:p>
        </p:txBody>
      </p:sp>
      <p:sp>
        <p:nvSpPr>
          <p:cNvPr id="5" name="Text 3"/>
          <p:cNvSpPr/>
          <p:nvPr/>
        </p:nvSpPr>
        <p:spPr>
          <a:xfrm>
            <a:off x="457200" y="2304288"/>
            <a:ext cx="4187628" cy="868680"/>
          </a:xfrm>
          <a:prstGeom prst="rect">
            <a:avLst/>
          </a:prstGeom>
          <a:noFill/>
          <a:ln/>
        </p:spPr>
        <p:txBody>
          <a:bodyPr wrap="square" lIns="0" tIns="0" rIns="0" bIns="0" rtlCol="0" anchor="ctr"/>
          <a:lstStyle/>
          <a:p>
            <a:pPr marL="0" indent="0">
              <a:lnSpc>
                <a:spcPct val="105000"/>
              </a:lnSpc>
              <a:buNone/>
            </a:pPr>
            <a:r>
              <a:rPr lang="en-US" sz="1450" dirty="0">
                <a:solidFill>
                  <a:srgbClr val="4A4A4A"/>
                </a:solidFill>
                <a:latin typeface="Inter Tight" pitchFamily="34" charset="0"/>
                <a:ea typeface="Inter Tight" pitchFamily="34" charset="-122"/>
                <a:cs typeface="Inter Tight" pitchFamily="34" charset="-120"/>
              </a:rPr>
              <a:t>It's open source and powered almost entirely by caffeine and GitHub stars. </a:t>
            </a:r>
          </a:p>
          <a:p>
            <a:pPr marL="0" indent="0">
              <a:lnSpc>
                <a:spcPct val="105000"/>
              </a:lnSpc>
              <a:buNone/>
            </a:pPr>
            <a:r>
              <a:rPr lang="en-US" sz="1450" b="1" dirty="0">
                <a:solidFill>
                  <a:srgbClr val="CB0017"/>
                </a:solidFill>
                <a:latin typeface="Inter Tight" pitchFamily="34" charset="0"/>
                <a:ea typeface="Inter Tight" pitchFamily="34" charset="-122"/>
                <a:cs typeface="Inter Tight" pitchFamily="34" charset="-120"/>
              </a:rPr>
              <a:t>★</a:t>
            </a:r>
            <a:r>
              <a:rPr lang="en-US" sz="1450" dirty="0">
                <a:solidFill>
                  <a:srgbClr val="4A4A4A"/>
                </a:solidFill>
                <a:latin typeface="Inter Tight" pitchFamily="34" charset="0"/>
                <a:ea typeface="Inter Tight" pitchFamily="34" charset="-122"/>
                <a:cs typeface="Inter Tight" pitchFamily="34" charset="-120"/>
              </a:rPr>
              <a:t>  Yours would genuinely make my day.</a:t>
            </a:r>
            <a:endParaRPr lang="en-US" sz="1450" dirty="0"/>
          </a:p>
        </p:txBody>
      </p:sp>
      <p:sp>
        <p:nvSpPr>
          <p:cNvPr id="6" name="Shape 4"/>
          <p:cNvSpPr/>
          <p:nvPr/>
        </p:nvSpPr>
        <p:spPr>
          <a:xfrm>
            <a:off x="457200" y="3328416"/>
            <a:ext cx="3734474" cy="566928"/>
          </a:xfrm>
          <a:prstGeom prst="rect">
            <a:avLst/>
          </a:prstGeom>
          <a:solidFill>
            <a:srgbClr val="151515"/>
          </a:solidFill>
          <a:ln w="12700">
            <a:solidFill>
              <a:srgbClr val="151515"/>
            </a:solidFill>
            <a:prstDash val="solid"/>
          </a:ln>
          <a:effectLst>
            <a:outerShdw blurRad="88900" dist="38100" dir="8100000" algn="bl" rotWithShape="0">
              <a:srgbClr val="000000">
                <a:alpha val="10000"/>
              </a:srgbClr>
            </a:outerShdw>
          </a:effectLst>
        </p:spPr>
        <p:txBody>
          <a:bodyPr/>
          <a:lstStyle/>
          <a:p>
            <a:endParaRPr lang="en-US"/>
          </a:p>
        </p:txBody>
      </p:sp>
      <p:sp>
        <p:nvSpPr>
          <p:cNvPr id="7" name="Text 5"/>
          <p:cNvSpPr/>
          <p:nvPr/>
        </p:nvSpPr>
        <p:spPr>
          <a:xfrm>
            <a:off x="457200" y="3328416"/>
            <a:ext cx="3734474" cy="566928"/>
          </a:xfrm>
          <a:prstGeom prst="rect">
            <a:avLst/>
          </a:prstGeom>
          <a:noFill/>
          <a:ln/>
        </p:spPr>
        <p:txBody>
          <a:bodyPr wrap="square" lIns="0" tIns="0" rIns="0" bIns="0" rtlCol="0" anchor="ctr"/>
          <a:lstStyle/>
          <a:p>
            <a:pPr marL="0" indent="0" algn="ctr">
              <a:buNone/>
            </a:pPr>
            <a:r>
              <a:rPr lang="en-US" sz="1900" b="1" kern="0" spc="100" dirty="0">
                <a:solidFill>
                  <a:srgbClr val="FFFFFF"/>
                </a:solidFill>
                <a:latin typeface="Oswald" pitchFamily="34" charset="0"/>
                <a:ea typeface="Oswald" pitchFamily="34" charset="-122"/>
                <a:cs typeface="Oswald" pitchFamily="34" charset="-120"/>
              </a:rPr>
              <a:t>Scan</a:t>
            </a:r>
            <a:r>
              <a:rPr lang="en-US" sz="1900" b="1" kern="0" spc="100" dirty="0">
                <a:solidFill>
                  <a:srgbClr val="CB0017"/>
                </a:solidFill>
                <a:latin typeface="Oswald" pitchFamily="34" charset="0"/>
                <a:ea typeface="Oswald" pitchFamily="34" charset="-122"/>
                <a:cs typeface="Oswald" pitchFamily="34" charset="-120"/>
              </a:rPr>
              <a:t>   ·   </a:t>
            </a:r>
            <a:r>
              <a:rPr lang="en-US" sz="1900" b="1" kern="0" spc="100" dirty="0">
                <a:solidFill>
                  <a:srgbClr val="FFFFFF"/>
                </a:solidFill>
                <a:latin typeface="Oswald" pitchFamily="34" charset="0"/>
                <a:ea typeface="Oswald" pitchFamily="34" charset="-122"/>
                <a:cs typeface="Oswald" pitchFamily="34" charset="-120"/>
              </a:rPr>
              <a:t>Sign in</a:t>
            </a:r>
            <a:r>
              <a:rPr lang="en-US" sz="1900" b="1" kern="0" spc="100" dirty="0">
                <a:solidFill>
                  <a:srgbClr val="CB0017"/>
                </a:solidFill>
                <a:latin typeface="Oswald" pitchFamily="34" charset="0"/>
                <a:ea typeface="Oswald" pitchFamily="34" charset="-122"/>
                <a:cs typeface="Oswald" pitchFamily="34" charset="-120"/>
              </a:rPr>
              <a:t>   ·   </a:t>
            </a:r>
            <a:r>
              <a:rPr lang="en-US" sz="1900" b="1" kern="0" spc="100" dirty="0">
                <a:solidFill>
                  <a:srgbClr val="FFFFFF"/>
                </a:solidFill>
                <a:latin typeface="Oswald" pitchFamily="34" charset="0"/>
                <a:ea typeface="Oswald" pitchFamily="34" charset="-122"/>
                <a:cs typeface="Oswald" pitchFamily="34" charset="-120"/>
              </a:rPr>
              <a:t>Tap </a:t>
            </a:r>
            <a:r>
              <a:rPr lang="en-US" sz="1900" b="1" kern="0" spc="100" dirty="0">
                <a:solidFill>
                  <a:srgbClr val="CB0017"/>
                </a:solidFill>
                <a:latin typeface="Oswald" pitchFamily="34" charset="0"/>
                <a:ea typeface="Oswald" pitchFamily="34" charset="-122"/>
                <a:cs typeface="Oswald" pitchFamily="34" charset="-120"/>
              </a:rPr>
              <a:t>★</a:t>
            </a:r>
            <a:endParaRPr lang="en-US" sz="1900" dirty="0"/>
          </a:p>
        </p:txBody>
      </p:sp>
      <p:sp>
        <p:nvSpPr>
          <p:cNvPr id="8" name="Text 6"/>
          <p:cNvSpPr/>
          <p:nvPr/>
        </p:nvSpPr>
        <p:spPr>
          <a:xfrm>
            <a:off x="457200" y="4078224"/>
            <a:ext cx="3734474" cy="502920"/>
          </a:xfrm>
          <a:prstGeom prst="rect">
            <a:avLst/>
          </a:prstGeom>
          <a:noFill/>
          <a:ln/>
        </p:spPr>
        <p:txBody>
          <a:bodyPr wrap="square" lIns="0" tIns="0" rIns="0" bIns="0" rtlCol="0" anchor="ctr"/>
          <a:lstStyle/>
          <a:p>
            <a:pPr marL="0" indent="0">
              <a:buNone/>
            </a:pPr>
            <a:r>
              <a:rPr lang="en-US" sz="1150" i="1" dirty="0">
                <a:solidFill>
                  <a:srgbClr val="9AA0A6"/>
                </a:solidFill>
                <a:latin typeface="Inter Tight" pitchFamily="34" charset="0"/>
                <a:ea typeface="Inter Tight" pitchFamily="34" charset="-122"/>
                <a:cs typeface="Inter Tight" pitchFamily="34" charset="-120"/>
              </a:rPr>
              <a:t>On your phone and not logged in? Bookmark it now — star me from your laptop later. It still counts.</a:t>
            </a:r>
            <a:endParaRPr lang="en-US" sz="1150" dirty="0"/>
          </a:p>
        </p:txBody>
      </p:sp>
      <p:sp>
        <p:nvSpPr>
          <p:cNvPr id="9" name="Text 7"/>
          <p:cNvSpPr/>
          <p:nvPr/>
        </p:nvSpPr>
        <p:spPr>
          <a:xfrm>
            <a:off x="457200" y="4736592"/>
            <a:ext cx="4572000" cy="274320"/>
          </a:xfrm>
          <a:prstGeom prst="rect">
            <a:avLst/>
          </a:prstGeom>
          <a:noFill/>
          <a:ln/>
        </p:spPr>
        <p:txBody>
          <a:bodyPr wrap="square" lIns="0" tIns="0" rIns="0" bIns="0" rtlCol="0" anchor="ctr"/>
          <a:lstStyle/>
          <a:p>
            <a:pPr marL="0" indent="0">
              <a:buNone/>
            </a:pPr>
            <a:r>
              <a:rPr lang="en-US" sz="1300" b="1" dirty="0">
                <a:solidFill>
                  <a:srgbClr val="111111"/>
                </a:solidFill>
                <a:latin typeface="Oswald" pitchFamily="34" charset="0"/>
                <a:ea typeface="Oswald" pitchFamily="34" charset="-122"/>
                <a:cs typeface="Oswald" pitchFamily="34" charset="-120"/>
              </a:rPr>
              <a:t>UTL</a:t>
            </a:r>
            <a:r>
              <a:rPr lang="en-US" sz="1300" b="1" dirty="0">
                <a:solidFill>
                  <a:srgbClr val="CB0017"/>
                </a:solidFill>
                <a:latin typeface="Oswald" pitchFamily="34" charset="0"/>
                <a:ea typeface="Oswald" pitchFamily="34" charset="-122"/>
                <a:cs typeface="Oswald" pitchFamily="34" charset="-120"/>
              </a:rPr>
              <a:t>·X</a:t>
            </a:r>
            <a:r>
              <a:rPr lang="en-US" sz="1100" i="1" dirty="0">
                <a:solidFill>
                  <a:srgbClr val="9AA0A6"/>
                </a:solidFill>
                <a:latin typeface="Inter Tight" pitchFamily="34" charset="0"/>
                <a:ea typeface="Inter Tight" pitchFamily="34" charset="-122"/>
                <a:cs typeface="Inter Tight" pitchFamily="34" charset="-120"/>
              </a:rPr>
              <a:t>    Dank je wel!</a:t>
            </a:r>
            <a:endParaRPr lang="en-US" sz="1300" dirty="0"/>
          </a:p>
        </p:txBody>
      </p:sp>
      <p:sp>
        <p:nvSpPr>
          <p:cNvPr id="10" name="Shape 8"/>
          <p:cNvSpPr/>
          <p:nvPr/>
        </p:nvSpPr>
        <p:spPr>
          <a:xfrm>
            <a:off x="4322361" y="516596"/>
            <a:ext cx="2532564" cy="4069080"/>
          </a:xfrm>
          <a:prstGeom prst="rect">
            <a:avLst/>
          </a:prstGeom>
          <a:solidFill>
            <a:srgbClr val="FAF8F6"/>
          </a:solidFill>
          <a:ln w="12700">
            <a:solidFill>
              <a:srgbClr val="E6E6E6"/>
            </a:solidFill>
            <a:prstDash val="solid"/>
          </a:ln>
          <a:effectLst>
            <a:outerShdw blurRad="88900" dist="38100" dir="8100000" algn="bl" rotWithShape="0">
              <a:srgbClr val="000000">
                <a:alpha val="10000"/>
              </a:srgbClr>
            </a:outerShdw>
          </a:effectLst>
        </p:spPr>
        <p:txBody>
          <a:bodyPr/>
          <a:lstStyle/>
          <a:p>
            <a:endParaRPr lang="en-US"/>
          </a:p>
        </p:txBody>
      </p:sp>
      <p:sp>
        <p:nvSpPr>
          <p:cNvPr id="11" name="Shape 9"/>
          <p:cNvSpPr/>
          <p:nvPr/>
        </p:nvSpPr>
        <p:spPr>
          <a:xfrm>
            <a:off x="4293958" y="510770"/>
            <a:ext cx="2560967" cy="45720"/>
          </a:xfrm>
          <a:prstGeom prst="rect">
            <a:avLst/>
          </a:prstGeom>
          <a:solidFill>
            <a:srgbClr val="CB0017"/>
          </a:solidFill>
          <a:ln w="12700">
            <a:solidFill>
              <a:srgbClr val="CB0017"/>
            </a:solidFill>
            <a:prstDash val="solid"/>
          </a:ln>
        </p:spPr>
        <p:txBody>
          <a:bodyPr/>
          <a:lstStyle/>
          <a:p>
            <a:endParaRPr lang="en-US"/>
          </a:p>
        </p:txBody>
      </p:sp>
      <p:sp>
        <p:nvSpPr>
          <p:cNvPr id="12" name="Text 10"/>
          <p:cNvSpPr/>
          <p:nvPr/>
        </p:nvSpPr>
        <p:spPr>
          <a:xfrm>
            <a:off x="4322360" y="717764"/>
            <a:ext cx="2459736" cy="365760"/>
          </a:xfrm>
          <a:prstGeom prst="rect">
            <a:avLst/>
          </a:prstGeom>
          <a:noFill/>
          <a:ln/>
        </p:spPr>
        <p:txBody>
          <a:bodyPr wrap="square" lIns="0" tIns="0" rIns="0" bIns="0" rtlCol="0" anchor="ctr"/>
          <a:lstStyle/>
          <a:p>
            <a:pPr marL="0" indent="0" algn="ctr">
              <a:buNone/>
            </a:pPr>
            <a:r>
              <a:rPr lang="en-US" sz="1600" b="1" kern="0" spc="200" dirty="0">
                <a:solidFill>
                  <a:srgbClr val="CB0017"/>
                </a:solidFill>
                <a:latin typeface="Oswald" pitchFamily="34" charset="0"/>
                <a:ea typeface="Oswald" pitchFamily="34" charset="-122"/>
                <a:cs typeface="Oswald" pitchFamily="34" charset="-120"/>
              </a:rPr>
              <a:t>STAR UTL-X  ★</a:t>
            </a:r>
            <a:endParaRPr lang="en-US" sz="1600" dirty="0"/>
          </a:p>
        </p:txBody>
      </p:sp>
      <p:sp>
        <p:nvSpPr>
          <p:cNvPr id="13" name="Shape 11"/>
          <p:cNvSpPr/>
          <p:nvPr/>
        </p:nvSpPr>
        <p:spPr>
          <a:xfrm>
            <a:off x="4423591" y="1129244"/>
            <a:ext cx="2157660" cy="2459736"/>
          </a:xfrm>
          <a:prstGeom prst="rect">
            <a:avLst/>
          </a:prstGeom>
          <a:solidFill>
            <a:srgbClr val="FFFFFF"/>
          </a:solidFill>
          <a:ln w="12700">
            <a:solidFill>
              <a:srgbClr val="E6E6E6"/>
            </a:solidFill>
            <a:prstDash val="solid"/>
          </a:ln>
        </p:spPr>
        <p:txBody>
          <a:bodyPr/>
          <a:lstStyle/>
          <a:p>
            <a:endParaRPr lang="en-US"/>
          </a:p>
        </p:txBody>
      </p:sp>
      <p:pic>
        <p:nvPicPr>
          <p:cNvPr id="14" name="Image 0" descr="gh-qr.png"/>
          <p:cNvPicPr>
            <a:picLocks noChangeAspect="1"/>
          </p:cNvPicPr>
          <p:nvPr/>
        </p:nvPicPr>
        <p:blipFill>
          <a:blip r:embed="rId3"/>
          <a:stretch>
            <a:fillRect/>
          </a:stretch>
        </p:blipFill>
        <p:spPr>
          <a:xfrm>
            <a:off x="4418007" y="1138388"/>
            <a:ext cx="2331720" cy="2331720"/>
          </a:xfrm>
          <a:prstGeom prst="rect">
            <a:avLst/>
          </a:prstGeom>
        </p:spPr>
      </p:pic>
      <p:sp>
        <p:nvSpPr>
          <p:cNvPr id="15" name="Shape 12"/>
          <p:cNvSpPr/>
          <p:nvPr/>
        </p:nvSpPr>
        <p:spPr>
          <a:xfrm>
            <a:off x="4322360" y="4018748"/>
            <a:ext cx="2532565" cy="566928"/>
          </a:xfrm>
          <a:prstGeom prst="rect">
            <a:avLst/>
          </a:prstGeom>
          <a:solidFill>
            <a:srgbClr val="151515"/>
          </a:solidFill>
          <a:ln w="12700">
            <a:solidFill>
              <a:srgbClr val="151515"/>
            </a:solidFill>
            <a:prstDash val="solid"/>
          </a:ln>
        </p:spPr>
        <p:txBody>
          <a:bodyPr/>
          <a:lstStyle/>
          <a:p>
            <a:endParaRPr lang="en-US"/>
          </a:p>
        </p:txBody>
      </p:sp>
      <p:sp>
        <p:nvSpPr>
          <p:cNvPr id="16" name="Text 13"/>
          <p:cNvSpPr/>
          <p:nvPr/>
        </p:nvSpPr>
        <p:spPr>
          <a:xfrm>
            <a:off x="4322360" y="4018748"/>
            <a:ext cx="2560967" cy="566928"/>
          </a:xfrm>
          <a:prstGeom prst="rect">
            <a:avLst/>
          </a:prstGeom>
          <a:noFill/>
          <a:ln/>
        </p:spPr>
        <p:txBody>
          <a:bodyPr wrap="square" lIns="0" tIns="0" rIns="0" bIns="0" rtlCol="0" anchor="ctr"/>
          <a:lstStyle/>
          <a:p>
            <a:pPr marL="0" indent="0" algn="ctr">
              <a:buNone/>
            </a:pPr>
            <a:r>
              <a:rPr lang="en-US" sz="1250" dirty="0">
                <a:solidFill>
                  <a:srgbClr val="FF8A8A"/>
                </a:solidFill>
                <a:latin typeface="Consolas" pitchFamily="34" charset="0"/>
                <a:ea typeface="Consolas" pitchFamily="34" charset="-122"/>
                <a:cs typeface="Consolas" pitchFamily="34" charset="-120"/>
              </a:rPr>
              <a:t>github.com/grauwen/utl-x</a:t>
            </a:r>
            <a:endParaRPr lang="en-US" sz="1250" dirty="0"/>
          </a:p>
        </p:txBody>
      </p:sp>
      <p:sp>
        <p:nvSpPr>
          <p:cNvPr id="17" name="Text 14"/>
          <p:cNvSpPr/>
          <p:nvPr/>
        </p:nvSpPr>
        <p:spPr>
          <a:xfrm>
            <a:off x="5349240" y="4791456"/>
            <a:ext cx="2468880" cy="228600"/>
          </a:xfrm>
          <a:prstGeom prst="rect">
            <a:avLst/>
          </a:prstGeom>
          <a:noFill/>
          <a:ln/>
        </p:spPr>
        <p:txBody>
          <a:bodyPr wrap="square" lIns="0" tIns="0" rIns="0" bIns="0" rtlCol="0" anchor="ctr"/>
          <a:lstStyle/>
          <a:p>
            <a:pPr marL="0" indent="0" algn="r">
              <a:buNone/>
            </a:pPr>
            <a:r>
              <a:rPr lang="en-US" sz="850" dirty="0">
                <a:solidFill>
                  <a:srgbClr val="9AA0A6"/>
                </a:solidFill>
                <a:latin typeface="Inter Tight" pitchFamily="34" charset="0"/>
                <a:ea typeface="Inter Tight" pitchFamily="34" charset="-122"/>
                <a:cs typeface="Inter Tight" pitchFamily="34" charset="-120"/>
              </a:rPr>
              <a:t>© 2026 Glomidco B.V.</a:t>
            </a:r>
            <a:endParaRPr lang="en-US" sz="850" dirty="0"/>
          </a:p>
        </p:txBody>
      </p:sp>
      <p:pic>
        <p:nvPicPr>
          <p:cNvPr id="18" name="Picture 17">
            <a:extLst>
              <a:ext uri="{FF2B5EF4-FFF2-40B4-BE49-F238E27FC236}">
                <a16:creationId xmlns:a16="http://schemas.microsoft.com/office/drawing/2014/main" id="{D4F2A43C-8D25-CA60-0861-8E58761A84B5}"/>
              </a:ext>
            </a:extLst>
          </p:cNvPr>
          <p:cNvPicPr>
            <a:picLocks noChangeAspect="1"/>
          </p:cNvPicPr>
          <p:nvPr/>
        </p:nvPicPr>
        <p:blipFill>
          <a:blip r:embed="rId4"/>
          <a:stretch>
            <a:fillRect/>
          </a:stretch>
        </p:blipFill>
        <p:spPr>
          <a:xfrm>
            <a:off x="7014014" y="504135"/>
            <a:ext cx="1948563" cy="4177776"/>
          </a:xfrm>
          <a:prstGeom prst="rect">
            <a:avLst/>
          </a:prstGeom>
        </p:spPr>
      </p:pic>
      <p:sp>
        <p:nvSpPr>
          <p:cNvPr id="19" name="Rectangle 18">
            <a:extLst>
              <a:ext uri="{FF2B5EF4-FFF2-40B4-BE49-F238E27FC236}">
                <a16:creationId xmlns:a16="http://schemas.microsoft.com/office/drawing/2014/main" id="{FEBDE5F2-8AE3-FCD9-FB6E-5FC3514FF7B2}"/>
              </a:ext>
            </a:extLst>
          </p:cNvPr>
          <p:cNvSpPr/>
          <p:nvPr/>
        </p:nvSpPr>
        <p:spPr>
          <a:xfrm>
            <a:off x="7082676" y="2203704"/>
            <a:ext cx="332014" cy="326472"/>
          </a:xfrm>
          <a:prstGeom prst="rect">
            <a:avLst/>
          </a:prstGeom>
          <a:noFill/>
          <a:ln w="63500">
            <a:solidFill>
              <a:srgbClr val="CB01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0017"/>
          </a:solidFill>
          <a:ln w="12700">
            <a:solidFill>
              <a:srgbClr val="CB0017"/>
            </a:solidFill>
            <a:prstDash val="solid"/>
          </a:ln>
        </p:spPr>
        <p:txBody>
          <a:bodyPr/>
          <a:lstStyle/>
          <a:p>
            <a:endParaRPr lang="en-US"/>
          </a:p>
        </p:txBody>
      </p:sp>
      <p:pic>
        <p:nvPicPr>
          <p:cNvPr id="3" name="Image 0" descr="assets/logo-full.png"/>
          <p:cNvPicPr>
            <a:picLocks noChangeAspect="1"/>
          </p:cNvPicPr>
          <p:nvPr/>
        </p:nvPicPr>
        <p:blipFill>
          <a:blip r:embed="rId3"/>
          <a:stretch>
            <a:fillRect/>
          </a:stretch>
        </p:blipFill>
        <p:spPr>
          <a:xfrm>
            <a:off x="548640" y="1234440"/>
            <a:ext cx="4572000" cy="1194955"/>
          </a:xfrm>
          <a:prstGeom prst="rect">
            <a:avLst/>
          </a:prstGeom>
        </p:spPr>
      </p:pic>
      <p:sp>
        <p:nvSpPr>
          <p:cNvPr id="4" name="Shape 1"/>
          <p:cNvSpPr/>
          <p:nvPr/>
        </p:nvSpPr>
        <p:spPr>
          <a:xfrm>
            <a:off x="603504" y="2606040"/>
            <a:ext cx="3931920" cy="45720"/>
          </a:xfrm>
          <a:prstGeom prst="rect">
            <a:avLst/>
          </a:prstGeom>
          <a:solidFill>
            <a:srgbClr val="CB0017"/>
          </a:solidFill>
          <a:ln w="12700">
            <a:solidFill>
              <a:srgbClr val="CB0017"/>
            </a:solidFill>
            <a:prstDash val="solid"/>
          </a:ln>
        </p:spPr>
        <p:txBody>
          <a:bodyPr/>
          <a:lstStyle/>
          <a:p>
            <a:endParaRPr lang="en-US"/>
          </a:p>
        </p:txBody>
      </p:sp>
      <p:sp>
        <p:nvSpPr>
          <p:cNvPr id="5" name="Text 2"/>
          <p:cNvSpPr/>
          <p:nvPr/>
        </p:nvSpPr>
        <p:spPr>
          <a:xfrm>
            <a:off x="585216" y="2743200"/>
            <a:ext cx="8229600" cy="548640"/>
          </a:xfrm>
          <a:prstGeom prst="rect">
            <a:avLst/>
          </a:prstGeom>
          <a:noFill/>
          <a:ln/>
        </p:spPr>
        <p:txBody>
          <a:bodyPr wrap="square" lIns="0" tIns="0" rIns="0" bIns="0" rtlCol="0" anchor="ctr"/>
          <a:lstStyle/>
          <a:p>
            <a:pPr marL="0" indent="0">
              <a:buNone/>
            </a:pPr>
            <a:r>
              <a:rPr lang="en-US" sz="3000" b="1" dirty="0">
                <a:solidFill>
                  <a:srgbClr val="111111"/>
                </a:solidFill>
                <a:latin typeface="Oswald" pitchFamily="34" charset="0"/>
                <a:ea typeface="Oswald" pitchFamily="34" charset="-122"/>
                <a:cs typeface="Oswald" pitchFamily="34" charset="-120"/>
              </a:rPr>
              <a:t>One language. All formats.</a:t>
            </a:r>
            <a:endParaRPr lang="en-US" sz="3000" dirty="0"/>
          </a:p>
        </p:txBody>
      </p:sp>
      <p:sp>
        <p:nvSpPr>
          <p:cNvPr id="6" name="Text 3"/>
          <p:cNvSpPr/>
          <p:nvPr/>
        </p:nvSpPr>
        <p:spPr>
          <a:xfrm>
            <a:off x="603504" y="3383280"/>
            <a:ext cx="2803243" cy="365760"/>
          </a:xfrm>
          <a:prstGeom prst="rect">
            <a:avLst/>
          </a:prstGeom>
          <a:noFill/>
          <a:ln/>
        </p:spPr>
        <p:txBody>
          <a:bodyPr wrap="square" lIns="0" tIns="0" rIns="0" bIns="0" rtlCol="0" anchor="ctr"/>
          <a:lstStyle/>
          <a:p>
            <a:pPr marL="0" indent="0">
              <a:buNone/>
            </a:pPr>
            <a:r>
              <a:rPr lang="en-US" sz="1600" i="1" dirty="0">
                <a:solidFill>
                  <a:srgbClr val="4A4A4A"/>
                </a:solidFill>
                <a:latin typeface="Inter Tight" pitchFamily="34" charset="0"/>
                <a:ea typeface="Inter Tight" pitchFamily="34" charset="-122"/>
                <a:cs typeface="Inter Tight" pitchFamily="34" charset="-120"/>
              </a:rPr>
              <a:t>Thank you — questions?</a:t>
            </a:r>
            <a:endParaRPr lang="en-US" sz="1600" dirty="0"/>
          </a:p>
        </p:txBody>
      </p:sp>
      <p:sp>
        <p:nvSpPr>
          <p:cNvPr id="7" name="Text 4"/>
          <p:cNvSpPr/>
          <p:nvPr/>
        </p:nvSpPr>
        <p:spPr>
          <a:xfrm>
            <a:off x="603504" y="4069080"/>
            <a:ext cx="8229600" cy="640080"/>
          </a:xfrm>
          <a:prstGeom prst="rect">
            <a:avLst/>
          </a:prstGeom>
          <a:noFill/>
          <a:ln/>
        </p:spPr>
        <p:txBody>
          <a:bodyPr wrap="square" lIns="0" tIns="0" rIns="0" bIns="0" rtlCol="0" anchor="ctr"/>
          <a:lstStyle/>
          <a:p>
            <a:pPr marL="0" indent="0">
              <a:lnSpc>
                <a:spcPct val="130000"/>
              </a:lnSpc>
              <a:buNone/>
            </a:pPr>
            <a:r>
              <a:rPr lang="en-US" sz="1300" b="1" dirty="0">
                <a:solidFill>
                  <a:srgbClr val="111111"/>
                </a:solidFill>
                <a:latin typeface="Inter Tight" pitchFamily="34" charset="0"/>
                <a:ea typeface="Inter Tight" pitchFamily="34" charset="-122"/>
                <a:cs typeface="Inter Tight" pitchFamily="34" charset="-120"/>
              </a:rPr>
              <a:t>Ir. Marcel A. Grauwen</a:t>
            </a:r>
            <a:endParaRPr lang="en-US" sz="1300" dirty="0"/>
          </a:p>
          <a:p>
            <a:pPr marL="0" indent="0">
              <a:lnSpc>
                <a:spcPct val="130000"/>
              </a:lnSpc>
              <a:buNone/>
            </a:pPr>
            <a:r>
              <a:rPr lang="en-US" sz="1100" dirty="0">
                <a:solidFill>
                  <a:srgbClr val="9AA0A6"/>
                </a:solidFill>
                <a:latin typeface="Inter Tight" pitchFamily="34" charset="0"/>
                <a:ea typeface="Inter Tight" pitchFamily="34" charset="-122"/>
                <a:cs typeface="Inter Tight" pitchFamily="34" charset="-120"/>
              </a:rPr>
              <a:t>github.com/grauwen/utl-x   ·   utlx.dev   ·   utlx-lang.org</a:t>
            </a:r>
            <a:endParaRPr lang="en-US" sz="1300" dirty="0"/>
          </a:p>
        </p:txBody>
      </p:sp>
      <p:sp>
        <p:nvSpPr>
          <p:cNvPr id="8" name="Text 5"/>
          <p:cNvSpPr/>
          <p:nvPr/>
        </p:nvSpPr>
        <p:spPr>
          <a:xfrm>
            <a:off x="6126480" y="457200"/>
            <a:ext cx="2651760" cy="274320"/>
          </a:xfrm>
          <a:prstGeom prst="rect">
            <a:avLst/>
          </a:prstGeom>
          <a:noFill/>
          <a:ln/>
        </p:spPr>
        <p:txBody>
          <a:bodyPr wrap="square" lIns="0" tIns="0" rIns="0" bIns="0" rtlCol="0" anchor="ctr"/>
          <a:lstStyle/>
          <a:p>
            <a:pPr marL="0" indent="0" algn="r">
              <a:buNone/>
            </a:pPr>
            <a:r>
              <a:rPr lang="en-US" sz="1100" b="1" kern="0" spc="200" dirty="0">
                <a:solidFill>
                  <a:srgbClr val="CB0017"/>
                </a:solidFill>
                <a:latin typeface="Oswald" pitchFamily="34" charset="0"/>
                <a:ea typeface="Oswald" pitchFamily="34" charset="-122"/>
                <a:cs typeface="Oswald" pitchFamily="34" charset="-120"/>
              </a:rPr>
              <a:t>API DAYS AMSTERDAM · 2026</a:t>
            </a:r>
            <a:endParaRPr lang="en-US" sz="1100" dirty="0"/>
          </a:p>
        </p:txBody>
      </p:sp>
      <p:pic>
        <p:nvPicPr>
          <p:cNvPr id="9" name="Picture 8" descr="A qr code with a black and white background&#10;&#10;AI-generated content may be incorrect.">
            <a:extLst>
              <a:ext uri="{FF2B5EF4-FFF2-40B4-BE49-F238E27FC236}">
                <a16:creationId xmlns:a16="http://schemas.microsoft.com/office/drawing/2014/main" id="{F4DB5EB9-28B1-D871-E501-F579D350A016}"/>
              </a:ext>
            </a:extLst>
          </p:cNvPr>
          <p:cNvPicPr>
            <a:picLocks noChangeAspect="1"/>
          </p:cNvPicPr>
          <p:nvPr/>
        </p:nvPicPr>
        <p:blipFill>
          <a:blip r:embed="rId4"/>
          <a:stretch>
            <a:fillRect/>
          </a:stretch>
        </p:blipFill>
        <p:spPr>
          <a:xfrm>
            <a:off x="7390294" y="1391830"/>
            <a:ext cx="1625690" cy="1625690"/>
          </a:xfrm>
          <a:prstGeom prst="rect">
            <a:avLst/>
          </a:prstGeom>
        </p:spPr>
      </p:pic>
      <p:pic>
        <p:nvPicPr>
          <p:cNvPr id="5122" name="Picture 2">
            <a:extLst>
              <a:ext uri="{FF2B5EF4-FFF2-40B4-BE49-F238E27FC236}">
                <a16:creationId xmlns:a16="http://schemas.microsoft.com/office/drawing/2014/main" id="{17361BA2-2768-3523-EF12-826BA8BA69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0294" y="4096139"/>
            <a:ext cx="1665828" cy="559614"/>
          </a:xfrm>
          <a:prstGeom prst="rect">
            <a:avLst/>
          </a:prstGeom>
          <a:noFill/>
          <a:extLst>
            <a:ext uri="{909E8E84-426E-40DD-AFC4-6F175D3DCCD1}">
              <a14:hiddenFill xmlns:a14="http://schemas.microsoft.com/office/drawing/2010/main">
                <a:solidFill>
                  <a:srgbClr val="FFFFFF"/>
                </a:solidFill>
              </a14:hiddenFill>
            </a:ext>
          </a:extLst>
        </p:spPr>
      </p:pic>
      <p:sp>
        <p:nvSpPr>
          <p:cNvPr id="10" name="Text 3">
            <a:extLst>
              <a:ext uri="{FF2B5EF4-FFF2-40B4-BE49-F238E27FC236}">
                <a16:creationId xmlns:a16="http://schemas.microsoft.com/office/drawing/2014/main" id="{3036B8AB-BF25-4D04-2083-DE06CD5688E8}"/>
              </a:ext>
            </a:extLst>
          </p:cNvPr>
          <p:cNvSpPr/>
          <p:nvPr/>
        </p:nvSpPr>
        <p:spPr>
          <a:xfrm>
            <a:off x="6604800" y="3073153"/>
            <a:ext cx="3196678" cy="835907"/>
          </a:xfrm>
          <a:prstGeom prst="rect">
            <a:avLst/>
          </a:prstGeom>
          <a:noFill/>
          <a:ln/>
        </p:spPr>
        <p:txBody>
          <a:bodyPr wrap="square" lIns="0" tIns="0" rIns="0" bIns="0" rtlCol="0" anchor="ctr"/>
          <a:lstStyle/>
          <a:p>
            <a:pPr marL="0" indent="0" algn="ctr">
              <a:lnSpc>
                <a:spcPct val="105000"/>
              </a:lnSpc>
              <a:buNone/>
            </a:pPr>
            <a:r>
              <a:rPr lang="en-US" dirty="0">
                <a:solidFill>
                  <a:srgbClr val="4A4A4A"/>
                </a:solidFill>
                <a:latin typeface="Inter Tight" pitchFamily="34" charset="0"/>
                <a:ea typeface="Inter Tight" pitchFamily="34" charset="-122"/>
                <a:cs typeface="Inter Tight" pitchFamily="34" charset="-120"/>
              </a:rPr>
              <a:t>Please fill in </a:t>
            </a:r>
          </a:p>
          <a:p>
            <a:pPr marL="0" indent="0" algn="ctr">
              <a:lnSpc>
                <a:spcPct val="105000"/>
              </a:lnSpc>
              <a:buNone/>
            </a:pPr>
            <a:r>
              <a:rPr lang="en-US" dirty="0">
                <a:solidFill>
                  <a:srgbClr val="4A4A4A"/>
                </a:solidFill>
                <a:latin typeface="Inter Tight" pitchFamily="34" charset="0"/>
                <a:ea typeface="Inter Tight" pitchFamily="34" charset="-122"/>
                <a:cs typeface="Inter Tight" pitchFamily="34" charset="-120"/>
              </a:rPr>
              <a:t>the  above </a:t>
            </a:r>
          </a:p>
          <a:p>
            <a:pPr marL="0" indent="0" algn="ctr">
              <a:lnSpc>
                <a:spcPct val="105000"/>
              </a:lnSpc>
              <a:buNone/>
            </a:pPr>
            <a:r>
              <a:rPr lang="en-US" dirty="0">
                <a:solidFill>
                  <a:srgbClr val="4A4A4A"/>
                </a:solidFill>
                <a:latin typeface="Inter Tight" pitchFamily="34" charset="0"/>
                <a:ea typeface="Inter Tight" pitchFamily="34" charset="-122"/>
                <a:cs typeface="Inter Tight" pitchFamily="34" charset="-120"/>
              </a:rPr>
              <a:t>feedback form </a:t>
            </a:r>
          </a:p>
        </p:txBody>
      </p:sp>
      <p:pic>
        <p:nvPicPr>
          <p:cNvPr id="11" name="Picture 10" descr="A qr code with a white background&#10;&#10;AI-generated content may be incorrect.">
            <a:extLst>
              <a:ext uri="{FF2B5EF4-FFF2-40B4-BE49-F238E27FC236}">
                <a16:creationId xmlns:a16="http://schemas.microsoft.com/office/drawing/2014/main" id="{DFB935EC-15F5-FD8F-65ED-A18DAF201AFE}"/>
              </a:ext>
            </a:extLst>
          </p:cNvPr>
          <p:cNvPicPr>
            <a:picLocks noChangeAspect="1"/>
          </p:cNvPicPr>
          <p:nvPr/>
        </p:nvPicPr>
        <p:blipFill>
          <a:blip r:embed="rId6"/>
          <a:stretch>
            <a:fillRect/>
          </a:stretch>
        </p:blipFill>
        <p:spPr>
          <a:xfrm>
            <a:off x="3892633" y="3152602"/>
            <a:ext cx="1962980" cy="1962980"/>
          </a:xfrm>
          <a:prstGeom prst="rect">
            <a:avLst/>
          </a:prstGeom>
        </p:spPr>
      </p:pic>
      <p:sp>
        <p:nvSpPr>
          <p:cNvPr id="12" name="Text 3">
            <a:extLst>
              <a:ext uri="{FF2B5EF4-FFF2-40B4-BE49-F238E27FC236}">
                <a16:creationId xmlns:a16="http://schemas.microsoft.com/office/drawing/2014/main" id="{6D0B10A9-4789-8FE5-8C9C-A75907B4ECBB}"/>
              </a:ext>
            </a:extLst>
          </p:cNvPr>
          <p:cNvSpPr/>
          <p:nvPr/>
        </p:nvSpPr>
        <p:spPr>
          <a:xfrm>
            <a:off x="3275784" y="4611246"/>
            <a:ext cx="3196678" cy="835907"/>
          </a:xfrm>
          <a:prstGeom prst="rect">
            <a:avLst/>
          </a:prstGeom>
          <a:noFill/>
          <a:ln/>
        </p:spPr>
        <p:txBody>
          <a:bodyPr wrap="square" lIns="0" tIns="0" rIns="0" bIns="0" rtlCol="0" anchor="ctr"/>
          <a:lstStyle/>
          <a:p>
            <a:pPr marL="0" indent="0" algn="ctr">
              <a:lnSpc>
                <a:spcPct val="105000"/>
              </a:lnSpc>
              <a:buNone/>
            </a:pPr>
            <a:r>
              <a:rPr lang="en-US" dirty="0">
                <a:solidFill>
                  <a:srgbClr val="4A4A4A"/>
                </a:solidFill>
                <a:latin typeface="Inter Tight" pitchFamily="34" charset="0"/>
                <a:ea typeface="Inter Tight" pitchFamily="34" charset="-122"/>
                <a:cs typeface="Inter Tight" pitchFamily="34" charset="-120"/>
              </a:rPr>
              <a:t>Connect me on LinkedIn</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13616</TotalTime>
  <Words>3482</Words>
  <Application>Microsoft Macintosh PowerPoint</Application>
  <PresentationFormat>On-screen Show (16:9)</PresentationFormat>
  <Paragraphs>448</Paragraphs>
  <Slides>22</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Consolas</vt:lpstr>
      <vt:lpstr>Inter Tight</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UTL-X — One Language. All Formats.</dc:title>
  <dc:subject>PptxGenJS Presentation</dc:subject>
  <dc:creator>Marcel A. Grauwen</dc:creator>
  <cp:lastModifiedBy>Marcel Grauwen</cp:lastModifiedBy>
  <cp:revision>1</cp:revision>
  <dcterms:created xsi:type="dcterms:W3CDTF">2026-06-08T09:21:43Z</dcterms:created>
  <dcterms:modified xsi:type="dcterms:W3CDTF">2026-06-17T20:46:09Z</dcterms:modified>
</cp:coreProperties>
</file>